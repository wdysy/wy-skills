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这版分析按语言站重新统计了 T 站门票的海外流量。全量有五十多个语言站，但前两名就吃下了百分之五十九的流量，所以结论很直接：流量高度头部集中，投放必须一站一策。数据窗口是八月十号到八月十七号，截止八月十七号。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先说口径，因为结论的可信度完全取决于它。数据来自 SGP 集群的 T 站海外数据表，过滤条件是 page_ct 等于 trip、sub_bu_name 等于 ibu门票。这一次我们把「站点」定义成 locale 语言站，比如 zh-hk 是香港繁体、en-sg 是新加坡英文。PV 用 com_pv 去重计数，UV 用 vid 去重计数，流量来源取 trip_channel。要说明的是，上一轮按景点统计，口径答偏了，所以这一轮全部按语言站重算。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给结论。全量五十多个语言站里，前两名合计占百分之五十九，前十名合计占百分之八十八点六，剩下的四十多个语言站加起来只有百分之十一点四。主力客源区是港澳台、东南亚的新加坡和马来西亚，以及俄语区和韩国。站内流量在各站占百分之三十一点七到百分之六十六点六，仍然是大盘主力；对外投放有四个主要抓手，Partner 联盟、SEO、APP-PUSH 和 PPC。但这四个抓手在每个站的配比差异巨大，这正是后面「一站一策」的依据。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看一下前十名的具体排行。第一名是香港繁体，PV 六十万三千六百五十八，占百分之三十点一，UV 四万九千零四十三。第二名新加坡英文，PV 五十八万一千八百六十七，占百分之二十九。这两家加起来就是百分之五十九，接近六成。第三名台湾繁体百分之七点四，第四名马来西亚英文百分之七点三，再往后俄语、韩语、印尼英文、马来西亚繁体、新加坡繁体、泛用英文，都掉到了百分之三以下。要提醒一句，榜内每行的占比是分别四舍五入的，加起来百分之八十九点一，和全站口径的百分之八十八点六之间有零点五个百分点的舍入差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这一页只想讲一件事：集中度有多高。五十多个语言站里，前十个就贡献了百分之八十八点六的门票 PV。拆开看，前两名占百分之五十九，第三到第十名占百分之二十九点六，剩下四十多个语言站加起来只有百分之十一点四。也就是说，长尾站点数量很多，但流量价值非常有限，运营资源应该明确向头部倾斜。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这张表把五个核心站的渠道构成摊开看。站内流量仍然是主力，从最低的俄语站百分之三十一点七，到最高的香港站百分之六十六点六。对外投放的四个抓手里，Partner 联盟在各站都比较稳定，占百分之十到百分之十六；SEO 的波动最大，从百分之四点五到百分之二十八点四；APP-PUSH 从百分之五点四到百分之二十三；PPC 相对平均，在百分之五到百分之十二之间。同一个渠道，在不同站点的权重可以差出五倍以上，所以不能拿一套投放配比通投所有语言站。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同样六个渠道，在三个站上呈现出三种完全不同的形状。香港站是站内凸起型，站内百分之六十六点六把整条形状向外推，其他维度都收在百分之四点五到十三点三之间。新加坡站的形状有一个明显的尖角，就是 APP-PUSH 的百分之二十三，这是六个站里最高的。俄语站的形状被搜索拉偏了，SEO 占到百分之二十八点四，远超其他渠道，而站内只有百分之三十一点七，是六个站里最低的。三条形状共用同一个刻度，所以可以直接横向比较。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香港繁体是站内自转型的代表。它的 PV 六十万三千六百五十八，占比百分之三十点一，是全站第一，UV 四万九千零四十三，也是六个站里最高的。渠道结构上，站内占百分之六十六点六，是所有站里最高的，说明香港用户大多在平台内自发流转，比如跨业务跳转或者历史访问，对外投放的依赖最低。在这之外，Partner 联盟的百分之十三点三是第二抓手，也是这一站最值得继续放大的对外渠道。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新加坡英文是 Push 驱动型。它的 PV 五十八万一千八百六十七，占比百分之二十九，体量全站第二，UV 三万七千二百四十九。但它的 APP-PUSH 占比达到百分之二十三，是六个站里最高的，说明这一站高度依赖 Push 召回。我们判断这个结构很可能与 BIGBANG 新加坡演唱会这类演出的开票提醒强绑定，也就是说，Push 的节奏基本上就是这一站大盘的节奏，需要重点维护。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俄语站的流量结构是五个站里最特殊的。它的 PV 六万八千九百三十三，占比百分之三点四，排第五，UV 一万六千六百四十七。SEO 占百分之二十八点四，是全站最高，远超其他渠道，说明俄罗斯用户大量通过搜索引擎自然流入，对投放的依赖低。同时它的站内占比只有百分之三十一点七，是六个站里最低的。对这一站，重点应该放在 SEO 内容和落地页承接上，投放只用来补位。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韩语站和马来西亚英文站，是典型的均衡型。韩语站 PV 五万五千六百四十八，占比百分之二点八，UV 一万四千七百九十六；马来西亚英文站 PV 十四万六千零七十一，占比百分之七点三，UV 一万一千二百九十七。两站的站内占比分别是百分之四十四点三和百分之五十五，其余渠道各占百分之八到十六，没有明显的短板。这样的结构适合用组合投放、小步试错的方式推进，而不是把预算押在单一渠道上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最后收口到一句话：投放必须一站一策。四类站点对应四套配方——站内自转型的香港站，优先用 Partner 联盟放大站内自然流转，控制买量规模；Push 驱动型的新加坡站，把 Push 节奏和演出开票、大促绑定，守住召回基本盘；SEO 自然流入型的俄语站，用内容和落地页承接自然流量，投放只作 PPC 补位；韩语和马来英文这类多渠道均衡型，就组合投放、小步试错，不押注单一渠道。下一步可以做两件事：把这一版按语言站的分析生成 HTML 动态页面，或者进一步看各语言站的下单转化，用订单量和 GMV 来评估哪个站的投放 ROI 最高。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4C81">
                    <a:alpha val="8000"/>
                  </a:srgbClr>
                </a:gs>
                <a:gs pos="100000">
                  <a:srgbClr val="0F4C81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526542" y="1111568"/>
            <a:ext cx="3574694" cy="264033"/>
            <a:chOff x="526542" y="1111568"/>
            <a:chExt cx="3574694" cy="264033"/>
          </a:xfrm>
        </p:grpSpPr>
        <p:sp>
          <p:nvSpPr>
            <p:cNvPr id="5" name="TextBox 5"/>
            <p:cNvSpPr txBox="1"/>
            <p:nvPr/>
          </p:nvSpPr>
          <p:spPr>
            <a:xfrm>
              <a:off x="526542" y="1111568"/>
              <a:ext cx="35746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rgbClr val="8A94A2"/>
                  </a:solidFill>
                  <a:latin typeface="Consolas"/>
                  <a:ea typeface="Microsoft YaHei"/>
                  <a:cs typeface="Consolas"/>
                </a:rPr>
                <a:t>T 站海外数据 · SGP 集群 · 门票业务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14350" y="1813560"/>
            <a:ext cx="6758940" cy="2419350"/>
            <a:chOff x="514350" y="1813560"/>
            <a:chExt cx="6758940" cy="2419350"/>
          </a:xfrm>
        </p:grpSpPr>
        <p:sp>
          <p:nvSpPr>
            <p:cNvPr id="7" name="TextBox 7"/>
            <p:cNvSpPr txBox="1"/>
            <p:nvPr/>
          </p:nvSpPr>
          <p:spPr>
            <a:xfrm>
              <a:off x="514350" y="1813560"/>
              <a:ext cx="6758940" cy="24193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8100"/>
                </a:lnSpc>
              </a:pPr>
              <a:r>
                <a:rPr lang="zh-CN" sz="720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T 站门票</a:t>
              </a:r>
              <a:r>
                <a:rPr lang="zh-CN" sz="720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语言站流量分析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533400" y="3981450"/>
              <a:ext cx="1333500" cy="47625"/>
            </a:xfrm>
            <a:prstGeom prst="rect">
              <a:avLst/>
            </a:prstGeom>
            <a:solidFill>
              <a:srgbClr val="E8833A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21208" y="4351020"/>
            <a:ext cx="6179058" cy="888492"/>
            <a:chOff x="521208" y="4351020"/>
            <a:chExt cx="6179058" cy="888492"/>
          </a:xfrm>
        </p:grpSpPr>
        <p:sp>
          <p:nvSpPr>
            <p:cNvPr id="10" name="TextBox 10"/>
            <p:cNvSpPr txBox="1"/>
            <p:nvPr/>
          </p:nvSpPr>
          <p:spPr>
            <a:xfrm>
              <a:off x="521208" y="4351020"/>
              <a:ext cx="6179058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3300"/>
                </a:lnSpc>
              </a:pPr>
              <a:r>
                <a:rPr lang="zh-CN" sz="24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50+ 个语言站里，TOP2 吃下 </a:t>
              </a:r>
              <a:r>
                <a:rPr lang="en-US" sz="240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59%</a:t>
              </a:r>
              <a:r>
                <a:rPr lang="zh-CN" sz="24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 的门票流量</a:t>
              </a:r>
              <a:r>
                <a:rPr lang="zh-CN" sz="24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投放必须一站一策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0" y="1473518"/>
            <a:ext cx="4019550" cy="4683633"/>
            <a:chOff x="7620000" y="1473518"/>
            <a:chExt cx="4019550" cy="4683633"/>
          </a:xfrm>
        </p:grpSpPr>
        <p:sp>
          <p:nvSpPr>
            <p:cNvPr id="12" name="TextBox 12"/>
            <p:cNvSpPr txBox="1"/>
            <p:nvPr/>
          </p:nvSpPr>
          <p:spPr>
            <a:xfrm>
              <a:off x="9597390" y="1473518"/>
              <a:ext cx="20299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50+ 个语言站 · PV 分布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0" y="2000250"/>
              <a:ext cx="4000500" cy="133350"/>
            </a:xfrm>
            <a:prstGeom prst="roundRect">
              <a:avLst>
                <a:gd name="adj" fmla="val 21429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762875" y="2305050"/>
              <a:ext cx="3857625" cy="133350"/>
            </a:xfrm>
            <a:prstGeom prst="roundRect">
              <a:avLst>
                <a:gd name="adj" fmla="val 21429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639425" y="2609850"/>
              <a:ext cx="981075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648950" y="2914650"/>
              <a:ext cx="971550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172825" y="3219450"/>
              <a:ext cx="447675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1249025" y="3524250"/>
              <a:ext cx="371475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1277600" y="3829050"/>
              <a:ext cx="342900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1306175" y="4133850"/>
              <a:ext cx="314325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344275" y="4438650"/>
              <a:ext cx="276225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11353800" y="4743450"/>
              <a:ext cx="266700" cy="133350"/>
            </a:xfrm>
            <a:prstGeom prst="roundRect">
              <a:avLst>
                <a:gd name="adj" fmla="val 21429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23" name="Line 23"/>
            <p:cNvSpPr/>
            <p:nvPr/>
          </p:nvSpPr>
          <p:spPr>
            <a:xfrm>
              <a:off x="7620000" y="51054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40985" y="5261610"/>
              <a:ext cx="11985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59%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503275" y="5893118"/>
              <a:ext cx="31240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TOP2（zh-hk + en-sg）合计 PV 占比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27304" y="5448300"/>
            <a:ext cx="6140196" cy="752856"/>
            <a:chOff x="527304" y="5448300"/>
            <a:chExt cx="6140196" cy="752856"/>
          </a:xfrm>
        </p:grpSpPr>
        <p:sp>
          <p:nvSpPr>
            <p:cNvPr id="27" name="Line 27"/>
            <p:cNvSpPr/>
            <p:nvPr/>
          </p:nvSpPr>
          <p:spPr>
            <a:xfrm>
              <a:off x="533400" y="5448300"/>
              <a:ext cx="6134100" cy="9525"/>
            </a:xfrm>
            <a:custGeom>
              <a:avLst/>
              <a:gdLst/>
              <a:ahLst/>
              <a:cxnLst/>
              <a:rect l="l" t="t" r="r" b="b"/>
              <a:pathLst>
                <a:path w="6134100" h="9525">
                  <a:moveTo>
                    <a:pt x="0" y="0"/>
                  </a:moveTo>
                  <a:lnTo>
                    <a:pt x="61341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7304" y="5699760"/>
              <a:ext cx="596341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8/10–8/17（截止 2026-08-17）· 站点口径 = locale 语言站</a:t>
              </a:r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PV = count(distinct com_pv) · UV = count(distinct vid) · 流量来源 = trip_channel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060430" cy="1321117"/>
            <a:chOff x="560070" y="326708"/>
            <a:chExt cx="11060430" cy="132111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850026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口径先行：这次按语言站看，不再按景点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8309610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结论的可信度取决于口径：统一数据表与过滤条件、统一时间窗，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并把「站点」定义为 locale 语言站。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38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71500" y="1828800"/>
            <a:ext cx="3505200" cy="1714500"/>
            <a:chOff x="571500" y="1828800"/>
            <a:chExt cx="3505200" cy="1714500"/>
          </a:xfrm>
        </p:grpSpPr>
        <p:sp>
          <p:nvSpPr>
            <p:cNvPr id="8" name="Rectangle 8"/>
            <p:cNvSpPr/>
            <p:nvPr/>
          </p:nvSpPr>
          <p:spPr>
            <a:xfrm>
              <a:off x="571500" y="18288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3438" y="2071688"/>
              <a:ext cx="200026" cy="200026"/>
              <a:chOff x="833438" y="2071688"/>
              <a:chExt cx="200026" cy="20002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3438" y="20716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40105" y="2138363"/>
                <a:ext cx="1866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6691" h="9525">
                    <a:moveTo>
                      <a:pt x="0" y="0"/>
                    </a:moveTo>
                    <a:lnTo>
                      <a:pt x="18669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0105" y="2205038"/>
                <a:ext cx="18669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6691" h="9525">
                    <a:moveTo>
                      <a:pt x="0" y="0"/>
                    </a:moveTo>
                    <a:lnTo>
                      <a:pt x="18669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9700" y="2071688"/>
                <a:ext cx="3819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38194" h="200026">
                    <a:moveTo>
                      <a:pt x="38194" y="0"/>
                    </a:moveTo>
                    <a:cubicBezTo>
                      <a:pt x="0" y="61205"/>
                      <a:pt x="0" y="138820"/>
                      <a:pt x="38194" y="200026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39007" y="2071688"/>
                <a:ext cx="38194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38194" h="200026">
                    <a:moveTo>
                      <a:pt x="0" y="0"/>
                    </a:moveTo>
                    <a:cubicBezTo>
                      <a:pt x="38194" y="61205"/>
                      <a:pt x="38194" y="138820"/>
                      <a:pt x="0" y="200026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70432" y="202120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环境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0956" y="2548890"/>
              <a:ext cx="135559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SGP 集群，</a:t>
              </a: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T 站海外数据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343400" y="1828800"/>
            <a:ext cx="3505200" cy="1714500"/>
            <a:chOff x="4343400" y="1828800"/>
            <a:chExt cx="35052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343400" y="18288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4616450" y="2071688"/>
              <a:ext cx="177801" cy="200025"/>
              <a:chOff x="4616450" y="2071688"/>
              <a:chExt cx="177801" cy="2000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4616450" y="2071688"/>
                <a:ext cx="177801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66675">
                    <a:moveTo>
                      <a:pt x="0" y="33338"/>
                    </a:moveTo>
                    <a:cubicBezTo>
                      <a:pt x="0" y="51749"/>
                      <a:pt x="39802" y="66675"/>
                      <a:pt x="88900" y="66675"/>
                    </a:cubicBezTo>
                    <a:cubicBezTo>
                      <a:pt x="137999" y="66675"/>
                      <a:pt x="177801" y="51749"/>
                      <a:pt x="177801" y="33338"/>
                    </a:cubicBezTo>
                    <a:cubicBezTo>
                      <a:pt x="177801" y="14926"/>
                      <a:pt x="137999" y="0"/>
                      <a:pt x="88900" y="0"/>
                    </a:cubicBezTo>
                    <a:cubicBezTo>
                      <a:pt x="39802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616450" y="21050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4616450" y="2171700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0"/>
                    </a:moveTo>
                    <a:lnTo>
                      <a:pt x="0" y="66675"/>
                    </a:lnTo>
                    <a:cubicBezTo>
                      <a:pt x="0" y="85087"/>
                      <a:pt x="39802" y="100013"/>
                      <a:pt x="88900" y="100013"/>
                    </a:cubicBezTo>
                    <a:cubicBezTo>
                      <a:pt x="137999" y="100013"/>
                      <a:pt x="177801" y="85087"/>
                      <a:pt x="177801" y="66675"/>
                    </a:cubicBez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4942332" y="20212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数据表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65142" y="2635568"/>
              <a:ext cx="21396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430"/>
                  </a:solidFill>
                  <a:latin typeface="Consolas"/>
                  <a:ea typeface="Consolas"/>
                  <a:cs typeface="Consolas"/>
                </a:rPr>
                <a:t xml:space="preserve">dw_ticketdb.edw_log_ </a:t>
              </a:r>
              <a:r>
                <a:rPr lang="en-US" sz="1350" dirty="0">
                  <a:solidFill>
                    <a:srgbClr val="1B2430"/>
                  </a:solidFill>
                  <a:latin typeface="Consolas"/>
                  <a:ea typeface="Consolas"/>
                  <a:cs typeface="Consolas"/>
                </a:rPr>
                <a:t>ttd_traffic_order_d_ext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115300" y="1828800"/>
            <a:ext cx="3505200" cy="1714500"/>
            <a:chOff x="8115300" y="1828800"/>
            <a:chExt cx="3505200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15300" y="18288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8388350" y="2082800"/>
              <a:ext cx="177801" cy="188913"/>
            </a:xfrm>
            <a:custGeom>
              <a:avLst/>
              <a:gdLst/>
              <a:ahLst/>
              <a:cxnLst/>
              <a:rect l="l" t="t" r="r" b="b"/>
              <a:pathLst>
                <a:path w="177801" h="188913">
                  <a:moveTo>
                    <a:pt x="0" y="0"/>
                  </a:moveTo>
                  <a:lnTo>
                    <a:pt x="177801" y="0"/>
                  </a:lnTo>
                  <a:lnTo>
                    <a:pt x="177801" y="24136"/>
                  </a:lnTo>
                  <a:cubicBezTo>
                    <a:pt x="177799" y="30030"/>
                    <a:pt x="175457" y="35683"/>
                    <a:pt x="171289" y="39850"/>
                  </a:cubicBezTo>
                  <a:lnTo>
                    <a:pt x="122238" y="88900"/>
                  </a:lnTo>
                  <a:lnTo>
                    <a:pt x="122238" y="166688"/>
                  </a:lnTo>
                  <a:lnTo>
                    <a:pt x="55563" y="188913"/>
                  </a:lnTo>
                  <a:lnTo>
                    <a:pt x="55563" y="94457"/>
                  </a:lnTo>
                  <a:lnTo>
                    <a:pt x="5779" y="39694"/>
                  </a:lnTo>
                  <a:cubicBezTo>
                    <a:pt x="2061" y="35604"/>
                    <a:pt x="1" y="30275"/>
                    <a:pt x="0" y="24748"/>
                  </a:cubicBez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F4C81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14232" y="20212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过滤条件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37042" y="2635568"/>
              <a:ext cx="209683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430"/>
                  </a:solidFill>
                  <a:latin typeface="Consolas"/>
                  <a:ea typeface="Consolas"/>
                  <a:cs typeface="Consolas"/>
                </a:rPr>
                <a:t xml:space="preserve">page_ct='trip' </a:t>
              </a:r>
              <a:r>
                <a:rPr lang="zh-CN" sz="1350" dirty="0">
                  <a:solidFill>
                    <a:srgbClr val="1B2430"/>
                  </a:solidFill>
                  <a:latin typeface="Consolas"/>
                  <a:ea typeface="Microsoft YaHei"/>
                  <a:cs typeface="Consolas"/>
                </a:rPr>
                <a:t>+ sub_bu_name='ibu门票'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3771900"/>
            <a:ext cx="3552158" cy="1714500"/>
            <a:chOff x="571500" y="3771900"/>
            <a:chExt cx="3552158" cy="1714500"/>
          </a:xfrm>
        </p:grpSpPr>
        <p:sp>
          <p:nvSpPr>
            <p:cNvPr id="31" name="Rectangle 31"/>
            <p:cNvSpPr/>
            <p:nvPr/>
          </p:nvSpPr>
          <p:spPr>
            <a:xfrm>
              <a:off x="571500" y="37719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35870" y="4006112"/>
              <a:ext cx="195160" cy="216259"/>
              <a:chOff x="835870" y="4006112"/>
              <a:chExt cx="195160" cy="216259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00113" y="4070350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35870" y="4006112"/>
                <a:ext cx="195160" cy="216259"/>
              </a:xfrm>
              <a:custGeom>
                <a:avLst/>
                <a:gdLst/>
                <a:ahLst/>
                <a:cxnLst/>
                <a:rect l="l" t="t" r="r" b="b"/>
                <a:pathLst>
                  <a:path w="195160" h="216259">
                    <a:moveTo>
                      <a:pt x="160444" y="160440"/>
                    </a:moveTo>
                    <a:lnTo>
                      <a:pt x="113293" y="207590"/>
                    </a:lnTo>
                    <a:cubicBezTo>
                      <a:pt x="104615" y="216259"/>
                      <a:pt x="90556" y="216259"/>
                      <a:pt x="81878" y="207590"/>
                    </a:cubicBezTo>
                    <a:lnTo>
                      <a:pt x="34716" y="160440"/>
                    </a:lnTo>
                    <a:cubicBezTo>
                      <a:pt x="0" y="125722"/>
                      <a:pt x="1" y="69434"/>
                      <a:pt x="34719" y="34717"/>
                    </a:cubicBezTo>
                    <a:cubicBezTo>
                      <a:pt x="69436" y="0"/>
                      <a:pt x="125724" y="0"/>
                      <a:pt x="160441" y="34717"/>
                    </a:cubicBezTo>
                    <a:cubicBezTo>
                      <a:pt x="195159" y="69434"/>
                      <a:pt x="195160" y="125722"/>
                      <a:pt x="160444" y="160440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70432" y="39643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站点口径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0956" y="4530090"/>
              <a:ext cx="1481328" cy="6377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按 locale 字段</a:t>
              </a: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定义语言站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3242" y="5150168"/>
              <a:ext cx="3330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例：zh-hk 香港繁体 · en-sg 新加坡英文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343400" y="3771900"/>
            <a:ext cx="3505200" cy="1714500"/>
            <a:chOff x="4343400" y="3771900"/>
            <a:chExt cx="3505200" cy="1714500"/>
          </a:xfrm>
        </p:grpSpPr>
        <p:sp>
          <p:nvSpPr>
            <p:cNvPr id="39" name="Rectangle 39"/>
            <p:cNvSpPr/>
            <p:nvPr/>
          </p:nvSpPr>
          <p:spPr>
            <a:xfrm>
              <a:off x="4343400" y="37719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616450" y="4048125"/>
              <a:ext cx="177801" cy="153988"/>
              <a:chOff x="4616450" y="4048125"/>
              <a:chExt cx="177801" cy="153988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616450" y="41925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4616450" y="4048125"/>
                <a:ext cx="177801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00013">
                    <a:moveTo>
                      <a:pt x="0" y="100013"/>
                    </a:moveTo>
                    <a:lnTo>
                      <a:pt x="44450" y="33338"/>
                    </a:lnTo>
                    <a:lnTo>
                      <a:pt x="88900" y="55563"/>
                    </a:lnTo>
                    <a:lnTo>
                      <a:pt x="133350" y="0"/>
                    </a:lnTo>
                    <a:lnTo>
                      <a:pt x="177801" y="4445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4942332" y="3964305"/>
              <a:ext cx="12086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指标定义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65142" y="4578668"/>
              <a:ext cx="2379726" cy="7593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350" dirty="0">
                  <a:solidFill>
                    <a:srgbClr val="1B2430"/>
                  </a:solidFill>
                  <a:latin typeface="Consolas"/>
                  <a:ea typeface="Consolas"/>
                  <a:cs typeface="Consolas"/>
                </a:rPr>
                <a:t xml:space="preserve">PV = count(distinct com_pv) </a:t>
              </a:r>
              <a:r>
                <a:rPr lang="en-US" sz="1350" dirty="0">
                  <a:solidFill>
                    <a:srgbClr val="1B2430"/>
                  </a:solidFill>
                  <a:latin typeface="Consolas"/>
                  <a:ea typeface="Consolas"/>
                  <a:cs typeface="Consolas"/>
                </a:rPr>
                <a:t>UV = count(distinct vid)</a:t>
              </a:r>
              <a:r>
                <a:rPr lang="zh-CN" sz="1350" dirty="0">
                  <a:solidFill>
                    <a:srgbClr val="1B2430"/>
                  </a:solidFill>
                  <a:latin typeface="Consolas"/>
                  <a:ea typeface="Microsoft YaHei"/>
                  <a:cs typeface="Consolas"/>
                </a:rPr>
                <a:t>流量来源 = trip_channel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115300" y="3771900"/>
            <a:ext cx="3505200" cy="1714500"/>
            <a:chOff x="8115300" y="3771900"/>
            <a:chExt cx="3505200" cy="1714500"/>
          </a:xfrm>
        </p:grpSpPr>
        <p:sp>
          <p:nvSpPr>
            <p:cNvPr id="46" name="Rectangle 46"/>
            <p:cNvSpPr/>
            <p:nvPr/>
          </p:nvSpPr>
          <p:spPr>
            <a:xfrm>
              <a:off x="8115300" y="3771900"/>
              <a:ext cx="3505200" cy="1714500"/>
            </a:xfrm>
            <a:prstGeom prst="roundRect">
              <a:avLst>
                <a:gd name="adj" fmla="val 5556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388350" y="4014788"/>
              <a:ext cx="177801" cy="200026"/>
              <a:chOff x="8388350" y="4014788"/>
              <a:chExt cx="177801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388350" y="4037013"/>
                <a:ext cx="177801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77801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55575" y="0"/>
                    </a:lnTo>
                    <a:cubicBezTo>
                      <a:pt x="167850" y="0"/>
                      <a:pt x="177801" y="9950"/>
                      <a:pt x="177801" y="22225"/>
                    </a:cubicBezTo>
                    <a:lnTo>
                      <a:pt x="177801" y="155575"/>
                    </a:lnTo>
                    <a:cubicBezTo>
                      <a:pt x="177801" y="167850"/>
                      <a:pt x="167850" y="177801"/>
                      <a:pt x="155575" y="177801"/>
                    </a:cubicBezTo>
                    <a:lnTo>
                      <a:pt x="22225" y="177801"/>
                    </a:lnTo>
                    <a:cubicBezTo>
                      <a:pt x="9950" y="177801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521701" y="40147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8432800" y="401478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388350" y="4103688"/>
                <a:ext cx="177801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9525">
                    <a:moveTo>
                      <a:pt x="0" y="0"/>
                    </a:moveTo>
                    <a:lnTo>
                      <a:pt x="177801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466138" y="4148138"/>
                <a:ext cx="111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3" h="9525">
                    <a:moveTo>
                      <a:pt x="0" y="0"/>
                    </a:moveTo>
                    <a:lnTo>
                      <a:pt x="11113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477250" y="414813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8714232" y="3964305"/>
              <a:ext cx="9118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时间窗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334756" y="4568190"/>
              <a:ext cx="2784348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数据截止 2026-08-17</a:t>
              </a:r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最近完整 7 天：8/10–8/17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71500" y="5676900"/>
            <a:ext cx="11049000" cy="533400"/>
            <a:chOff x="571500" y="5676900"/>
            <a:chExt cx="11049000" cy="533400"/>
          </a:xfrm>
        </p:grpSpPr>
        <p:sp>
          <p:nvSpPr>
            <p:cNvPr id="57" name="Rectangle 57"/>
            <p:cNvSpPr/>
            <p:nvPr/>
          </p:nvSpPr>
          <p:spPr>
            <a:xfrm>
              <a:off x="571500" y="5676900"/>
              <a:ext cx="11049000" cy="533400"/>
            </a:xfrm>
            <a:prstGeom prst="roundRect">
              <a:avLst>
                <a:gd name="adj" fmla="val 14286"/>
              </a:avLst>
            </a:prstGeom>
            <a:solidFill>
              <a:srgbClr val="EEF2F6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81759" y="5847303"/>
              <a:ext cx="208123" cy="178805"/>
              <a:chOff x="781759" y="5847303"/>
              <a:chExt cx="208123" cy="17880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85825" y="5912643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81759" y="5847303"/>
                <a:ext cx="208123" cy="178805"/>
              </a:xfrm>
              <a:custGeom>
                <a:avLst/>
                <a:gdLst/>
                <a:ahLst/>
                <a:cxnLst/>
                <a:rect l="l" t="t" r="r" b="b"/>
                <a:pathLst>
                  <a:path w="208123" h="178805">
                    <a:moveTo>
                      <a:pt x="87174" y="9526"/>
                    </a:moveTo>
                    <a:lnTo>
                      <a:pt x="3530" y="149180"/>
                    </a:lnTo>
                    <a:cubicBezTo>
                      <a:pt x="21" y="155256"/>
                      <a:pt x="0" y="162738"/>
                      <a:pt x="3474" y="168834"/>
                    </a:cubicBezTo>
                    <a:cubicBezTo>
                      <a:pt x="6948" y="174931"/>
                      <a:pt x="13395" y="178726"/>
                      <a:pt x="20412" y="178805"/>
                    </a:cubicBezTo>
                    <a:lnTo>
                      <a:pt x="187719" y="178805"/>
                    </a:lnTo>
                    <a:cubicBezTo>
                      <a:pt x="194732" y="178724"/>
                      <a:pt x="201176" y="174930"/>
                      <a:pt x="204650" y="168837"/>
                    </a:cubicBezTo>
                    <a:cubicBezTo>
                      <a:pt x="208123" y="162744"/>
                      <a:pt x="208104" y="155266"/>
                      <a:pt x="204601" y="149190"/>
                    </a:cubicBezTo>
                    <a:lnTo>
                      <a:pt x="120957" y="9516"/>
                    </a:lnTo>
                    <a:cubicBezTo>
                      <a:pt x="117378" y="3609"/>
                      <a:pt x="110973" y="0"/>
                      <a:pt x="104065" y="0"/>
                    </a:cubicBezTo>
                    <a:cubicBezTo>
                      <a:pt x="97158" y="0"/>
                      <a:pt x="90753" y="3609"/>
                      <a:pt x="87174" y="9516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85825" y="5984874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03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155192" y="5864542"/>
              <a:ext cx="65108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上一轮按景点（viewspotname）统计，口径答偏；本轮改为按语言站重新统计。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565404" y="6480810"/>
              <a:ext cx="79843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数据来源：dw_ticketdb.edw_log_ttd_traffic_order_d_ext · page_ct='trip' · sub_bu_name='ibu门票'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060430" cy="1321117"/>
            <a:chOff x="560070" y="326708"/>
            <a:chExt cx="11060430" cy="132111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1038209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结论先行：流量高度头部集中，渠道结构各站迥异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7906702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语言站流量高度头部集中：TOP2 占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59%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、TOP10 占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88.6%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，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但各语言站的渠道结构差异巨大——对外投放必须按站定制。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638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809750"/>
            <a:ext cx="2590800" cy="2381250"/>
            <a:chOff x="571500" y="1809750"/>
            <a:chExt cx="2590800" cy="2381250"/>
          </a:xfrm>
        </p:grpSpPr>
        <p:sp>
          <p:nvSpPr>
            <p:cNvPr id="8" name="Rectangle 8"/>
            <p:cNvSpPr/>
            <p:nvPr/>
          </p:nvSpPr>
          <p:spPr>
            <a:xfrm>
              <a:off x="571500" y="1809750"/>
              <a:ext cx="2590800" cy="2381250"/>
            </a:xfrm>
            <a:prstGeom prst="roundRect">
              <a:avLst>
                <a:gd name="adj" fmla="val 4000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1056" y="2050256"/>
              <a:ext cx="185737" cy="185737"/>
              <a:chOff x="831056" y="2050256"/>
              <a:chExt cx="185737" cy="18573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831056" y="20502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92868"/>
                    </a:moveTo>
                    <a:cubicBezTo>
                      <a:pt x="0" y="144158"/>
                      <a:pt x="41579" y="185737"/>
                      <a:pt x="92868" y="185737"/>
                    </a:cubicBezTo>
                    <a:cubicBezTo>
                      <a:pt x="144158" y="185737"/>
                      <a:pt x="185737" y="144158"/>
                      <a:pt x="185737" y="92868"/>
                    </a:cubicBezTo>
                    <a:cubicBezTo>
                      <a:pt x="185737" y="41579"/>
                      <a:pt x="144158" y="0"/>
                      <a:pt x="92868" y="0"/>
                    </a:cubicBezTo>
                    <a:cubicBezTo>
                      <a:pt x="41579" y="0"/>
                      <a:pt x="0" y="41579"/>
                      <a:pt x="0" y="92868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37247" y="2112168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37247" y="2174081"/>
                <a:ext cx="173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3354" h="9525">
                    <a:moveTo>
                      <a:pt x="0" y="0"/>
                    </a:moveTo>
                    <a:lnTo>
                      <a:pt x="173354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3299" y="20502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35466" y="0"/>
                    </a:moveTo>
                    <a:cubicBezTo>
                      <a:pt x="0" y="56833"/>
                      <a:pt x="0" y="128904"/>
                      <a:pt x="35466" y="185737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29084" y="2050256"/>
                <a:ext cx="35466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35466" h="185737">
                    <a:moveTo>
                      <a:pt x="0" y="0"/>
                    </a:moveTo>
                    <a:cubicBezTo>
                      <a:pt x="35466" y="56833"/>
                      <a:pt x="35466" y="128904"/>
                      <a:pt x="0" y="185737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55192" y="20640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全量语言站数量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1050" y="2785110"/>
              <a:ext cx="10731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50+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3242" y="3549968"/>
              <a:ext cx="145389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按 locale 字段切分</a:t>
              </a: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头部集中度很高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390900" y="1809750"/>
            <a:ext cx="2590800" cy="2381250"/>
            <a:chOff x="3390900" y="1809750"/>
            <a:chExt cx="2590800" cy="2381250"/>
          </a:xfrm>
        </p:grpSpPr>
        <p:sp>
          <p:nvSpPr>
            <p:cNvPr id="19" name="Rectangle 19"/>
            <p:cNvSpPr/>
            <p:nvPr/>
          </p:nvSpPr>
          <p:spPr>
            <a:xfrm>
              <a:off x="3390900" y="1809750"/>
              <a:ext cx="2590800" cy="2381250"/>
            </a:xfrm>
            <a:prstGeom prst="roundRect">
              <a:avLst>
                <a:gd name="adj" fmla="val 4000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650456" y="2060575"/>
              <a:ext cx="185737" cy="174624"/>
              <a:chOff x="3650456" y="2060575"/>
              <a:chExt cx="185737" cy="174624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3650456" y="2143125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72231"/>
                    </a:lnTo>
                    <a:cubicBezTo>
                      <a:pt x="61912" y="77930"/>
                      <a:pt x="57292" y="82550"/>
                      <a:pt x="51594" y="82550"/>
                    </a:cubicBezTo>
                    <a:lnTo>
                      <a:pt x="10319" y="82550"/>
                    </a:lnTo>
                    <a:cubicBezTo>
                      <a:pt x="4620" y="82550"/>
                      <a:pt x="0" y="77930"/>
                      <a:pt x="0" y="7223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774281" y="2101850"/>
                <a:ext cx="61912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23825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13506"/>
                    </a:lnTo>
                    <a:cubicBezTo>
                      <a:pt x="61912" y="119205"/>
                      <a:pt x="57292" y="123825"/>
                      <a:pt x="51594" y="123825"/>
                    </a:cubicBezTo>
                    <a:lnTo>
                      <a:pt x="10319" y="123825"/>
                    </a:lnTo>
                    <a:cubicBezTo>
                      <a:pt x="4620" y="123825"/>
                      <a:pt x="0" y="119205"/>
                      <a:pt x="0" y="113506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712368" y="2060575"/>
                <a:ext cx="6191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165099">
                    <a:moveTo>
                      <a:pt x="0" y="10319"/>
                    </a:moveTo>
                    <a:cubicBezTo>
                      <a:pt x="0" y="4620"/>
                      <a:pt x="4620" y="0"/>
                      <a:pt x="10319" y="0"/>
                    </a:cubicBezTo>
                    <a:lnTo>
                      <a:pt x="51594" y="0"/>
                    </a:lnTo>
                    <a:cubicBezTo>
                      <a:pt x="57292" y="0"/>
                      <a:pt x="61912" y="4620"/>
                      <a:pt x="61912" y="10319"/>
                    </a:cubicBezTo>
                    <a:lnTo>
                      <a:pt x="61912" y="154781"/>
                    </a:lnTo>
                    <a:cubicBezTo>
                      <a:pt x="61912" y="160480"/>
                      <a:pt x="57292" y="165099"/>
                      <a:pt x="51594" y="165099"/>
                    </a:cubicBezTo>
                    <a:lnTo>
                      <a:pt x="10319" y="165099"/>
                    </a:lnTo>
                    <a:cubicBezTo>
                      <a:pt x="4620" y="165099"/>
                      <a:pt x="0" y="160480"/>
                      <a:pt x="0" y="154781"/>
                    </a:cubicBez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660775" y="2225674"/>
                <a:ext cx="1444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525">
                    <a:moveTo>
                      <a:pt x="0" y="0"/>
                    </a:move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974592" y="2064068"/>
              <a:ext cx="16267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TOP2 合计 PV 占比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00450" y="2785110"/>
              <a:ext cx="119856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E8833A"/>
                  </a:solidFill>
                  <a:latin typeface="Georgia"/>
                  <a:ea typeface="Georgia"/>
                  <a:cs typeface="Georgia"/>
                </a:rPr>
                <a:t>59%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12642" y="3549968"/>
              <a:ext cx="139388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 xml:space="preserve">zh-hk 香港繁体 + </a:t>
              </a: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en-sg 新加坡英文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10300" y="1809750"/>
            <a:ext cx="2590800" cy="2381250"/>
            <a:chOff x="6210300" y="1809750"/>
            <a:chExt cx="2590800" cy="2381250"/>
          </a:xfrm>
        </p:grpSpPr>
        <p:sp>
          <p:nvSpPr>
            <p:cNvPr id="29" name="Rectangle 29"/>
            <p:cNvSpPr/>
            <p:nvPr/>
          </p:nvSpPr>
          <p:spPr>
            <a:xfrm>
              <a:off x="6210300" y="1809750"/>
              <a:ext cx="2590800" cy="2381250"/>
            </a:xfrm>
            <a:prstGeom prst="roundRect">
              <a:avLst>
                <a:gd name="adj" fmla="val 4000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469856" y="2091531"/>
              <a:ext cx="185737" cy="103187"/>
              <a:chOff x="6469856" y="2091531"/>
              <a:chExt cx="185737" cy="1031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469856" y="2091531"/>
                <a:ext cx="185737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03187">
                    <a:moveTo>
                      <a:pt x="0" y="103187"/>
                    </a:moveTo>
                    <a:lnTo>
                      <a:pt x="61912" y="41275"/>
                    </a:lnTo>
                    <a:lnTo>
                      <a:pt x="103187" y="82550"/>
                    </a:lnTo>
                    <a:lnTo>
                      <a:pt x="185737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583362" y="2091531"/>
                <a:ext cx="72231" cy="72231"/>
              </a:xfrm>
              <a:custGeom>
                <a:avLst/>
                <a:gdLst/>
                <a:ahLst/>
                <a:cxnLst/>
                <a:rect l="l" t="t" r="r" b="b"/>
                <a:pathLst>
                  <a:path w="72231" h="72231">
                    <a:moveTo>
                      <a:pt x="0" y="0"/>
                    </a:moveTo>
                    <a:lnTo>
                      <a:pt x="72231" y="0"/>
                    </a:lnTo>
                    <a:lnTo>
                      <a:pt x="72231" y="72231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793992" y="206406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TOP10 合计 PV 占比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19850" y="2785110"/>
              <a:ext cx="18885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88.6%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2042" y="3549968"/>
              <a:ext cx="138531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前 10 个语言站</a:t>
              </a: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几乎等于全站大盘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029700" y="1809750"/>
            <a:ext cx="2590800" cy="2381250"/>
            <a:chOff x="9029700" y="1809750"/>
            <a:chExt cx="2590800" cy="2381250"/>
          </a:xfrm>
        </p:grpSpPr>
        <p:sp>
          <p:nvSpPr>
            <p:cNvPr id="37" name="Rectangle 37"/>
            <p:cNvSpPr/>
            <p:nvPr/>
          </p:nvSpPr>
          <p:spPr>
            <a:xfrm>
              <a:off x="9029700" y="1809750"/>
              <a:ext cx="2590800" cy="2381250"/>
            </a:xfrm>
            <a:prstGeom prst="roundRect">
              <a:avLst>
                <a:gd name="adj" fmla="val 4000"/>
              </a:avLst>
            </a:prstGeom>
            <a:solidFill>
              <a:srgbClr val="F7F9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309894" y="2050256"/>
              <a:ext cx="144462" cy="185737"/>
              <a:chOff x="9309894" y="2050256"/>
              <a:chExt cx="144462" cy="18573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309894" y="2070894"/>
                <a:ext cx="144462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65099">
                    <a:moveTo>
                      <a:pt x="41275" y="0"/>
                    </a:moveTo>
                    <a:lnTo>
                      <a:pt x="20637" y="0"/>
                    </a:lnTo>
                    <a:cubicBezTo>
                      <a:pt x="9240" y="0"/>
                      <a:pt x="0" y="9240"/>
                      <a:pt x="0" y="20637"/>
                    </a:cubicBezTo>
                    <a:lnTo>
                      <a:pt x="0" y="144462"/>
                    </a:lnTo>
                    <a:cubicBezTo>
                      <a:pt x="0" y="155860"/>
                      <a:pt x="9240" y="165099"/>
                      <a:pt x="20637" y="165099"/>
                    </a:cubicBezTo>
                    <a:lnTo>
                      <a:pt x="123825" y="165099"/>
                    </a:lnTo>
                    <a:cubicBezTo>
                      <a:pt x="135222" y="165099"/>
                      <a:pt x="144462" y="155860"/>
                      <a:pt x="144462" y="144462"/>
                    </a:cubicBezTo>
                    <a:lnTo>
                      <a:pt x="144462" y="20637"/>
                    </a:lnTo>
                    <a:cubicBezTo>
                      <a:pt x="144462" y="9240"/>
                      <a:pt x="135222" y="0"/>
                      <a:pt x="123825" y="0"/>
                    </a:cubicBezTo>
                    <a:lnTo>
                      <a:pt x="103187" y="0"/>
                    </a:ln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351168" y="2050256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cubicBezTo>
                      <a:pt x="61912" y="32035"/>
                      <a:pt x="52673" y="41275"/>
                      <a:pt x="41275" y="41275"/>
                    </a:cubicBezTo>
                    <a:lnTo>
                      <a:pt x="20637" y="41275"/>
                    </a:lnTo>
                    <a:cubicBezTo>
                      <a:pt x="9240" y="41275"/>
                      <a:pt x="0" y="32035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351168" y="2143125"/>
                <a:ext cx="9525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1594">
                    <a:moveTo>
                      <a:pt x="0" y="515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382125" y="2184399"/>
                <a:ext cx="9525" cy="103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9">
                    <a:moveTo>
                      <a:pt x="0" y="1031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413081" y="2163762"/>
                <a:ext cx="9525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0956">
                    <a:moveTo>
                      <a:pt x="0" y="3095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613392" y="20640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其余语言站合计占比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239250" y="2785110"/>
              <a:ext cx="18885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4A90C4"/>
                  </a:solidFill>
                  <a:latin typeface="Georgia"/>
                  <a:ea typeface="Georgia"/>
                  <a:cs typeface="Georgia"/>
                </a:rPr>
                <a:t>11.4%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251442" y="3549968"/>
              <a:ext cx="137674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40+ 个长尾语言站</a:t>
              </a:r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合计不足一成二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71500" y="4381500"/>
            <a:ext cx="11049000" cy="1771650"/>
            <a:chOff x="571500" y="4381500"/>
            <a:chExt cx="11049000" cy="1771650"/>
          </a:xfrm>
        </p:grpSpPr>
        <p:sp>
          <p:nvSpPr>
            <p:cNvPr id="48" name="Rectangle 48"/>
            <p:cNvSpPr/>
            <p:nvPr/>
          </p:nvSpPr>
          <p:spPr>
            <a:xfrm>
              <a:off x="571500" y="4381500"/>
              <a:ext cx="11049000" cy="1771650"/>
            </a:xfrm>
            <a:prstGeom prst="roundRect">
              <a:avLst>
                <a:gd name="adj" fmla="val 5376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71500" y="4381500"/>
              <a:ext cx="57150" cy="1771650"/>
            </a:xfrm>
            <a:prstGeom prst="rect">
              <a:avLst/>
            </a:prstGeom>
            <a:solidFill>
              <a:srgbClr val="E8833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950119" y="4683919"/>
              <a:ext cx="214312" cy="214312"/>
              <a:chOff x="950119" y="4683919"/>
              <a:chExt cx="214312" cy="21431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45369" y="47791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997744" y="4731544"/>
                <a:ext cx="119062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119062">
                    <a:moveTo>
                      <a:pt x="0" y="59531"/>
                    </a:moveTo>
                    <a:cubicBezTo>
                      <a:pt x="0" y="92409"/>
                      <a:pt x="26653" y="119062"/>
                      <a:pt x="59531" y="119062"/>
                    </a:cubicBezTo>
                    <a:cubicBezTo>
                      <a:pt x="92409" y="119062"/>
                      <a:pt x="119062" y="92409"/>
                      <a:pt x="119062" y="59531"/>
                    </a:cubicBezTo>
                    <a:cubicBezTo>
                      <a:pt x="119062" y="26653"/>
                      <a:pt x="92409" y="0"/>
                      <a:pt x="59531" y="0"/>
                    </a:cubicBezTo>
                    <a:cubicBezTo>
                      <a:pt x="26653" y="0"/>
                      <a:pt x="0" y="26653"/>
                      <a:pt x="0" y="59531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950119" y="4683919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0" y="107156"/>
                    </a:moveTo>
                    <a:cubicBezTo>
                      <a:pt x="0" y="166337"/>
                      <a:pt x="47975" y="214312"/>
                      <a:pt x="107156" y="214312"/>
                    </a:cubicBezTo>
                    <a:cubicBezTo>
                      <a:pt x="166337" y="214312"/>
                      <a:pt x="214312" y="16633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ubicBezTo>
                      <a:pt x="47975" y="0"/>
                      <a:pt x="0" y="47975"/>
                      <a:pt x="0" y="107156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322832" y="4612005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主力客源区：港澳台 + 东南亚（新马）+ 俄韩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05256" y="5101590"/>
              <a:ext cx="79541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站内流量占各站 31.7%–66.6%，仍是大盘主力；对外投放的四个主要抓手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5256" y="5425440"/>
              <a:ext cx="50440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>
                      <a:alphaMod val="85000"/>
                    </a:srgbClr>
                  </a:solidFill>
                  <a:latin typeface="Arial"/>
                  <a:ea typeface="Microsoft YaHei"/>
                  <a:cs typeface="Arial"/>
                </a:rPr>
                <a:t>是 Partner 联盟、SEO、APP-PUSH 与 PPC。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07542" y="5816918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65000"/>
                    </a:srgbClr>
                  </a:solidFill>
                  <a:latin typeface="Arial"/>
                  <a:ea typeface="Microsoft YaHei"/>
                  <a:cs typeface="Arial"/>
                </a:rPr>
                <a:t>但四个抓手在每个语言站的配比差异巨大——这正是「一站一策」的依据。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565404" y="6480810"/>
              <a:ext cx="6805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数据来源：dw_ticketdb.edw_log_ttd_traffic_order_d_ext · 2026-08-10 至 2026-08-17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2319349" cy="1073467"/>
            <a:chOff x="560070" y="326708"/>
            <a:chExt cx="12319349" cy="10734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121715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TOP10 语言站：港澳台与新加坡撑起近九成流量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1109304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TOP10 语言站贡献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88.6%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 的 PV，其中香港繁体与新加坡英文两家就占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59%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3906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76" name="Group 76"/>
          <p:cNvGrpSpPr/>
          <p:nvPr/>
        </p:nvGrpSpPr>
        <p:grpSpPr>
          <a:xfrm>
            <a:off x="564642" y="1546860"/>
            <a:ext cx="11062716" cy="4673346"/>
            <a:chOff x="564642" y="1546860"/>
            <a:chExt cx="11062716" cy="4673346"/>
          </a:xfrm>
        </p:grpSpPr>
        <p:sp>
          <p:nvSpPr>
            <p:cNvPr id="8" name="TextBox 8"/>
            <p:cNvSpPr txBox="1"/>
            <p:nvPr/>
          </p:nvSpPr>
          <p:spPr>
            <a:xfrm>
              <a:off x="565404" y="1546860"/>
              <a:ext cx="1005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排名 · 语言站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35897" y="15468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Arial"/>
                  <a:ea typeface="Arial"/>
                  <a:cs typeface="Arial"/>
                </a:rPr>
                <a:t>PV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91065" y="1546860"/>
              <a:ext cx="5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PV 占比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426647" y="1546860"/>
              <a:ext cx="1999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Arial"/>
                  <a:ea typeface="Arial"/>
                  <a:cs typeface="Arial"/>
                </a:rPr>
                <a:t>UV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52750" y="1790700"/>
              <a:ext cx="9525" cy="4038600"/>
            </a:xfrm>
            <a:custGeom>
              <a:avLst/>
              <a:gdLst/>
              <a:ahLst/>
              <a:cxnLst/>
              <a:rect l="l" t="t" r="r" b="b"/>
              <a:pathLst>
                <a:path w="9525" h="4038600">
                  <a:moveTo>
                    <a:pt x="0" y="0"/>
                  </a:moveTo>
                  <a:lnTo>
                    <a:pt x="0" y="4038600"/>
                  </a:lnTo>
                </a:path>
              </a:pathLst>
            </a:custGeom>
            <a:noFill/>
            <a:ln w="19050">
              <a:solidFill>
                <a:srgbClr val="5A6675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952750" y="58293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19050">
              <a:solidFill>
                <a:srgbClr val="5A6675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112895" y="1752600"/>
              <a:ext cx="9525" cy="4076700"/>
            </a:xfrm>
            <a:custGeom>
              <a:avLst/>
              <a:gdLst/>
              <a:ahLst/>
              <a:cxnLst/>
              <a:rect l="l" t="t" r="r" b="b"/>
              <a:pathLst>
                <a:path w="9525" h="4076700">
                  <a:moveTo>
                    <a:pt x="0" y="0"/>
                  </a:moveTo>
                  <a:lnTo>
                    <a:pt x="0" y="407670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272088" y="1752600"/>
              <a:ext cx="9525" cy="4076700"/>
            </a:xfrm>
            <a:custGeom>
              <a:avLst/>
              <a:gdLst/>
              <a:ahLst/>
              <a:cxnLst/>
              <a:rect l="l" t="t" r="r" b="b"/>
              <a:pathLst>
                <a:path w="9525" h="4076700">
                  <a:moveTo>
                    <a:pt x="0" y="0"/>
                  </a:moveTo>
                  <a:lnTo>
                    <a:pt x="0" y="407670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432232" y="1752600"/>
              <a:ext cx="9525" cy="4076700"/>
            </a:xfrm>
            <a:custGeom>
              <a:avLst/>
              <a:gdLst/>
              <a:ahLst/>
              <a:cxnLst/>
              <a:rect l="l" t="t" r="r" b="b"/>
              <a:pathLst>
                <a:path w="9525" h="4076700">
                  <a:moveTo>
                    <a:pt x="0" y="0"/>
                  </a:moveTo>
                  <a:lnTo>
                    <a:pt x="0" y="407670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7591425" y="1752600"/>
              <a:ext cx="9525" cy="4076700"/>
            </a:xfrm>
            <a:custGeom>
              <a:avLst/>
              <a:gdLst/>
              <a:ahLst/>
              <a:cxnLst/>
              <a:rect l="l" t="t" r="r" b="b"/>
              <a:pathLst>
                <a:path w="9525" h="4076700">
                  <a:moveTo>
                    <a:pt x="0" y="0"/>
                  </a:moveTo>
                  <a:lnTo>
                    <a:pt x="0" y="407670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902229" y="5985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919042" y="59855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150K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8235" y="59855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300K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38380" y="59855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450K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97572" y="598551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600K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564642" y="1752600"/>
              <a:ext cx="11062716" cy="289751"/>
              <a:chOff x="564642" y="1752600"/>
              <a:chExt cx="11062716" cy="289751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564642" y="1778318"/>
                <a:ext cx="1449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1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zh-hk 香港繁体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2952750" y="1752600"/>
                <a:ext cx="46672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8688220" y="1778318"/>
                <a:ext cx="7483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603,658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07712" y="1778318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0F4C81"/>
                    </a:solidFill>
                    <a:latin typeface="Consolas"/>
                    <a:ea typeface="Consolas"/>
                    <a:cs typeface="Consolas"/>
                  </a:rPr>
                  <a:t>30.1%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013910" y="17783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49,043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564642" y="2171700"/>
              <a:ext cx="11062716" cy="289751"/>
              <a:chOff x="564642" y="2171700"/>
              <a:chExt cx="11062716" cy="289751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564642" y="2197418"/>
                <a:ext cx="16311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2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en-sg 新加坡英文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2952750" y="2171700"/>
                <a:ext cx="4495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688220" y="2197418"/>
                <a:ext cx="74838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581,867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907712" y="2197418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b="1" dirty="0">
                    <a:solidFill>
                      <a:srgbClr val="E8833A"/>
                    </a:solidFill>
                    <a:latin typeface="Consolas"/>
                    <a:ea typeface="Consolas"/>
                    <a:cs typeface="Consolas"/>
                  </a:rPr>
                  <a:t>29.0%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013910" y="21974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37,249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564642" y="2590800"/>
              <a:ext cx="11062716" cy="3223451"/>
              <a:chOff x="564642" y="2590800"/>
              <a:chExt cx="11062716" cy="3223451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564642" y="2616518"/>
                <a:ext cx="14857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3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zh-tw 台湾繁体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2952750" y="2590800"/>
                <a:ext cx="11430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723205" y="261651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148,331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034473" y="26165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7.4%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1013910" y="26165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28,092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64642" y="3035618"/>
                <a:ext cx="18492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4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en-my 马来西亚英文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2952750" y="3009900"/>
                <a:ext cx="1133475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723205" y="3035618"/>
                <a:ext cx="71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146,071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034473" y="30356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7.3%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013910" y="30356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11,297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564642" y="3454718"/>
                <a:ext cx="10859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5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ru-ru 俄语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2952750" y="3429000"/>
                <a:ext cx="5334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8823160" y="34547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68,933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034473" y="34547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3.4%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1013910" y="34547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16,647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64642" y="3873818"/>
                <a:ext cx="10859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6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ko-kr 韩语</a:t>
                </a:r>
              </a:p>
            </p:txBody>
          </p:sp>
          <p:sp>
            <p:nvSpPr>
              <p:cNvPr id="51" name="Rectangle 51"/>
              <p:cNvSpPr/>
              <p:nvPr/>
            </p:nvSpPr>
            <p:spPr>
              <a:xfrm>
                <a:off x="2952750" y="3848100"/>
                <a:ext cx="428625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8823160" y="38738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55,648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034473" y="38738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2.8%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11013910" y="38738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14,796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64642" y="4292918"/>
                <a:ext cx="140400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7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en-id 印尼英文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2952750" y="4267200"/>
                <a:ext cx="4000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823160" y="42929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52,135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0034473" y="42929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2.6%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11113865" y="42929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2,955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64642" y="4712018"/>
                <a:ext cx="18492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8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zh-my 马来西亚繁体</a:t>
                </a: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2952750" y="4686300"/>
                <a:ext cx="371475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823160" y="47120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48,370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034473" y="47120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2.4%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1113865" y="47120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3,597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564642" y="5131118"/>
                <a:ext cx="16311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9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zh-sg 新加坡繁体</a:t>
                </a:r>
              </a:p>
            </p:txBody>
          </p:sp>
          <p:sp>
            <p:nvSpPr>
              <p:cNvPr id="66" name="Rectangle 66"/>
              <p:cNvSpPr/>
              <p:nvPr/>
            </p:nvSpPr>
            <p:spPr>
              <a:xfrm>
                <a:off x="2952750" y="5105400"/>
                <a:ext cx="32385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823160" y="51311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42,422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034473" y="51311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2.1%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11113865" y="51311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2,916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564642" y="5550218"/>
                <a:ext cx="15493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8A94A2"/>
                    </a:solidFill>
                    <a:latin typeface="Arial"/>
                    <a:ea typeface="Arial"/>
                    <a:cs typeface="Arial"/>
                  </a:rPr>
                  <a:t xml:space="preserve">10 </a:t>
                </a:r>
                <a:r>
                  <a:rPr lang="zh-CN" sz="135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en-xx 泛用英文</a:t>
                </a: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2952750" y="5524500"/>
                <a:ext cx="304800" cy="228600"/>
              </a:xfrm>
              <a:prstGeom prst="roundRect">
                <a:avLst>
                  <a:gd name="adj" fmla="val 16667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8823160" y="5550218"/>
                <a:ext cx="61344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39,366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10034473" y="55502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4A90C4"/>
                    </a:solidFill>
                    <a:latin typeface="Consolas"/>
                    <a:ea typeface="Consolas"/>
                    <a:cs typeface="Consolas"/>
                  </a:rPr>
                  <a:t>2.0%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1113865" y="5550218"/>
                <a:ext cx="513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350" dirty="0">
                    <a:solidFill>
                      <a:srgbClr val="5A6675"/>
                    </a:solidFill>
                    <a:latin typeface="Consolas"/>
                    <a:ea typeface="Consolas"/>
                    <a:cs typeface="Consolas"/>
                  </a:rPr>
                  <a:t>7,822</a:t>
                </a:r>
              </a:p>
            </p:txBody>
          </p:sp>
        </p:grpSp>
      </p:grpSp>
      <p:grpSp>
        <p:nvGrpSpPr>
          <p:cNvPr id="78" name="Group 78"/>
          <p:cNvGrpSpPr/>
          <p:nvPr/>
        </p:nvGrpSpPr>
        <p:grpSpPr>
          <a:xfrm>
            <a:off x="565404" y="6233160"/>
            <a:ext cx="7787457" cy="234696"/>
            <a:chOff x="565404" y="6233160"/>
            <a:chExt cx="7787457" cy="234696"/>
          </a:xfrm>
        </p:grpSpPr>
        <p:sp>
          <p:nvSpPr>
            <p:cNvPr id="77" name="TextBox 77"/>
            <p:cNvSpPr txBox="1"/>
            <p:nvPr/>
          </p:nvSpPr>
          <p:spPr>
            <a:xfrm>
              <a:off x="565404" y="6233160"/>
              <a:ext cx="77874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注：榜内各行占比为分别四舍五入后的值，合计 89.1% 与全站口径 TOP10 = 88.6% 存在 0.5pp 舍入差。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79" name="TextBox 79"/>
            <p:cNvSpPr txBox="1"/>
            <p:nvPr/>
          </p:nvSpPr>
          <p:spPr>
            <a:xfrm>
              <a:off x="565404" y="6480810"/>
              <a:ext cx="60330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全量共 50+ 个语言站 · PV = count(distinct com_pv) · UV = count(distinct vid)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26708"/>
            <a:ext cx="11049000" cy="806767"/>
            <a:chOff x="571500" y="326708"/>
            <a:chExt cx="11049000" cy="8067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78886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头部集中：前 10 个语言站吃掉近九成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11239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0070" y="1928812"/>
            <a:ext cx="4392930" cy="1109663"/>
            <a:chOff x="560070" y="1928812"/>
            <a:chExt cx="4392930" cy="1109663"/>
          </a:xfrm>
        </p:grpSpPr>
        <p:sp>
          <p:nvSpPr>
            <p:cNvPr id="7" name="TextBox 7"/>
            <p:cNvSpPr txBox="1"/>
            <p:nvPr/>
          </p:nvSpPr>
          <p:spPr>
            <a:xfrm>
              <a:off x="560070" y="1928812"/>
              <a:ext cx="3765471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50+ 个语言站里，前 10 个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就贡献了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88.6%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 的门票 PV。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3028950"/>
              <a:ext cx="4381500" cy="9525"/>
            </a:xfrm>
            <a:custGeom>
              <a:avLst/>
              <a:gdLst/>
              <a:ahLst/>
              <a:cxnLst/>
              <a:rect l="l" t="t" r="r" b="b"/>
              <a:pathLst>
                <a:path w="4381500" h="9525">
                  <a:moveTo>
                    <a:pt x="0" y="0"/>
                  </a:moveTo>
                  <a:lnTo>
                    <a:pt x="43815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3482340"/>
            <a:ext cx="4390644" cy="1342644"/>
            <a:chOff x="571500" y="3482340"/>
            <a:chExt cx="4390644" cy="1342644"/>
          </a:xfrm>
        </p:grpSpPr>
        <p:sp>
          <p:nvSpPr>
            <p:cNvPr id="10" name="Rectangle 10"/>
            <p:cNvSpPr/>
            <p:nvPr/>
          </p:nvSpPr>
          <p:spPr>
            <a:xfrm>
              <a:off x="571500" y="35433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7156" y="3482340"/>
              <a:ext cx="2737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TOP2（zh-hk + en-sg）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46514" y="3482340"/>
              <a:ext cx="5156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59%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40386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7156" y="3977640"/>
              <a:ext cx="11814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第 3–10 名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50797" y="3977640"/>
              <a:ext cx="811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E8833A"/>
                  </a:solidFill>
                  <a:latin typeface="Georgia"/>
                  <a:ea typeface="Georgia"/>
                  <a:cs typeface="Georgia"/>
                </a:rPr>
                <a:t>29.6%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71500" y="4533900"/>
              <a:ext cx="152400" cy="152400"/>
            </a:xfrm>
            <a:prstGeom prst="roundRect">
              <a:avLst>
                <a:gd name="adj" fmla="val 18750"/>
              </a:avLst>
            </a:prstGeom>
            <a:solidFill>
              <a:srgbClr val="D5DDE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156" y="4472940"/>
              <a:ext cx="201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其余 40+ 个语言站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50797" y="4472940"/>
              <a:ext cx="8113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800" b="1" dirty="0">
                  <a:solidFill>
                    <a:srgbClr val="5A6675"/>
                  </a:solidFill>
                  <a:latin typeface="Georgia"/>
                  <a:ea typeface="Georgia"/>
                  <a:cs typeface="Georgia"/>
                </a:rPr>
                <a:t>11.4%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26371" y="2285917"/>
            <a:ext cx="3208336" cy="3158347"/>
            <a:chOff x="6826371" y="2285917"/>
            <a:chExt cx="3208336" cy="3158347"/>
          </a:xfrm>
        </p:grpSpPr>
        <p:sp>
          <p:nvSpPr>
            <p:cNvPr id="20" name="Freeform 20"/>
            <p:cNvSpPr/>
            <p:nvPr/>
          </p:nvSpPr>
          <p:spPr>
            <a:xfrm>
              <a:off x="7565707" y="2285917"/>
              <a:ext cx="2469000" cy="3158347"/>
            </a:xfrm>
            <a:custGeom>
              <a:avLst/>
              <a:gdLst/>
              <a:ahLst/>
              <a:cxnLst/>
              <a:rect l="l" t="t" r="r" b="b"/>
              <a:pathLst>
                <a:path w="2469000" h="3158347">
                  <a:moveTo>
                    <a:pt x="816293" y="83"/>
                  </a:moveTo>
                  <a:cubicBezTo>
                    <a:pt x="1464794" y="0"/>
                    <a:pt x="2042319" y="410320"/>
                    <a:pt x="2255659" y="1022725"/>
                  </a:cubicBezTo>
                  <a:cubicBezTo>
                    <a:pt x="2469000" y="1635130"/>
                    <a:pt x="2271422" y="2315469"/>
                    <a:pt x="1763237" y="2718336"/>
                  </a:cubicBezTo>
                  <a:cubicBezTo>
                    <a:pt x="1255051" y="3121202"/>
                    <a:pt x="547578" y="3158347"/>
                    <a:pt x="0" y="2810910"/>
                  </a:cubicBezTo>
                  <a:lnTo>
                    <a:pt x="316230" y="2311800"/>
                  </a:lnTo>
                  <a:cubicBezTo>
                    <a:pt x="651581" y="2525015"/>
                    <a:pt x="1085156" y="2502537"/>
                    <a:pt x="1396660" y="2255787"/>
                  </a:cubicBezTo>
                  <a:cubicBezTo>
                    <a:pt x="1708164" y="2009037"/>
                    <a:pt x="1829294" y="1592119"/>
                    <a:pt x="1698505" y="1216866"/>
                  </a:cubicBezTo>
                  <a:cubicBezTo>
                    <a:pt x="1567715" y="841613"/>
                    <a:pt x="1213685" y="590306"/>
                    <a:pt x="816293" y="590633"/>
                  </a:cubicBezTo>
                  <a:close/>
                </a:path>
              </a:pathLst>
            </a:custGeom>
            <a:solidFill>
              <a:srgbClr val="0F4C81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6826371" y="2660333"/>
              <a:ext cx="1055566" cy="2436495"/>
            </a:xfrm>
            <a:custGeom>
              <a:avLst/>
              <a:gdLst/>
              <a:ahLst/>
              <a:cxnLst/>
              <a:rect l="l" t="t" r="r" b="b"/>
              <a:pathLst>
                <a:path w="1055566" h="2436495">
                  <a:moveTo>
                    <a:pt x="739336" y="2436495"/>
                  </a:moveTo>
                  <a:cubicBezTo>
                    <a:pt x="333064" y="2178691"/>
                    <a:pt x="72402" y="1744165"/>
                    <a:pt x="36201" y="1264364"/>
                  </a:cubicBezTo>
                  <a:cubicBezTo>
                    <a:pt x="0" y="784562"/>
                    <a:pt x="192513" y="315845"/>
                    <a:pt x="555504" y="0"/>
                  </a:cubicBezTo>
                  <a:lnTo>
                    <a:pt x="943171" y="444817"/>
                  </a:lnTo>
                  <a:cubicBezTo>
                    <a:pt x="720733" y="638239"/>
                    <a:pt x="602726" y="925363"/>
                    <a:pt x="624860" y="1219303"/>
                  </a:cubicBezTo>
                  <a:cubicBezTo>
                    <a:pt x="646995" y="1513243"/>
                    <a:pt x="806670" y="1779457"/>
                    <a:pt x="1055566" y="1937385"/>
                  </a:cubicBezTo>
                  <a:close/>
                </a:path>
              </a:pathLst>
            </a:custGeom>
            <a:solidFill>
              <a:srgbClr val="E8833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381875" y="2286000"/>
              <a:ext cx="1000125" cy="819150"/>
            </a:xfrm>
            <a:custGeom>
              <a:avLst/>
              <a:gdLst/>
              <a:ahLst/>
              <a:cxnLst/>
              <a:rect l="l" t="t" r="r" b="b"/>
              <a:pathLst>
                <a:path w="1000125" h="819150">
                  <a:moveTo>
                    <a:pt x="0" y="374333"/>
                  </a:moveTo>
                  <a:cubicBezTo>
                    <a:pt x="277317" y="133016"/>
                    <a:pt x="632514" y="71"/>
                    <a:pt x="1000125" y="0"/>
                  </a:cubicBezTo>
                  <a:lnTo>
                    <a:pt x="1000125" y="590550"/>
                  </a:lnTo>
                  <a:cubicBezTo>
                    <a:pt x="775091" y="590434"/>
                    <a:pt x="557591" y="671616"/>
                    <a:pt x="387668" y="819150"/>
                  </a:cubicBezTo>
                  <a:close/>
                </a:path>
              </a:pathLst>
            </a:custGeom>
            <a:solidFill>
              <a:srgbClr val="D5DDE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437714" y="3470910"/>
              <a:ext cx="1888571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88.6%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15835" y="4159568"/>
              <a:ext cx="1732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TOP10 合计 PV 占比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404" y="6233160"/>
            <a:ext cx="7943926" cy="234696"/>
            <a:chOff x="565404" y="6233160"/>
            <a:chExt cx="7943926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65404" y="6233160"/>
              <a:ext cx="7943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注：29.6% 由源数据 TOP10 88.6% 与 TOP2 59% 相减得出；各口径分别四舍五入，存在 ±0.5pp 舍入差。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65404" y="6480810"/>
              <a:ext cx="492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主力客源区：港澳台 + 东南亚（新马）+ 俄韩 · 全量共 50+ 个语言站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60070" y="326708"/>
            <a:ext cx="9638348" cy="1280159"/>
            <a:chOff x="560070" y="326708"/>
            <a:chExt cx="9638348" cy="1280159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89707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五站渠道结构：站内仍是主力，但差异极大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04862"/>
              <a:ext cx="9638348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站内流量在各站占 </a:t>
              </a:r>
              <a:r>
                <a:rPr lang="en-US" sz="2250" b="1" dirty="0">
                  <a:solidFill>
                    <a:srgbClr val="E8833A"/>
                  </a:solidFill>
                  <a:latin typeface="Arial"/>
                  <a:ea typeface="Arial"/>
                  <a:cs typeface="Arial"/>
                </a:rPr>
                <a:t>31.7%–66.6%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；</a:t>
              </a:r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对外投放的四个抓手是 Partner、SEO、APP-PUSH 与 PPC，配比因站而异。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64642" y="1549718"/>
            <a:ext cx="11055858" cy="3922966"/>
            <a:chOff x="564642" y="1549718"/>
            <a:chExt cx="11055858" cy="3922966"/>
          </a:xfrm>
        </p:grpSpPr>
        <p:sp>
          <p:nvSpPr>
            <p:cNvPr id="7" name="TextBox 7"/>
            <p:cNvSpPr txBox="1"/>
            <p:nvPr/>
          </p:nvSpPr>
          <p:spPr>
            <a:xfrm>
              <a:off x="564642" y="1549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流量来源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11388" y="1549718"/>
              <a:ext cx="13590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zh-hk 香港繁体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44776" y="1549718"/>
              <a:ext cx="1549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en-sg 新加坡英文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159082" y="1549718"/>
              <a:ext cx="17788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en-my 马来西亚英文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88612" y="1549718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ru-ru 俄语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217412" y="1549718"/>
              <a:ext cx="977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ko-kr 韩语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71500" y="1790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5A6675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71500" y="1866900"/>
              <a:ext cx="11049000" cy="557784"/>
              <a:chOff x="571500" y="1866900"/>
              <a:chExt cx="11049000" cy="557784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571500" y="20574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52856" y="2072640"/>
                <a:ext cx="50292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站内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2476500" y="18669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102577" y="2006918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8833A"/>
                    </a:solidFill>
                    <a:latin typeface="Consolas"/>
                    <a:ea typeface="Consolas"/>
                    <a:cs typeface="Consolas"/>
                  </a:rPr>
                  <a:t>66.6%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2705100" y="2247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2705100" y="2247900"/>
                <a:ext cx="1304925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944780" y="20069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42.7%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533900" y="2247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4533900" y="2247900"/>
                <a:ext cx="836295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773580" y="20069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55.0%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362700" y="2247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6362700" y="2247900"/>
                <a:ext cx="1077278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8602380" y="20069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31.7%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8191500" y="2247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8191500" y="2247900"/>
                <a:ext cx="62103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0431180" y="20069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44.3%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10020300" y="2247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10020300" y="2247900"/>
                <a:ext cx="867728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/>
              </a:solidFill>
              <a:ln>
                <a:noFill/>
              </a:ln>
            </p:spPr>
          </p:sp>
        </p:grpSp>
        <p:grpSp>
          <p:nvGrpSpPr>
            <p:cNvPr id="51" name="Group 51"/>
            <p:cNvGrpSpPr/>
            <p:nvPr/>
          </p:nvGrpSpPr>
          <p:grpSpPr>
            <a:xfrm>
              <a:off x="571500" y="2476500"/>
              <a:ext cx="11049000" cy="557784"/>
              <a:chOff x="571500" y="2476500"/>
              <a:chExt cx="11049000" cy="557784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571500" y="26670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52856" y="2682240"/>
                <a:ext cx="114482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1B2430"/>
                    </a:solidFill>
                    <a:latin typeface="Arial"/>
                    <a:ea typeface="Arial"/>
                    <a:cs typeface="Arial"/>
                  </a:rPr>
                  <a:t>APP-PUSH</a:t>
                </a:r>
              </a:p>
            </p:txBody>
          </p:sp>
          <p:sp>
            <p:nvSpPr>
              <p:cNvPr id="35" name="Line 35"/>
              <p:cNvSpPr/>
              <p:nvPr/>
            </p:nvSpPr>
            <p:spPr>
              <a:xfrm>
                <a:off x="2476500" y="24765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165958" y="26165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5.4%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705100" y="28575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2705100" y="2857500"/>
                <a:ext cx="105728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4931377" y="2616518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8833A"/>
                    </a:solidFill>
                    <a:latin typeface="Consolas"/>
                    <a:ea typeface="Consolas"/>
                    <a:cs typeface="Consolas"/>
                  </a:rPr>
                  <a:t>23.0%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4533900" y="28575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4533900" y="2857500"/>
                <a:ext cx="450532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823558" y="26165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9.3%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6362700" y="28575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44" name="Rectangle 44"/>
              <p:cNvSpPr/>
              <p:nvPr/>
            </p:nvSpPr>
            <p:spPr>
              <a:xfrm>
                <a:off x="6362700" y="2857500"/>
                <a:ext cx="181928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602380" y="26165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14.5%</a:t>
                </a: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8191500" y="28575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8191500" y="2857500"/>
                <a:ext cx="283845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0481158" y="26165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6.5%</a:t>
                </a:r>
              </a:p>
            </p:txBody>
          </p:sp>
          <p:sp>
            <p:nvSpPr>
              <p:cNvPr id="49" name="Rectangle 49"/>
              <p:cNvSpPr/>
              <p:nvPr/>
            </p:nvSpPr>
            <p:spPr>
              <a:xfrm>
                <a:off x="10020300" y="28575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10020300" y="2857500"/>
                <a:ext cx="127635" cy="76200"/>
              </a:xfrm>
              <a:prstGeom prst="roundRect">
                <a:avLst>
                  <a:gd name="adj" fmla="val 50000"/>
                </a:avLst>
              </a:prstGeom>
              <a:solidFill>
                <a:srgbClr val="E8833A"/>
              </a:solidFill>
              <a:ln>
                <a:noFill/>
              </a:ln>
            </p:spPr>
          </p:sp>
        </p:grpSp>
        <p:grpSp>
          <p:nvGrpSpPr>
            <p:cNvPr id="70" name="Group 70"/>
            <p:cNvGrpSpPr/>
            <p:nvPr/>
          </p:nvGrpSpPr>
          <p:grpSpPr>
            <a:xfrm>
              <a:off x="571500" y="3086100"/>
              <a:ext cx="11049000" cy="557784"/>
              <a:chOff x="571500" y="3086100"/>
              <a:chExt cx="11049000" cy="557784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571500" y="32766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52856" y="3291840"/>
                <a:ext cx="9587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1B2430"/>
                    </a:solidFill>
                    <a:latin typeface="Arial"/>
                    <a:ea typeface="Arial"/>
                    <a:cs typeface="Arial"/>
                  </a:rPr>
                  <a:t>Partner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2476500" y="30861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3115980" y="32261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13.3%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2705100" y="34671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57" name="Rectangle 57"/>
              <p:cNvSpPr/>
              <p:nvPr/>
            </p:nvSpPr>
            <p:spPr>
              <a:xfrm>
                <a:off x="2705100" y="3467100"/>
                <a:ext cx="260985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4944780" y="32261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10.8%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4533900" y="34671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60" name="Rectangle 60"/>
              <p:cNvSpPr/>
              <p:nvPr/>
            </p:nvSpPr>
            <p:spPr>
              <a:xfrm>
                <a:off x="4533900" y="3467100"/>
                <a:ext cx="211455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6773580" y="32261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16.1%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6362700" y="34671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63" name="Rectangle 63"/>
              <p:cNvSpPr/>
              <p:nvPr/>
            </p:nvSpPr>
            <p:spPr>
              <a:xfrm>
                <a:off x="6362700" y="3467100"/>
                <a:ext cx="315278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8602380" y="32261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10.6%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8191500" y="34671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66" name="Rectangle 66"/>
              <p:cNvSpPr/>
              <p:nvPr/>
            </p:nvSpPr>
            <p:spPr>
              <a:xfrm>
                <a:off x="8191500" y="3467100"/>
                <a:ext cx="207645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431180" y="32261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15.0%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10020300" y="34671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10020300" y="3467100"/>
                <a:ext cx="294322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/>
              </a:solidFill>
              <a:ln>
                <a:noFill/>
              </a:ln>
            </p:spPr>
          </p:sp>
        </p:grpSp>
        <p:grpSp>
          <p:nvGrpSpPr>
            <p:cNvPr id="89" name="Group 89"/>
            <p:cNvGrpSpPr/>
            <p:nvPr/>
          </p:nvGrpSpPr>
          <p:grpSpPr>
            <a:xfrm>
              <a:off x="571500" y="3695700"/>
              <a:ext cx="11049000" cy="557784"/>
              <a:chOff x="571500" y="3695700"/>
              <a:chExt cx="11049000" cy="557784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571500" y="38862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752856" y="3901440"/>
                <a:ext cx="49194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1B2430"/>
                    </a:solidFill>
                    <a:latin typeface="Arial"/>
                    <a:ea typeface="Arial"/>
                    <a:cs typeface="Arial"/>
                  </a:rPr>
                  <a:t>SEO</a:t>
                </a:r>
              </a:p>
            </p:txBody>
          </p:sp>
          <p:sp>
            <p:nvSpPr>
              <p:cNvPr id="73" name="Line 73"/>
              <p:cNvSpPr/>
              <p:nvPr/>
            </p:nvSpPr>
            <p:spPr>
              <a:xfrm>
                <a:off x="2476500" y="36957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3165958" y="38357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4.5%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2705100" y="40767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2705100" y="4076700"/>
                <a:ext cx="88582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4944780" y="38357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12.1%</a:t>
                </a: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4533900" y="40767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79" name="Rectangle 79"/>
              <p:cNvSpPr/>
              <p:nvPr/>
            </p:nvSpPr>
            <p:spPr>
              <a:xfrm>
                <a:off x="4533900" y="4076700"/>
                <a:ext cx="237172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823558" y="38357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5.2%</a:t>
                </a: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6362700" y="40767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6362700" y="4076700"/>
                <a:ext cx="101918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8588977" y="3835718"/>
                <a:ext cx="57664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E8833A"/>
                    </a:solidFill>
                    <a:latin typeface="Consolas"/>
                    <a:ea typeface="Consolas"/>
                    <a:cs typeface="Consolas"/>
                  </a:rPr>
                  <a:t>28.4%</a:t>
                </a: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8191500" y="40767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85" name="Rectangle 85"/>
              <p:cNvSpPr/>
              <p:nvPr/>
            </p:nvSpPr>
            <p:spPr>
              <a:xfrm>
                <a:off x="8191500" y="4076700"/>
                <a:ext cx="55626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10481158" y="38357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9.7%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10020300" y="40767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88" name="Rectangle 88"/>
              <p:cNvSpPr/>
              <p:nvPr/>
            </p:nvSpPr>
            <p:spPr>
              <a:xfrm>
                <a:off x="10020300" y="4076700"/>
                <a:ext cx="1905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F4C81">
                  <a:alpha val="55000"/>
                </a:srgbClr>
              </a:solidFill>
              <a:ln>
                <a:noFill/>
              </a:ln>
            </p:spPr>
          </p:sp>
        </p:grpSp>
        <p:grpSp>
          <p:nvGrpSpPr>
            <p:cNvPr id="108" name="Group 108"/>
            <p:cNvGrpSpPr/>
            <p:nvPr/>
          </p:nvGrpSpPr>
          <p:grpSpPr>
            <a:xfrm>
              <a:off x="571500" y="4305300"/>
              <a:ext cx="11049000" cy="557784"/>
              <a:chOff x="571500" y="4305300"/>
              <a:chExt cx="11049000" cy="557784"/>
            </a:xfrm>
          </p:grpSpPr>
          <p:sp>
            <p:nvSpPr>
              <p:cNvPr id="90" name="Rectangle 90"/>
              <p:cNvSpPr/>
              <p:nvPr/>
            </p:nvSpPr>
            <p:spPr>
              <a:xfrm>
                <a:off x="571500" y="44958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91" name="TextBox 91"/>
              <p:cNvSpPr txBox="1"/>
              <p:nvPr/>
            </p:nvSpPr>
            <p:spPr>
              <a:xfrm>
                <a:off x="752856" y="45110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dirty="0">
                    <a:solidFill>
                      <a:srgbClr val="1B2430"/>
                    </a:solidFill>
                    <a:latin typeface="Arial"/>
                    <a:ea typeface="Arial"/>
                    <a:cs typeface="Arial"/>
                  </a:rPr>
                  <a:t>PPC</a:t>
                </a:r>
              </a:p>
            </p:txBody>
          </p:sp>
          <p:sp>
            <p:nvSpPr>
              <p:cNvPr id="92" name="Line 92"/>
              <p:cNvSpPr/>
              <p:nvPr/>
            </p:nvSpPr>
            <p:spPr>
              <a:xfrm>
                <a:off x="2476500" y="43053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3165958" y="44453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5.0%</a:t>
                </a:r>
              </a:p>
            </p:txBody>
          </p:sp>
          <p:sp>
            <p:nvSpPr>
              <p:cNvPr id="94" name="Rectangle 94"/>
              <p:cNvSpPr/>
              <p:nvPr/>
            </p:nvSpPr>
            <p:spPr>
              <a:xfrm>
                <a:off x="2705100" y="46863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95" name="Rectangle 95"/>
              <p:cNvSpPr/>
              <p:nvPr/>
            </p:nvSpPr>
            <p:spPr>
              <a:xfrm>
                <a:off x="2705100" y="4686300"/>
                <a:ext cx="98108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4994758" y="44453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7.4%</a:t>
                </a:r>
              </a:p>
            </p:txBody>
          </p:sp>
          <p:sp>
            <p:nvSpPr>
              <p:cNvPr id="97" name="Rectangle 97"/>
              <p:cNvSpPr/>
              <p:nvPr/>
            </p:nvSpPr>
            <p:spPr>
              <a:xfrm>
                <a:off x="4533900" y="46863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98" name="Rectangle 98"/>
              <p:cNvSpPr/>
              <p:nvPr/>
            </p:nvSpPr>
            <p:spPr>
              <a:xfrm>
                <a:off x="4533900" y="4686300"/>
                <a:ext cx="144780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6823558" y="44453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8.4%</a:t>
                </a:r>
              </a:p>
            </p:txBody>
          </p:sp>
          <p:sp>
            <p:nvSpPr>
              <p:cNvPr id="100" name="Rectangle 100"/>
              <p:cNvSpPr/>
              <p:nvPr/>
            </p:nvSpPr>
            <p:spPr>
              <a:xfrm>
                <a:off x="6362700" y="46863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01" name="Rectangle 101"/>
              <p:cNvSpPr/>
              <p:nvPr/>
            </p:nvSpPr>
            <p:spPr>
              <a:xfrm>
                <a:off x="6362700" y="4686300"/>
                <a:ext cx="164782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8602380" y="44453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12.0%</a:t>
                </a:r>
              </a:p>
            </p:txBody>
          </p:sp>
          <p:sp>
            <p:nvSpPr>
              <p:cNvPr id="103" name="Rectangle 103"/>
              <p:cNvSpPr/>
              <p:nvPr/>
            </p:nvSpPr>
            <p:spPr>
              <a:xfrm>
                <a:off x="8191500" y="46863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04" name="Rectangle 104"/>
              <p:cNvSpPr/>
              <p:nvPr/>
            </p:nvSpPr>
            <p:spPr>
              <a:xfrm>
                <a:off x="8191500" y="4686300"/>
                <a:ext cx="235268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10431180" y="44453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11.6%</a:t>
                </a:r>
              </a:p>
            </p:txBody>
          </p:sp>
          <p:sp>
            <p:nvSpPr>
              <p:cNvPr id="106" name="Rectangle 106"/>
              <p:cNvSpPr/>
              <p:nvPr/>
            </p:nvSpPr>
            <p:spPr>
              <a:xfrm>
                <a:off x="10020300" y="46863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07" name="Rectangle 107"/>
              <p:cNvSpPr/>
              <p:nvPr/>
            </p:nvSpPr>
            <p:spPr>
              <a:xfrm>
                <a:off x="10020300" y="4686300"/>
                <a:ext cx="227648" cy="76200"/>
              </a:xfrm>
              <a:prstGeom prst="roundRect">
                <a:avLst>
                  <a:gd name="adj" fmla="val 50000"/>
                </a:avLst>
              </a:prstGeom>
              <a:solidFill>
                <a:srgbClr val="4A90C4">
                  <a:alpha val="55000"/>
                </a:srgbClr>
              </a:solidFill>
              <a:ln>
                <a:noFill/>
              </a:ln>
            </p:spPr>
          </p:sp>
        </p:grpSp>
        <p:grpSp>
          <p:nvGrpSpPr>
            <p:cNvPr id="127" name="Group 127"/>
            <p:cNvGrpSpPr/>
            <p:nvPr/>
          </p:nvGrpSpPr>
          <p:grpSpPr>
            <a:xfrm>
              <a:off x="571500" y="4914900"/>
              <a:ext cx="11049000" cy="557784"/>
              <a:chOff x="571500" y="4914900"/>
              <a:chExt cx="11049000" cy="557784"/>
            </a:xfrm>
          </p:grpSpPr>
          <p:sp>
            <p:nvSpPr>
              <p:cNvPr id="109" name="Rectangle 109"/>
              <p:cNvSpPr/>
              <p:nvPr/>
            </p:nvSpPr>
            <p:spPr>
              <a:xfrm>
                <a:off x="571500" y="5105400"/>
                <a:ext cx="57150" cy="24765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52856" y="5120640"/>
                <a:ext cx="147767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1B2430"/>
                    </a:solidFill>
                    <a:latin typeface="Arial"/>
                    <a:ea typeface="Microsoft YaHei"/>
                    <a:cs typeface="Arial"/>
                  </a:rPr>
                  <a:t>其他/EDM 等</a:t>
                </a:r>
              </a:p>
            </p:txBody>
          </p:sp>
          <p:sp>
            <p:nvSpPr>
              <p:cNvPr id="111" name="Line 111"/>
              <p:cNvSpPr/>
              <p:nvPr/>
            </p:nvSpPr>
            <p:spPr>
              <a:xfrm>
                <a:off x="2476500" y="4914900"/>
                <a:ext cx="9144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144000" h="9525">
                    <a:moveTo>
                      <a:pt x="0" y="0"/>
                    </a:moveTo>
                    <a:lnTo>
                      <a:pt x="9144000" y="0"/>
                    </a:lnTo>
                  </a:path>
                </a:pathLst>
              </a:custGeom>
              <a:noFill/>
              <a:ln w="9525">
                <a:solidFill>
                  <a:srgbClr val="E7EDF3"/>
                </a:solidFill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3165958" y="50549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5.2%</a:t>
                </a:r>
              </a:p>
            </p:txBody>
          </p:sp>
          <p:sp>
            <p:nvSpPr>
              <p:cNvPr id="113" name="Rectangle 113"/>
              <p:cNvSpPr/>
              <p:nvPr/>
            </p:nvSpPr>
            <p:spPr>
              <a:xfrm>
                <a:off x="2705100" y="5295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14" name="Rectangle 114"/>
              <p:cNvSpPr/>
              <p:nvPr/>
            </p:nvSpPr>
            <p:spPr>
              <a:xfrm>
                <a:off x="2705100" y="5295900"/>
                <a:ext cx="101918" cy="7620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  <p:sp>
            <p:nvSpPr>
              <p:cNvPr id="115" name="TextBox 115"/>
              <p:cNvSpPr txBox="1"/>
              <p:nvPr/>
            </p:nvSpPr>
            <p:spPr>
              <a:xfrm>
                <a:off x="4994758" y="50549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4.0%</a:t>
                </a:r>
              </a:p>
            </p:txBody>
          </p:sp>
          <p:sp>
            <p:nvSpPr>
              <p:cNvPr id="116" name="Rectangle 116"/>
              <p:cNvSpPr/>
              <p:nvPr/>
            </p:nvSpPr>
            <p:spPr>
              <a:xfrm>
                <a:off x="4533900" y="5295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17" name="Rectangle 117"/>
              <p:cNvSpPr/>
              <p:nvPr/>
            </p:nvSpPr>
            <p:spPr>
              <a:xfrm>
                <a:off x="4533900" y="5295900"/>
                <a:ext cx="78105" cy="7620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6823558" y="50549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6.0%</a:t>
                </a:r>
              </a:p>
            </p:txBody>
          </p:sp>
          <p:sp>
            <p:nvSpPr>
              <p:cNvPr id="119" name="Rectangle 119"/>
              <p:cNvSpPr/>
              <p:nvPr/>
            </p:nvSpPr>
            <p:spPr>
              <a:xfrm>
                <a:off x="6362700" y="5295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20" name="Rectangle 120"/>
              <p:cNvSpPr/>
              <p:nvPr/>
            </p:nvSpPr>
            <p:spPr>
              <a:xfrm>
                <a:off x="6362700" y="5295900"/>
                <a:ext cx="117158" cy="7620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8652358" y="5054918"/>
                <a:ext cx="44988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2.8%</a:t>
                </a:r>
              </a:p>
            </p:txBody>
          </p:sp>
          <p:sp>
            <p:nvSpPr>
              <p:cNvPr id="122" name="Rectangle 122"/>
              <p:cNvSpPr/>
              <p:nvPr/>
            </p:nvSpPr>
            <p:spPr>
              <a:xfrm>
                <a:off x="8191500" y="5295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23" name="Rectangle 123"/>
              <p:cNvSpPr/>
              <p:nvPr/>
            </p:nvSpPr>
            <p:spPr>
              <a:xfrm>
                <a:off x="8191500" y="5295900"/>
                <a:ext cx="55245" cy="7620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10431180" y="5054918"/>
                <a:ext cx="5498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1B2430"/>
                    </a:solidFill>
                    <a:latin typeface="Consolas"/>
                    <a:ea typeface="Consolas"/>
                    <a:cs typeface="Consolas"/>
                  </a:rPr>
                  <a:t>12.9%</a:t>
                </a:r>
              </a:p>
            </p:txBody>
          </p:sp>
          <p:sp>
            <p:nvSpPr>
              <p:cNvPr id="125" name="Rectangle 125"/>
              <p:cNvSpPr/>
              <p:nvPr/>
            </p:nvSpPr>
            <p:spPr>
              <a:xfrm>
                <a:off x="10020300" y="5295900"/>
                <a:ext cx="13716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E7EDF3"/>
              </a:solidFill>
              <a:ln>
                <a:noFill/>
              </a:ln>
            </p:spPr>
          </p:sp>
          <p:sp>
            <p:nvSpPr>
              <p:cNvPr id="126" name="Rectangle 126"/>
              <p:cNvSpPr/>
              <p:nvPr/>
            </p:nvSpPr>
            <p:spPr>
              <a:xfrm>
                <a:off x="10020300" y="5295900"/>
                <a:ext cx="252412" cy="76200"/>
              </a:xfrm>
              <a:prstGeom prst="roundRect">
                <a:avLst>
                  <a:gd name="adj" fmla="val 50000"/>
                </a:avLst>
              </a:prstGeom>
              <a:solidFill>
                <a:srgbClr val="8A94A2"/>
              </a:solidFill>
              <a:ln>
                <a:noFill/>
              </a:ln>
            </p:spPr>
          </p:sp>
        </p:grpSp>
      </p:grpSp>
      <p:grpSp>
        <p:nvGrpSpPr>
          <p:cNvPr id="130" name="Group 130"/>
          <p:cNvGrpSpPr/>
          <p:nvPr/>
        </p:nvGrpSpPr>
        <p:grpSpPr>
          <a:xfrm>
            <a:off x="565404" y="5775960"/>
            <a:ext cx="7968234" cy="234696"/>
            <a:chOff x="565404" y="5775960"/>
            <a:chExt cx="7968234" cy="234696"/>
          </a:xfrm>
        </p:grpSpPr>
        <p:sp>
          <p:nvSpPr>
            <p:cNvPr id="129" name="TextBox 129"/>
            <p:cNvSpPr txBox="1"/>
            <p:nvPr/>
          </p:nvSpPr>
          <p:spPr>
            <a:xfrm>
              <a:off x="565404" y="5775960"/>
              <a:ext cx="79682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表内为各语言站自身的渠道构成占比，每列横向合计 100%；微条按统一 0–70% 刻度绘制，便于跨站横向比较。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131" name="TextBox 131"/>
            <p:cNvSpPr txBox="1"/>
            <p:nvPr/>
          </p:nvSpPr>
          <p:spPr>
            <a:xfrm>
              <a:off x="565404" y="6480810"/>
              <a:ext cx="5068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流量来源口径 = trip_channel · 数据窗口 2026-08-10 至 2026-08-17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060430" cy="1111567"/>
            <a:chOff x="560070" y="326708"/>
            <a:chExt cx="11060430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944118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渠道指纹：同样的六个渠道，三个站三种形状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96700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同样六个渠道在 zh-hk、en-sg、ru-ru 上呈现出三种完全不同的形状。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909877" y="1775460"/>
            <a:ext cx="4562246" cy="4282821"/>
            <a:chOff x="1909877" y="1775460"/>
            <a:chExt cx="4562246" cy="4282821"/>
          </a:xfrm>
        </p:grpSpPr>
        <p:sp>
          <p:nvSpPr>
            <p:cNvPr id="8" name="Polygon 8"/>
            <p:cNvSpPr/>
            <p:nvPr/>
          </p:nvSpPr>
          <p:spPr>
            <a:xfrm>
              <a:off x="2788920" y="2095500"/>
              <a:ext cx="2804160" cy="3238500"/>
            </a:xfrm>
            <a:custGeom>
              <a:avLst/>
              <a:gdLst/>
              <a:ahLst/>
              <a:cxnLst/>
              <a:rect l="l" t="t" r="r" b="b"/>
              <a:pathLst>
                <a:path w="2804160" h="3238500">
                  <a:moveTo>
                    <a:pt x="1402080" y="0"/>
                  </a:moveTo>
                  <a:lnTo>
                    <a:pt x="2804160" y="809625"/>
                  </a:lnTo>
                  <a:lnTo>
                    <a:pt x="2804160" y="2428875"/>
                  </a:lnTo>
                  <a:lnTo>
                    <a:pt x="1402080" y="3238500"/>
                  </a:lnTo>
                  <a:lnTo>
                    <a:pt x="0" y="2428875"/>
                  </a:lnTo>
                  <a:lnTo>
                    <a:pt x="0" y="809625"/>
                  </a:lnTo>
                  <a:close/>
                </a:path>
              </a:pathLst>
            </a:custGeom>
            <a:solidFill>
              <a:srgbClr val="F7F9FB"/>
            </a:solidFill>
            <a:ln w="9525">
              <a:solidFill>
                <a:srgbClr val="D5DDE6"/>
              </a:solidFill>
            </a:ln>
          </p:spPr>
        </p:sp>
        <p:sp>
          <p:nvSpPr>
            <p:cNvPr id="9" name="Polygon 9"/>
            <p:cNvSpPr/>
            <p:nvPr/>
          </p:nvSpPr>
          <p:spPr>
            <a:xfrm>
              <a:off x="3139440" y="2500312"/>
              <a:ext cx="2103120" cy="2428875"/>
            </a:xfrm>
            <a:custGeom>
              <a:avLst/>
              <a:gdLst/>
              <a:ahLst/>
              <a:cxnLst/>
              <a:rect l="l" t="t" r="r" b="b"/>
              <a:pathLst>
                <a:path w="2103120" h="2428875">
                  <a:moveTo>
                    <a:pt x="1051560" y="0"/>
                  </a:moveTo>
                  <a:lnTo>
                    <a:pt x="2103120" y="607695"/>
                  </a:lnTo>
                  <a:lnTo>
                    <a:pt x="2103120" y="1822132"/>
                  </a:lnTo>
                  <a:lnTo>
                    <a:pt x="1051560" y="2428875"/>
                  </a:lnTo>
                  <a:lnTo>
                    <a:pt x="0" y="1822132"/>
                  </a:lnTo>
                  <a:lnTo>
                    <a:pt x="0" y="607695"/>
                  </a:lnTo>
                  <a:close/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3489960" y="2905125"/>
              <a:ext cx="1402080" cy="1619250"/>
            </a:xfrm>
            <a:custGeom>
              <a:avLst/>
              <a:gdLst/>
              <a:ahLst/>
              <a:cxnLst/>
              <a:rect l="l" t="t" r="r" b="b"/>
              <a:pathLst>
                <a:path w="1402080" h="1619250">
                  <a:moveTo>
                    <a:pt x="701040" y="0"/>
                  </a:moveTo>
                  <a:lnTo>
                    <a:pt x="1402080" y="404812"/>
                  </a:lnTo>
                  <a:lnTo>
                    <a:pt x="1402080" y="1214438"/>
                  </a:lnTo>
                  <a:lnTo>
                    <a:pt x="701040" y="1619250"/>
                  </a:lnTo>
                  <a:lnTo>
                    <a:pt x="0" y="1214438"/>
                  </a:lnTo>
                  <a:lnTo>
                    <a:pt x="0" y="404812"/>
                  </a:lnTo>
                  <a:close/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3840480" y="3309938"/>
              <a:ext cx="701040" cy="809625"/>
            </a:xfrm>
            <a:custGeom>
              <a:avLst/>
              <a:gdLst/>
              <a:ahLst/>
              <a:cxnLst/>
              <a:rect l="l" t="t" r="r" b="b"/>
              <a:pathLst>
                <a:path w="701040" h="809625">
                  <a:moveTo>
                    <a:pt x="350520" y="0"/>
                  </a:moveTo>
                  <a:lnTo>
                    <a:pt x="701040" y="202883"/>
                  </a:lnTo>
                  <a:lnTo>
                    <a:pt x="701040" y="607695"/>
                  </a:lnTo>
                  <a:lnTo>
                    <a:pt x="350520" y="809625"/>
                  </a:lnTo>
                  <a:lnTo>
                    <a:pt x="0" y="607695"/>
                  </a:lnTo>
                  <a:lnTo>
                    <a:pt x="0" y="202883"/>
                  </a:lnTo>
                  <a:close/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4191000" y="209550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161925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4191000" y="2905125"/>
              <a:ext cx="1402080" cy="809625"/>
            </a:xfrm>
            <a:custGeom>
              <a:avLst/>
              <a:gdLst/>
              <a:ahLst/>
              <a:cxnLst/>
              <a:rect l="l" t="t" r="r" b="b"/>
              <a:pathLst>
                <a:path w="1402080" h="809625">
                  <a:moveTo>
                    <a:pt x="0" y="809625"/>
                  </a:moveTo>
                  <a:lnTo>
                    <a:pt x="140208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191000" y="3714750"/>
              <a:ext cx="1402080" cy="809625"/>
            </a:xfrm>
            <a:custGeom>
              <a:avLst/>
              <a:gdLst/>
              <a:ahLst/>
              <a:cxnLst/>
              <a:rect l="l" t="t" r="r" b="b"/>
              <a:pathLst>
                <a:path w="1402080" h="809625">
                  <a:moveTo>
                    <a:pt x="0" y="0"/>
                  </a:moveTo>
                  <a:lnTo>
                    <a:pt x="1402080" y="809625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191000" y="3714750"/>
              <a:ext cx="9525" cy="1619250"/>
            </a:xfrm>
            <a:custGeom>
              <a:avLst/>
              <a:gdLst/>
              <a:ahLst/>
              <a:cxnLst/>
              <a:rect l="l" t="t" r="r" b="b"/>
              <a:pathLst>
                <a:path w="9525" h="1619250">
                  <a:moveTo>
                    <a:pt x="0" y="0"/>
                  </a:moveTo>
                  <a:lnTo>
                    <a:pt x="0" y="161925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788920" y="3714750"/>
              <a:ext cx="1402080" cy="809625"/>
            </a:xfrm>
            <a:custGeom>
              <a:avLst/>
              <a:gdLst/>
              <a:ahLst/>
              <a:cxnLst/>
              <a:rect l="l" t="t" r="r" b="b"/>
              <a:pathLst>
                <a:path w="1402080" h="809625">
                  <a:moveTo>
                    <a:pt x="1402080" y="0"/>
                  </a:moveTo>
                  <a:lnTo>
                    <a:pt x="0" y="809625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788920" y="2905125"/>
              <a:ext cx="1402080" cy="809625"/>
            </a:xfrm>
            <a:custGeom>
              <a:avLst/>
              <a:gdLst/>
              <a:ahLst/>
              <a:cxnLst/>
              <a:rect l="l" t="t" r="r" b="b"/>
              <a:pathLst>
                <a:path w="1402080" h="809625">
                  <a:moveTo>
                    <a:pt x="1402080" y="809625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4042410" y="2727008"/>
              <a:ext cx="609600" cy="1267777"/>
            </a:xfrm>
            <a:custGeom>
              <a:avLst/>
              <a:gdLst/>
              <a:ahLst/>
              <a:cxnLst/>
              <a:rect l="l" t="t" r="r" b="b"/>
              <a:pathLst>
                <a:path w="609600" h="1267777">
                  <a:moveTo>
                    <a:pt x="148590" y="0"/>
                  </a:moveTo>
                  <a:lnTo>
                    <a:pt x="609600" y="721042"/>
                  </a:lnTo>
                  <a:lnTo>
                    <a:pt x="364808" y="1112520"/>
                  </a:lnTo>
                  <a:lnTo>
                    <a:pt x="148590" y="1267777"/>
                  </a:lnTo>
                  <a:lnTo>
                    <a:pt x="0" y="1073468"/>
                  </a:lnTo>
                  <a:lnTo>
                    <a:pt x="68580" y="941070"/>
                  </a:lnTo>
                  <a:close/>
                </a:path>
              </a:pathLst>
            </a:custGeom>
            <a:solidFill>
              <a:srgbClr val="E8833A">
                <a:alpha val="18000"/>
              </a:srgbClr>
            </a:solidFill>
            <a:ln w="23812">
              <a:solidFill>
                <a:srgbClr val="E8833A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3950970" y="2981325"/>
              <a:ext cx="530542" cy="1390650"/>
            </a:xfrm>
            <a:custGeom>
              <a:avLst/>
              <a:gdLst/>
              <a:ahLst/>
              <a:cxnLst/>
              <a:rect l="l" t="t" r="r" b="b"/>
              <a:pathLst>
                <a:path w="530542" h="1390650">
                  <a:moveTo>
                    <a:pt x="240030" y="0"/>
                  </a:moveTo>
                  <a:lnTo>
                    <a:pt x="530542" y="565785"/>
                  </a:lnTo>
                  <a:lnTo>
                    <a:pt x="452438" y="856297"/>
                  </a:lnTo>
                  <a:lnTo>
                    <a:pt x="240030" y="1390650"/>
                  </a:lnTo>
                  <a:lnTo>
                    <a:pt x="0" y="872490"/>
                  </a:lnTo>
                  <a:lnTo>
                    <a:pt x="183833" y="701040"/>
                  </a:lnTo>
                  <a:close/>
                </a:path>
              </a:pathLst>
            </a:custGeom>
            <a:solidFill>
              <a:srgbClr val="4A90C4">
                <a:alpha val="18000"/>
              </a:srgbClr>
            </a:solidFill>
            <a:ln w="23812">
              <a:solidFill>
                <a:srgbClr val="4A90C4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4087178" y="2173605"/>
              <a:ext cx="370522" cy="1695450"/>
            </a:xfrm>
            <a:custGeom>
              <a:avLst/>
              <a:gdLst/>
              <a:ahLst/>
              <a:cxnLst/>
              <a:rect l="l" t="t" r="r" b="b"/>
              <a:pathLst>
                <a:path w="370522" h="1695450">
                  <a:moveTo>
                    <a:pt x="103822" y="0"/>
                  </a:moveTo>
                  <a:lnTo>
                    <a:pt x="211455" y="1478280"/>
                  </a:lnTo>
                  <a:lnTo>
                    <a:pt x="370522" y="1695450"/>
                  </a:lnTo>
                  <a:lnTo>
                    <a:pt x="103822" y="1644968"/>
                  </a:lnTo>
                  <a:lnTo>
                    <a:pt x="3810" y="1599248"/>
                  </a:lnTo>
                  <a:lnTo>
                    <a:pt x="0" y="1481138"/>
                  </a:lnTo>
                  <a:close/>
                </a:path>
              </a:pathLst>
            </a:custGeom>
            <a:solidFill>
              <a:srgbClr val="0F4C81">
                <a:alpha val="18000"/>
              </a:srgbClr>
            </a:solidFill>
            <a:ln w="23812">
              <a:solidFill>
                <a:srgbClr val="0F4C8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023360" y="17754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708904" y="2708910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8904" y="4556760"/>
              <a:ext cx="639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27018" y="54711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79269" y="4556760"/>
              <a:ext cx="2938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09877" y="2708910"/>
              <a:ext cx="76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57500" y="58293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60954" y="58235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zh-hk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810000" y="58293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13454" y="58235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en-sg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62500" y="5829300"/>
              <a:ext cx="133350" cy="133350"/>
            </a:xfrm>
            <a:prstGeom prst="roundRect">
              <a:avLst>
                <a:gd name="adj" fmla="val 21429"/>
              </a:avLst>
            </a:prstGeom>
            <a:solidFill>
              <a:srgbClr val="4A90C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965954" y="58235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ru-ru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51142" y="2038350"/>
            <a:ext cx="2891722" cy="3433001"/>
            <a:chOff x="6851142" y="2038350"/>
            <a:chExt cx="2891722" cy="3433001"/>
          </a:xfrm>
        </p:grpSpPr>
        <p:sp>
          <p:nvSpPr>
            <p:cNvPr id="34" name="Rectangle 34"/>
            <p:cNvSpPr/>
            <p:nvPr/>
          </p:nvSpPr>
          <p:spPr>
            <a:xfrm>
              <a:off x="6858000" y="203835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075932" y="2059305"/>
              <a:ext cx="21140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zh-hk 站内凸起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1142" y="2521268"/>
              <a:ext cx="279120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站内 66.6% 把整条形状向外推，</a:t>
              </a: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其余维度普遍收敛在 4.5%–13.3%。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858000" y="325755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075932" y="3278505"/>
              <a:ext cx="26669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en-sg 的 Push 尖角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1142" y="3740468"/>
              <a:ext cx="2585466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APP-PUSH 23.0% 是全站最高，</a:t>
              </a: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在雷达上形成唯一明显外突的角。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858000" y="4476750"/>
              <a:ext cx="76200" cy="266700"/>
            </a:xfrm>
            <a:prstGeom prst="roundRect">
              <a:avLst>
                <a:gd name="adj" fmla="val 50000"/>
              </a:avLst>
            </a:prstGeom>
            <a:solidFill>
              <a:srgbClr val="4A90C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075932" y="4497705"/>
              <a:ext cx="26056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90C4"/>
                  </a:solidFill>
                  <a:latin typeface="Arial"/>
                  <a:ea typeface="Microsoft YaHei"/>
                  <a:cs typeface="Arial"/>
                </a:rPr>
                <a:t>ru-ru 的 SEO 长刺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1142" y="4959668"/>
              <a:ext cx="2165414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SEO 28.4% 远超其他渠道，</a:t>
              </a:r>
              <a:r>
                <a:rPr lang="zh-CN" sz="135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站内 31.7% 却是六站最低。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65404" y="6233160"/>
            <a:ext cx="9825990" cy="234696"/>
            <a:chOff x="565404" y="6233160"/>
            <a:chExt cx="9825990" cy="234696"/>
          </a:xfrm>
        </p:grpSpPr>
        <p:sp>
          <p:nvSpPr>
            <p:cNvPr id="44" name="TextBox 44"/>
            <p:cNvSpPr txBox="1"/>
            <p:nvPr/>
          </p:nvSpPr>
          <p:spPr>
            <a:xfrm>
              <a:off x="565404" y="6233160"/>
              <a:ext cx="9825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维度为该站渠道占比（%），三条系列共用同一 0–70% 刻度——四道同心环分别为 17.5% / 35% / 52.5% / 70%，故形状可直接横向比较。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46" name="TextBox 46"/>
            <p:cNvSpPr txBox="1"/>
            <p:nvPr/>
          </p:nvSpPr>
          <p:spPr>
            <a:xfrm>
              <a:off x="565404" y="6480810"/>
              <a:ext cx="5068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流量来源口径 = trip_channel · 数据窗口 2026-08-10 至 2026-08-17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282660" cy="1111567"/>
            <a:chOff x="560070" y="326708"/>
            <a:chExt cx="11282660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111348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zh-hk 香港繁体：站内自转型，占比 66.6% 全站最高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1075571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香港用户多在平台内自发流转，对外投放依赖最低；Partner 联盟是第二抓手。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2450" y="1721168"/>
            <a:ext cx="5353050" cy="1888807"/>
            <a:chOff x="552450" y="1721168"/>
            <a:chExt cx="5353050" cy="1888807"/>
          </a:xfrm>
        </p:grpSpPr>
        <p:sp>
          <p:nvSpPr>
            <p:cNvPr id="8" name="TextBox 8"/>
            <p:cNvSpPr txBox="1"/>
            <p:nvPr/>
          </p:nvSpPr>
          <p:spPr>
            <a:xfrm>
              <a:off x="564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站点体量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2450" y="2042160"/>
              <a:ext cx="40370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PV 603,658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720340"/>
              <a:ext cx="30394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PV 占比 30.1% · 全站第一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3063240"/>
              <a:ext cx="279623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UV 49,043 · 六站中最高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36004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64642" y="3721418"/>
            <a:ext cx="5576316" cy="2330957"/>
            <a:chOff x="564642" y="3721418"/>
            <a:chExt cx="5576316" cy="2330957"/>
          </a:xfrm>
        </p:grpSpPr>
        <p:sp>
          <p:nvSpPr>
            <p:cNvPr id="14" name="TextBox 14"/>
            <p:cNvSpPr txBox="1"/>
            <p:nvPr/>
          </p:nvSpPr>
          <p:spPr>
            <a:xfrm>
              <a:off x="564642" y="3721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渠道结构（按该站自身占比）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3978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09750" y="39814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809750" y="3981450"/>
              <a:ext cx="3625215" cy="190500"/>
            </a:xfrm>
            <a:prstGeom prst="roundRect">
              <a:avLst>
                <a:gd name="adj" fmla="val 2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564312" y="39785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0F4C81"/>
                  </a:solidFill>
                  <a:latin typeface="Consolas"/>
                  <a:ea typeface="Consolas"/>
                  <a:cs typeface="Consolas"/>
                </a:rPr>
                <a:t>66.6%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642" y="43405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809750" y="43434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09750" y="4343400"/>
              <a:ext cx="29432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691073" y="43405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5.4%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642" y="4702492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09750" y="47053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9750" y="4705350"/>
              <a:ext cx="723900" cy="190500"/>
            </a:xfrm>
            <a:prstGeom prst="roundRect">
              <a:avLst>
                <a:gd name="adj" fmla="val 2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564312" y="47024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833A"/>
                  </a:solidFill>
                  <a:latin typeface="Consolas"/>
                  <a:ea typeface="Consolas"/>
                  <a:cs typeface="Consolas"/>
                </a:rPr>
                <a:t>13.3%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506444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809750" y="50673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09750" y="5067300"/>
              <a:ext cx="24479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91073" y="50644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4.5%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4642" y="54263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09750" y="54292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09750" y="5429250"/>
              <a:ext cx="272415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91073" y="54263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5.0%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4642" y="57883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09750" y="57912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09750" y="5791200"/>
              <a:ext cx="28289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691073" y="57883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5.2%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67856" y="1868805"/>
            <a:ext cx="4259694" cy="1813179"/>
            <a:chOff x="6467856" y="1868805"/>
            <a:chExt cx="4259694" cy="1813179"/>
          </a:xfrm>
        </p:grpSpPr>
        <p:grpSp>
          <p:nvGrpSpPr>
            <p:cNvPr id="43" name="Group 43"/>
            <p:cNvGrpSpPr/>
            <p:nvPr/>
          </p:nvGrpSpPr>
          <p:grpSpPr>
            <a:xfrm>
              <a:off x="6510338" y="1900238"/>
              <a:ext cx="200026" cy="200025"/>
              <a:chOff x="6510338" y="1900238"/>
              <a:chExt cx="200026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10338" y="190023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22225" y="100013"/>
                    </a:moveTo>
                    <a:lnTo>
                      <a:pt x="0" y="100013"/>
                    </a:lnTo>
                    <a:lnTo>
                      <a:pt x="100013" y="0"/>
                    </a:lnTo>
                    <a:lnTo>
                      <a:pt x="200026" y="100013"/>
                    </a:lnTo>
                    <a:lnTo>
                      <a:pt x="177801" y="100013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32563" y="2000250"/>
                <a:ext cx="15557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00013">
                    <a:moveTo>
                      <a:pt x="0" y="0"/>
                    </a:moveTo>
                    <a:lnTo>
                      <a:pt x="0" y="77788"/>
                    </a:lnTo>
                    <a:cubicBezTo>
                      <a:pt x="0" y="90062"/>
                      <a:pt x="9950" y="100013"/>
                      <a:pt x="22225" y="100013"/>
                    </a:cubicBezTo>
                    <a:lnTo>
                      <a:pt x="133350" y="100013"/>
                    </a:lnTo>
                    <a:cubicBezTo>
                      <a:pt x="145625" y="100013"/>
                      <a:pt x="155575" y="90062"/>
                      <a:pt x="155575" y="77788"/>
                    </a:cubicBezTo>
                    <a:lnTo>
                      <a:pt x="155575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577013" y="2011363"/>
                <a:ext cx="666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88900">
                    <a:moveTo>
                      <a:pt x="0" y="88900"/>
                    </a:move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8890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6847332" y="1868805"/>
              <a:ext cx="388021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站内自发流转，占比全站最高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67856" y="2358390"/>
              <a:ext cx="3367278" cy="13235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 66.6% 是所有站里最高的——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香港用户多在平台内自发流转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（跨业务跳转 / 历史访问），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对外投放依赖低。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467856" y="3905250"/>
            <a:ext cx="5152644" cy="1395984"/>
            <a:chOff x="6467856" y="3905250"/>
            <a:chExt cx="5152644" cy="1395984"/>
          </a:xfrm>
        </p:grpSpPr>
        <p:sp>
          <p:nvSpPr>
            <p:cNvPr id="47" name="Line 47"/>
            <p:cNvSpPr/>
            <p:nvPr/>
          </p:nvSpPr>
          <p:spPr>
            <a:xfrm>
              <a:off x="6477000" y="390525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510338" y="4167188"/>
              <a:ext cx="200025" cy="200025"/>
              <a:chOff x="6510338" y="4167188"/>
              <a:chExt cx="200025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510338" y="4233863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43688" y="41671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43688" y="430053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73679" y="4214971"/>
                <a:ext cx="73343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73343" h="37783">
                    <a:moveTo>
                      <a:pt x="0" y="37783"/>
                    </a:moveTo>
                    <a:lnTo>
                      <a:pt x="73343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573679" y="4281647"/>
                <a:ext cx="73343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73343" h="37783">
                    <a:moveTo>
                      <a:pt x="0" y="0"/>
                    </a:moveTo>
                    <a:lnTo>
                      <a:pt x="73343" y="37783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847332" y="4135755"/>
              <a:ext cx="335783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Partner 联盟是第二抓手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67856" y="4625340"/>
              <a:ext cx="41330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Partner 13.3% 是这一站对外渠道中的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最高一项，也是最值得继续放大的抓手。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57" name="TextBox 57"/>
            <p:cNvSpPr txBox="1"/>
            <p:nvPr/>
          </p:nvSpPr>
          <p:spPr>
            <a:xfrm>
              <a:off x="565404" y="64808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2026-08-10 至 2026-08-17 · 站点口径 = locale 语言站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2256341" cy="1111567"/>
            <a:chOff x="560070" y="326708"/>
            <a:chExt cx="12256341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121085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en-sg 新加坡英文：Push 驱动型，依赖度 23% 全站最高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703087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新加坡站 PV 体量全站第二，却最依赖 Push 召回。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2450" y="1721168"/>
            <a:ext cx="5353050" cy="1888807"/>
            <a:chOff x="552450" y="1721168"/>
            <a:chExt cx="5353050" cy="1888807"/>
          </a:xfrm>
        </p:grpSpPr>
        <p:sp>
          <p:nvSpPr>
            <p:cNvPr id="8" name="TextBox 8"/>
            <p:cNvSpPr txBox="1"/>
            <p:nvPr/>
          </p:nvSpPr>
          <p:spPr>
            <a:xfrm>
              <a:off x="564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站点体量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2450" y="2042160"/>
              <a:ext cx="403700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PV 581,867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2720340"/>
              <a:ext cx="30394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PV 占比 29.0% · 全站第二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306324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A6675"/>
                  </a:solidFill>
                  <a:latin typeface="Arial"/>
                  <a:ea typeface="Arial"/>
                  <a:cs typeface="Arial"/>
                </a:rPr>
                <a:t>UV 37,249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571500" y="36004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64642" y="3721418"/>
            <a:ext cx="5347716" cy="2330957"/>
            <a:chOff x="564642" y="3721418"/>
            <a:chExt cx="5347716" cy="2330957"/>
          </a:xfrm>
        </p:grpSpPr>
        <p:sp>
          <p:nvSpPr>
            <p:cNvPr id="14" name="TextBox 14"/>
            <p:cNvSpPr txBox="1"/>
            <p:nvPr/>
          </p:nvSpPr>
          <p:spPr>
            <a:xfrm>
              <a:off x="564642" y="3721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渠道结构（按该站自身占比）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3978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09750" y="39814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809750" y="3981450"/>
              <a:ext cx="2324100" cy="190500"/>
            </a:xfrm>
            <a:prstGeom prst="roundRect">
              <a:avLst>
                <a:gd name="adj" fmla="val 2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35712" y="39785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0F4C81"/>
                  </a:solidFill>
                  <a:latin typeface="Consolas"/>
                  <a:ea typeface="Consolas"/>
                  <a:cs typeface="Consolas"/>
                </a:rPr>
                <a:t>42.7%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642" y="43405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809750" y="43434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809750" y="4343400"/>
              <a:ext cx="1251585" cy="190500"/>
            </a:xfrm>
            <a:prstGeom prst="roundRect">
              <a:avLst>
                <a:gd name="adj" fmla="val 2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335712" y="434054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833A"/>
                  </a:solidFill>
                  <a:latin typeface="Consolas"/>
                  <a:ea typeface="Consolas"/>
                  <a:cs typeface="Consolas"/>
                </a:rPr>
                <a:t>23.0%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642" y="4702492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809750" y="47053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809750" y="4705350"/>
              <a:ext cx="58769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62518" y="470249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10.8%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506444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809750" y="50673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809750" y="5067300"/>
              <a:ext cx="658178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362518" y="506444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12.1%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4642" y="54263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809750" y="54292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809750" y="5429250"/>
              <a:ext cx="402908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62473" y="54263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7.4%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64642" y="57883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09750" y="57912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809750" y="5791200"/>
              <a:ext cx="21812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462473" y="57883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4.0%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467856" y="1868805"/>
            <a:ext cx="3412998" cy="1489329"/>
            <a:chOff x="6467856" y="1868805"/>
            <a:chExt cx="3412998" cy="1489329"/>
          </a:xfrm>
        </p:grpSpPr>
        <p:grpSp>
          <p:nvGrpSpPr>
            <p:cNvPr id="42" name="Group 42"/>
            <p:cNvGrpSpPr/>
            <p:nvPr/>
          </p:nvGrpSpPr>
          <p:grpSpPr>
            <a:xfrm>
              <a:off x="6521450" y="1900238"/>
              <a:ext cx="177801" cy="200025"/>
              <a:chOff x="6521450" y="1900238"/>
              <a:chExt cx="177801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521450" y="1900238"/>
                <a:ext cx="177801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77801" h="155575">
                    <a:moveTo>
                      <a:pt x="66675" y="22225"/>
                    </a:moveTo>
                    <a:cubicBezTo>
                      <a:pt x="66675" y="9950"/>
                      <a:pt x="76626" y="0"/>
                      <a:pt x="88900" y="0"/>
                    </a:cubicBezTo>
                    <a:cubicBezTo>
                      <a:pt x="101175" y="0"/>
                      <a:pt x="111125" y="9950"/>
                      <a:pt x="111125" y="22225"/>
                    </a:cubicBezTo>
                    <a:cubicBezTo>
                      <a:pt x="137131" y="34522"/>
                      <a:pt x="154227" y="60166"/>
                      <a:pt x="155575" y="88900"/>
                    </a:cubicBezTo>
                    <a:lnTo>
                      <a:pt x="155575" y="122238"/>
                    </a:lnTo>
                    <a:cubicBezTo>
                      <a:pt x="157271" y="136248"/>
                      <a:pt x="165520" y="148621"/>
                      <a:pt x="177801" y="155575"/>
                    </a:cubicBezTo>
                    <a:lnTo>
                      <a:pt x="0" y="155575"/>
                    </a:lnTo>
                    <a:cubicBezTo>
                      <a:pt x="12281" y="148621"/>
                      <a:pt x="20529" y="136248"/>
                      <a:pt x="22225" y="122238"/>
                    </a:cubicBezTo>
                    <a:lnTo>
                      <a:pt x="22225" y="88900"/>
                    </a:lnTo>
                    <a:cubicBezTo>
                      <a:pt x="23574" y="60166"/>
                      <a:pt x="40670" y="34522"/>
                      <a:pt x="66675" y="22225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577013" y="205581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0"/>
                    </a:moveTo>
                    <a:lnTo>
                      <a:pt x="0" y="11113"/>
                    </a:lnTo>
                    <a:cubicBezTo>
                      <a:pt x="0" y="29524"/>
                      <a:pt x="14926" y="44450"/>
                      <a:pt x="33338" y="44450"/>
                    </a:cubicBezTo>
                    <a:cubicBezTo>
                      <a:pt x="51749" y="44450"/>
                      <a:pt x="66675" y="29524"/>
                      <a:pt x="66675" y="11113"/>
                    </a:cubicBez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6847332" y="1868805"/>
              <a:ext cx="28811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Push 依赖度六站最高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67856" y="2358390"/>
              <a:ext cx="341299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APP-PUSH 23% 是六站里最高的，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而 PV 体量又是全站第二——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这一站高度依赖 Push 召回。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67856" y="3581400"/>
            <a:ext cx="5152644" cy="1395984"/>
            <a:chOff x="6467856" y="3581400"/>
            <a:chExt cx="5152644" cy="1395984"/>
          </a:xfrm>
        </p:grpSpPr>
        <p:sp>
          <p:nvSpPr>
            <p:cNvPr id="46" name="Line 46"/>
            <p:cNvSpPr/>
            <p:nvPr/>
          </p:nvSpPr>
          <p:spPr>
            <a:xfrm>
              <a:off x="6477000" y="35814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6543675" y="3843338"/>
              <a:ext cx="133350" cy="200026"/>
              <a:chOff x="6543675" y="3843338"/>
              <a:chExt cx="133350" cy="200026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6543675" y="3843338"/>
                <a:ext cx="133350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00026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177801"/>
                    </a:lnTo>
                    <a:cubicBezTo>
                      <a:pt x="133350" y="190075"/>
                      <a:pt x="123400" y="200026"/>
                      <a:pt x="111125" y="200026"/>
                    </a:cubicBezTo>
                    <a:lnTo>
                      <a:pt x="22225" y="200026"/>
                    </a:lnTo>
                    <a:cubicBezTo>
                      <a:pt x="9950" y="200026"/>
                      <a:pt x="0" y="190075"/>
                      <a:pt x="0" y="177801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99238" y="3854450"/>
                <a:ext cx="222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9525">
                    <a:moveTo>
                      <a:pt x="0" y="0"/>
                    </a:moveTo>
                    <a:lnTo>
                      <a:pt x="22225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610350" y="399891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847332" y="3811905"/>
              <a:ext cx="288119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Push 节奏即大盘节奏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67856" y="4301490"/>
              <a:ext cx="349300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这一结构很可能与 BIGBANG 新加坡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演唱会等演出的开票提醒强绑定。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54" name="TextBox 54"/>
            <p:cNvSpPr txBox="1"/>
            <p:nvPr/>
          </p:nvSpPr>
          <p:spPr>
            <a:xfrm>
              <a:off x="565404" y="64808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2026-08-10 至 2026-08-17 · 站点口径 = locale 语言站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P09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60070" y="326708"/>
            <a:ext cx="12379357" cy="1111567"/>
            <a:chOff x="560070" y="326708"/>
            <a:chExt cx="12379357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1223152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ru-ru 俄语：SEO 自然流入型，占比 28.4% 全站最高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75952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俄罗斯用户大量通过搜索引擎自然流入，对投放依赖低。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9906000" y="876300"/>
              <a:ext cx="1714500" cy="323850"/>
            </a:xfrm>
            <a:prstGeom prst="roundRect">
              <a:avLst>
                <a:gd name="adj" fmla="val 50000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279332" y="95916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结构最特殊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52450" y="1721168"/>
            <a:ext cx="5353050" cy="1888807"/>
            <a:chOff x="552450" y="1721168"/>
            <a:chExt cx="5353050" cy="1888807"/>
          </a:xfrm>
        </p:grpSpPr>
        <p:sp>
          <p:nvSpPr>
            <p:cNvPr id="10" name="TextBox 10"/>
            <p:cNvSpPr txBox="1"/>
            <p:nvPr/>
          </p:nvSpPr>
          <p:spPr>
            <a:xfrm>
              <a:off x="564642" y="1721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站点体量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2042160"/>
              <a:ext cx="361806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rgbClr val="0F4C81"/>
                  </a:solidFill>
                  <a:latin typeface="Georgia"/>
                  <a:ea typeface="Georgia"/>
                  <a:cs typeface="Georgia"/>
                </a:rPr>
                <a:t>PV 68,933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2720340"/>
              <a:ext cx="34491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PV 占比 3.4% · 语言站第 5 位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3063240"/>
              <a:ext cx="12216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5A6675"/>
                  </a:solidFill>
                  <a:latin typeface="Arial"/>
                  <a:ea typeface="Arial"/>
                  <a:cs typeface="Arial"/>
                </a:rPr>
                <a:t>UV 16,647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571500" y="36004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564642" y="3721418"/>
            <a:ext cx="5347716" cy="2330957"/>
            <a:chOff x="564642" y="3721418"/>
            <a:chExt cx="5347716" cy="2330957"/>
          </a:xfrm>
        </p:grpSpPr>
        <p:sp>
          <p:nvSpPr>
            <p:cNvPr id="16" name="TextBox 16"/>
            <p:cNvSpPr txBox="1"/>
            <p:nvPr/>
          </p:nvSpPr>
          <p:spPr>
            <a:xfrm>
              <a:off x="564642" y="37214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渠道结构（按该站自身占比）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4642" y="39785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809750" y="39814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09750" y="3981450"/>
              <a:ext cx="1724978" cy="190500"/>
            </a:xfrm>
            <a:prstGeom prst="roundRect">
              <a:avLst>
                <a:gd name="adj" fmla="val 2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35712" y="39785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0F4C81"/>
                  </a:solidFill>
                  <a:latin typeface="Consolas"/>
                  <a:ea typeface="Consolas"/>
                  <a:cs typeface="Consolas"/>
                </a:rPr>
                <a:t>31.7%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4642" y="43405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809750" y="43434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09750" y="4343400"/>
              <a:ext cx="78962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362518" y="434054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14.5%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4642" y="4702492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809750" y="47053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1809750" y="4705350"/>
              <a:ext cx="577215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62518" y="470249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10.6%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4642" y="506444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809750" y="50673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1809750" y="5067300"/>
              <a:ext cx="1545908" cy="190500"/>
            </a:xfrm>
            <a:prstGeom prst="roundRect">
              <a:avLst>
                <a:gd name="adj" fmla="val 2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335712" y="506444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833A"/>
                  </a:solidFill>
                  <a:latin typeface="Consolas"/>
                  <a:ea typeface="Consolas"/>
                  <a:cs typeface="Consolas"/>
                </a:rPr>
                <a:t>28.4%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4642" y="54263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809750" y="542925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809750" y="5429250"/>
              <a:ext cx="653415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362518" y="542639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12.0%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64642" y="57883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809750" y="5791200"/>
              <a:ext cx="3810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809750" y="5791200"/>
              <a:ext cx="152400" cy="190500"/>
            </a:xfrm>
            <a:prstGeom prst="roundRect">
              <a:avLst>
                <a:gd name="adj" fmla="val 25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62473" y="57883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2.8%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67856" y="1868805"/>
            <a:ext cx="3584250" cy="1489329"/>
            <a:chOff x="6467856" y="1868805"/>
            <a:chExt cx="3584250" cy="1489329"/>
          </a:xfrm>
        </p:grpSpPr>
        <p:grpSp>
          <p:nvGrpSpPr>
            <p:cNvPr id="44" name="Group 44"/>
            <p:cNvGrpSpPr/>
            <p:nvPr/>
          </p:nvGrpSpPr>
          <p:grpSpPr>
            <a:xfrm>
              <a:off x="6510338" y="1900238"/>
              <a:ext cx="200025" cy="200025"/>
              <a:chOff x="6510338" y="1900238"/>
              <a:chExt cx="200025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510338" y="1900238"/>
                <a:ext cx="155575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155575">
                    <a:moveTo>
                      <a:pt x="0" y="77788"/>
                    </a:moveTo>
                    <a:cubicBezTo>
                      <a:pt x="0" y="120749"/>
                      <a:pt x="34827" y="155575"/>
                      <a:pt x="77788" y="155575"/>
                    </a:cubicBezTo>
                    <a:cubicBezTo>
                      <a:pt x="120749" y="155575"/>
                      <a:pt x="155575" y="120749"/>
                      <a:pt x="155575" y="77788"/>
                    </a:cubicBezTo>
                    <a:cubicBezTo>
                      <a:pt x="155575" y="34827"/>
                      <a:pt x="120749" y="0"/>
                      <a:pt x="77788" y="0"/>
                    </a:cubicBezTo>
                    <a:cubicBezTo>
                      <a:pt x="34827" y="0"/>
                      <a:pt x="0" y="34827"/>
                      <a:pt x="0" y="77788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643688" y="2033588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66675" y="666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847332" y="1868805"/>
              <a:ext cx="32047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SEO 是这一站的主入口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7856" y="2358390"/>
              <a:ext cx="3447288" cy="9997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SEO 占 28.4%（全站最高）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远超其他渠道，说明俄罗斯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用户大量通过搜索引擎自然流入。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6467856" y="3581400"/>
            <a:ext cx="5152644" cy="1395984"/>
            <a:chOff x="6467856" y="3581400"/>
            <a:chExt cx="5152644" cy="1395984"/>
          </a:xfrm>
        </p:grpSpPr>
        <p:sp>
          <p:nvSpPr>
            <p:cNvPr id="48" name="Line 48"/>
            <p:cNvSpPr/>
            <p:nvPr/>
          </p:nvSpPr>
          <p:spPr>
            <a:xfrm>
              <a:off x="6477000" y="35814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6510338" y="3843338"/>
              <a:ext cx="200025" cy="200025"/>
              <a:chOff x="6510338" y="3843338"/>
              <a:chExt cx="200025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6510338" y="399891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6665913" y="38433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32563" y="3865563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5" y="155575"/>
                      <a:pt x="166688" y="138162"/>
                      <a:pt x="166688" y="116682"/>
                    </a:cubicBezTo>
                    <a:cubicBezTo>
                      <a:pt x="166688" y="95201"/>
                      <a:pt x="149275" y="77788"/>
                      <a:pt x="127794" y="77788"/>
                    </a:cubicBezTo>
                    <a:lnTo>
                      <a:pt x="38894" y="77788"/>
                    </a:lnTo>
                    <a:cubicBezTo>
                      <a:pt x="17413" y="77788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6847332" y="381190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对投放依赖最低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67856" y="4301490"/>
              <a:ext cx="367588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 31.7% 是六站最低，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这一站的流量结构在五站里最特殊。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565404" y="64808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2026-08-10 至 2026-08-17 · 站点口径 = locale 语言站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396567" cy="1111567"/>
            <a:chOff x="560070" y="326708"/>
            <a:chExt cx="11396567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958231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ko-kr 与 en-my：多渠道并进，没有单一依赖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1139656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韩语与马来英文两站的渠道构成相对均衡，站内 44%–55%，其余渠道各占 8%–16%。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560832" y="1716405"/>
            <a:ext cx="5344668" cy="2926270"/>
            <a:chOff x="560832" y="1716405"/>
            <a:chExt cx="5344668" cy="2926270"/>
          </a:xfrm>
        </p:grpSpPr>
        <p:sp>
          <p:nvSpPr>
            <p:cNvPr id="8" name="TextBox 8"/>
            <p:cNvSpPr txBox="1"/>
            <p:nvPr/>
          </p:nvSpPr>
          <p:spPr>
            <a:xfrm>
              <a:off x="560832" y="1716405"/>
              <a:ext cx="15203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ko-kr 韩语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4642" y="2102168"/>
              <a:ext cx="3162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PV 55,648 · 占比 2.8% · UV 14,796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24003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64642" y="25688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19250" y="25717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619250" y="2571750"/>
              <a:ext cx="2761298" cy="190500"/>
            </a:xfrm>
            <a:prstGeom prst="roundRect">
              <a:avLst>
                <a:gd name="adj" fmla="val 2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40462" y="25688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0F4C81"/>
                  </a:solidFill>
                  <a:latin typeface="Consolas"/>
                  <a:ea typeface="Consolas"/>
                  <a:cs typeface="Consolas"/>
                </a:rPr>
                <a:t>44.3%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29308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619250" y="29337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619250" y="2933700"/>
              <a:ext cx="40481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367223" y="29308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6.5%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4642" y="3292792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619250" y="32956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1619250" y="3295650"/>
              <a:ext cx="935355" cy="190500"/>
            </a:xfrm>
            <a:prstGeom prst="roundRect">
              <a:avLst>
                <a:gd name="adj" fmla="val 2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40462" y="32927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833A"/>
                  </a:solidFill>
                  <a:latin typeface="Consolas"/>
                  <a:ea typeface="Consolas"/>
                  <a:cs typeface="Consolas"/>
                </a:rPr>
                <a:t>15.0%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4642" y="365474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619250" y="36576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619250" y="3657600"/>
              <a:ext cx="604838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367223" y="36547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9.7%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4642" y="40166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619250" y="40195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619250" y="4019550"/>
              <a:ext cx="722948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67268" y="401669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11.6%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4642" y="43786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619250" y="43815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619250" y="4381500"/>
              <a:ext cx="803910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67268" y="437864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12.9%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275832" y="1716405"/>
            <a:ext cx="5344668" cy="2926270"/>
            <a:chOff x="6275832" y="1716405"/>
            <a:chExt cx="5344668" cy="2926270"/>
          </a:xfrm>
        </p:grpSpPr>
        <p:sp>
          <p:nvSpPr>
            <p:cNvPr id="36" name="TextBox 36"/>
            <p:cNvSpPr txBox="1"/>
            <p:nvPr/>
          </p:nvSpPr>
          <p:spPr>
            <a:xfrm>
              <a:off x="6275832" y="1716405"/>
              <a:ext cx="276707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en-my 马来西亚英文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9642" y="2102168"/>
              <a:ext cx="3268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PV 146,071 · 占比 7.3% · UV 11,297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6286500" y="24003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279642" y="2568892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站内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34250" y="25717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7334250" y="25717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955462" y="25688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0F4C81"/>
                  </a:solidFill>
                  <a:latin typeface="Consolas"/>
                  <a:ea typeface="Consolas"/>
                  <a:cs typeface="Consolas"/>
                </a:rPr>
                <a:t>55.0%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9642" y="29308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APP-PUSH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334250" y="29337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334250" y="2933700"/>
              <a:ext cx="58007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082223" y="29308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9.3%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9642" y="3292792"/>
              <a:ext cx="7190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Partner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34250" y="32956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334250" y="3295650"/>
              <a:ext cx="1003935" cy="190500"/>
            </a:xfrm>
            <a:prstGeom prst="roundRect">
              <a:avLst>
                <a:gd name="adj" fmla="val 20000"/>
              </a:avLst>
            </a:prstGeom>
            <a:solidFill>
              <a:srgbClr val="E8833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955462" y="3292792"/>
              <a:ext cx="5766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b="1" dirty="0">
                  <a:solidFill>
                    <a:srgbClr val="E8833A"/>
                  </a:solidFill>
                  <a:latin typeface="Consolas"/>
                  <a:ea typeface="Consolas"/>
                  <a:cs typeface="Consolas"/>
                </a:rPr>
                <a:t>16.1%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79642" y="3654742"/>
              <a:ext cx="3689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SEO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7334250" y="36576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334250" y="3657600"/>
              <a:ext cx="323850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1082223" y="36547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5.2%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9642" y="4016692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B2430"/>
                  </a:solidFill>
                  <a:latin typeface="Arial"/>
                  <a:ea typeface="Arial"/>
                  <a:cs typeface="Arial"/>
                </a:rPr>
                <a:t>PPC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34250" y="401955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334250" y="4019550"/>
              <a:ext cx="523875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1082223" y="401669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8.4%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9642" y="4378642"/>
              <a:ext cx="8586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其他/EDM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7334250" y="4381500"/>
              <a:ext cx="3429000" cy="190500"/>
            </a:xfrm>
            <a:prstGeom prst="roundRect">
              <a:avLst>
                <a:gd name="adj" fmla="val 20000"/>
              </a:avLst>
            </a:prstGeom>
            <a:solidFill>
              <a:srgbClr val="E7EDF3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334250" y="4381500"/>
              <a:ext cx="374332" cy="190500"/>
            </a:xfrm>
            <a:prstGeom prst="roundRect">
              <a:avLst>
                <a:gd name="adj" fmla="val 20000"/>
              </a:avLst>
            </a:prstGeom>
            <a:solidFill>
              <a:srgbClr val="4A90C4">
                <a:alpha val="55000"/>
              </a:srgbClr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082223" y="4378642"/>
              <a:ext cx="449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rgbClr val="5A6675"/>
                  </a:solidFill>
                  <a:latin typeface="Consolas"/>
                  <a:ea typeface="Consolas"/>
                  <a:cs typeface="Consolas"/>
                </a:rPr>
                <a:t>6.0%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4914900"/>
            <a:ext cx="11049000" cy="900684"/>
            <a:chOff x="571500" y="4914900"/>
            <a:chExt cx="11049000" cy="900684"/>
          </a:xfrm>
        </p:grpSpPr>
        <p:sp>
          <p:nvSpPr>
            <p:cNvPr id="64" name="Rectangle 64"/>
            <p:cNvSpPr/>
            <p:nvPr/>
          </p:nvSpPr>
          <p:spPr>
            <a:xfrm>
              <a:off x="571500" y="4914900"/>
              <a:ext cx="11049000" cy="876300"/>
            </a:xfrm>
            <a:prstGeom prst="roundRect">
              <a:avLst>
                <a:gd name="adj" fmla="val 10870"/>
              </a:avLst>
            </a:prstGeom>
            <a:solidFill>
              <a:srgbClr val="EEF2F6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571500" y="4914900"/>
              <a:ext cx="57150" cy="876300"/>
            </a:xfrm>
            <a:prstGeom prst="rect">
              <a:avLst/>
            </a:prstGeom>
            <a:solidFill>
              <a:srgbClr val="E8833A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958850" y="5187950"/>
              <a:ext cx="177801" cy="177801"/>
              <a:chOff x="958850" y="5187950"/>
              <a:chExt cx="177801" cy="177801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958850" y="52324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81075" y="51879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981075" y="52768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1025525" y="52990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1047750" y="5187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047750" y="534352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1092201" y="51990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1114426" y="518795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114426" y="524351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324356" y="5158740"/>
              <a:ext cx="8008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两站没有明显短板，站内 44–55%，Partner / PPC / SEO 各占 8–16%。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05256" y="54635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适合组合投放、小步试错，而不是押注单一渠道。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79" name="TextBox 79"/>
            <p:cNvSpPr txBox="1"/>
            <p:nvPr/>
          </p:nvSpPr>
          <p:spPr>
            <a:xfrm>
              <a:off x="565404" y="6480810"/>
              <a:ext cx="5116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2026-08-10 至 2026-08-17 · 两条微条共用同一 0–55% 刻度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60070" y="326708"/>
            <a:ext cx="11060430" cy="1111567"/>
            <a:chOff x="560070" y="326708"/>
            <a:chExt cx="11060430" cy="1111567"/>
          </a:xfrm>
        </p:grpSpPr>
        <p:sp>
          <p:nvSpPr>
            <p:cNvPr id="3" name="Rectangle 3"/>
            <p:cNvSpPr/>
            <p:nvPr/>
          </p:nvSpPr>
          <p:spPr>
            <a:xfrm>
              <a:off x="571500" y="438150"/>
              <a:ext cx="38100" cy="266700"/>
            </a:xfrm>
            <a:prstGeom prst="rect">
              <a:avLst/>
            </a:prstGeom>
            <a:solidFill>
              <a:srgbClr val="0F4C8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7898" y="326708"/>
              <a:ext cx="755934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0F4C81"/>
                  </a:solidFill>
                  <a:latin typeface="Georgia"/>
                  <a:ea typeface="SimSun"/>
                  <a:cs typeface="Georgia"/>
                </a:rPr>
                <a:t>一站一策：四类站点，四套投放配方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0070" y="823912"/>
              <a:ext cx="69894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按站点类型选择主抓手，而不是用一张全网通投表。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71500" y="1428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DE6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71500" y="1925955"/>
            <a:ext cx="11049000" cy="702945"/>
            <a:chOff x="571500" y="1925955"/>
            <a:chExt cx="11049000" cy="702945"/>
          </a:xfrm>
        </p:grpSpPr>
        <p:grpSp>
          <p:nvGrpSpPr>
            <p:cNvPr id="11" name="Group 11"/>
            <p:cNvGrpSpPr/>
            <p:nvPr/>
          </p:nvGrpSpPr>
          <p:grpSpPr>
            <a:xfrm>
              <a:off x="602456" y="1955006"/>
              <a:ext cx="185737" cy="185737"/>
              <a:chOff x="602456" y="1955006"/>
              <a:chExt cx="185737" cy="185737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602456" y="1955006"/>
                <a:ext cx="185737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92868">
                    <a:moveTo>
                      <a:pt x="20637" y="92868"/>
                    </a:moveTo>
                    <a:lnTo>
                      <a:pt x="0" y="92868"/>
                    </a:lnTo>
                    <a:lnTo>
                      <a:pt x="92868" y="0"/>
                    </a:lnTo>
                    <a:lnTo>
                      <a:pt x="185737" y="92868"/>
                    </a:lnTo>
                    <a:lnTo>
                      <a:pt x="165099" y="92868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623094" y="2047875"/>
                <a:ext cx="144462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92868">
                    <a:moveTo>
                      <a:pt x="0" y="0"/>
                    </a:moveTo>
                    <a:lnTo>
                      <a:pt x="0" y="72231"/>
                    </a:lnTo>
                    <a:cubicBezTo>
                      <a:pt x="0" y="83629"/>
                      <a:pt x="9240" y="92868"/>
                      <a:pt x="20637" y="92868"/>
                    </a:cubicBezTo>
                    <a:lnTo>
                      <a:pt x="123825" y="92868"/>
                    </a:lnTo>
                    <a:cubicBezTo>
                      <a:pt x="135222" y="92868"/>
                      <a:pt x="144462" y="83629"/>
                      <a:pt x="144462" y="72231"/>
                    </a:cubicBezTo>
                    <a:lnTo>
                      <a:pt x="144462" y="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664368" y="2058193"/>
                <a:ext cx="6191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82550">
                    <a:moveTo>
                      <a:pt x="0" y="82550"/>
                    </a:move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41275" y="0"/>
                    </a:lnTo>
                    <a:cubicBezTo>
                      <a:pt x="52673" y="0"/>
                      <a:pt x="61912" y="9240"/>
                      <a:pt x="61912" y="20637"/>
                    </a:cubicBezTo>
                    <a:lnTo>
                      <a:pt x="61912" y="82550"/>
                    </a:lnTo>
                  </a:path>
                </a:pathLst>
              </a:custGeom>
              <a:noFill/>
              <a:ln w="19050">
                <a:solidFill>
                  <a:srgbClr val="0F4C8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1832" y="192595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站内自转型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5642" y="2273618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zh-hk 香港繁体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91356" y="2072640"/>
              <a:ext cx="631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优先用 </a:t>
              </a:r>
              <a:r>
                <a:rPr lang="zh-CN" sz="1800" b="1" dirty="0">
                  <a:solidFill>
                    <a:srgbClr val="0F4C81"/>
                  </a:solidFill>
                  <a:latin typeface="Arial"/>
                  <a:ea typeface="Microsoft YaHei"/>
                  <a:cs typeface="Arial"/>
                </a:rPr>
                <a:t>Partner 联盟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放大站内自然流转，控制买量规模。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26193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571500" y="2830830"/>
            <a:ext cx="11049000" cy="702945"/>
            <a:chOff x="571500" y="2830830"/>
            <a:chExt cx="11049000" cy="702945"/>
          </a:xfrm>
        </p:grpSpPr>
        <p:grpSp>
          <p:nvGrpSpPr>
            <p:cNvPr id="19" name="Group 19"/>
            <p:cNvGrpSpPr/>
            <p:nvPr/>
          </p:nvGrpSpPr>
          <p:grpSpPr>
            <a:xfrm>
              <a:off x="612775" y="2859881"/>
              <a:ext cx="165099" cy="185737"/>
              <a:chOff x="612775" y="2859881"/>
              <a:chExt cx="165099" cy="18573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612775" y="2859881"/>
                <a:ext cx="165099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144462">
                    <a:moveTo>
                      <a:pt x="61912" y="20637"/>
                    </a:moveTo>
                    <a:cubicBezTo>
                      <a:pt x="61912" y="9240"/>
                      <a:pt x="71152" y="0"/>
                      <a:pt x="82550" y="0"/>
                    </a:cubicBezTo>
                    <a:cubicBezTo>
                      <a:pt x="93947" y="0"/>
                      <a:pt x="103187" y="9240"/>
                      <a:pt x="103187" y="20637"/>
                    </a:cubicBezTo>
                    <a:cubicBezTo>
                      <a:pt x="127335" y="32056"/>
                      <a:pt x="143210" y="55868"/>
                      <a:pt x="144462" y="82550"/>
                    </a:cubicBezTo>
                    <a:lnTo>
                      <a:pt x="144462" y="113506"/>
                    </a:lnTo>
                    <a:cubicBezTo>
                      <a:pt x="146037" y="126516"/>
                      <a:pt x="153696" y="138005"/>
                      <a:pt x="165099" y="144462"/>
                    </a:cubicBezTo>
                    <a:lnTo>
                      <a:pt x="0" y="144462"/>
                    </a:lnTo>
                    <a:cubicBezTo>
                      <a:pt x="11403" y="138005"/>
                      <a:pt x="19063" y="126516"/>
                      <a:pt x="20637" y="113506"/>
                    </a:cubicBezTo>
                    <a:lnTo>
                      <a:pt x="20637" y="82550"/>
                    </a:lnTo>
                    <a:cubicBezTo>
                      <a:pt x="21890" y="55868"/>
                      <a:pt x="37765" y="32056"/>
                      <a:pt x="61912" y="20637"/>
                    </a:cubicBez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64368" y="3004343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0"/>
                    </a:moveTo>
                    <a:lnTo>
                      <a:pt x="0" y="10319"/>
                    </a:lnTo>
                    <a:cubicBezTo>
                      <a:pt x="0" y="27415"/>
                      <a:pt x="13860" y="41275"/>
                      <a:pt x="30956" y="41275"/>
                    </a:cubicBezTo>
                    <a:cubicBezTo>
                      <a:pt x="48053" y="41275"/>
                      <a:pt x="61912" y="27415"/>
                      <a:pt x="61912" y="10319"/>
                    </a:cubicBezTo>
                    <a:lnTo>
                      <a:pt x="61912" y="0"/>
                    </a:lnTo>
                  </a:path>
                </a:pathLst>
              </a:custGeom>
              <a:noFill/>
              <a:ln w="19050">
                <a:solidFill>
                  <a:srgbClr val="E8833A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941832" y="2830830"/>
              <a:ext cx="167704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Push 驱动型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5642" y="3178492"/>
              <a:ext cx="1476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en-sg 新加坡英文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1356" y="2977515"/>
              <a:ext cx="61680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把 </a:t>
              </a:r>
              <a:r>
                <a:rPr lang="zh-CN" sz="1800" b="1" dirty="0">
                  <a:solidFill>
                    <a:srgbClr val="E8833A"/>
                  </a:solidFill>
                  <a:latin typeface="Arial"/>
                  <a:ea typeface="Microsoft YaHei"/>
                  <a:cs typeface="Arial"/>
                </a:rPr>
                <a:t>Push 节奏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与演出开票、大促绑定，守住召回基本盘。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3524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571500" y="3735705"/>
            <a:ext cx="11049000" cy="702945"/>
            <a:chOff x="571500" y="3735705"/>
            <a:chExt cx="11049000" cy="702945"/>
          </a:xfrm>
        </p:grpSpPr>
        <p:grpSp>
          <p:nvGrpSpPr>
            <p:cNvPr id="27" name="Group 27"/>
            <p:cNvGrpSpPr/>
            <p:nvPr/>
          </p:nvGrpSpPr>
          <p:grpSpPr>
            <a:xfrm>
              <a:off x="602456" y="3764756"/>
              <a:ext cx="185737" cy="185737"/>
              <a:chOff x="602456" y="3764756"/>
              <a:chExt cx="185737" cy="185737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02456" y="376475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26281" y="388858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4A90C4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941832" y="3735705"/>
              <a:ext cx="2263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4A90C4"/>
                  </a:solidFill>
                  <a:latin typeface="Arial"/>
                  <a:ea typeface="Microsoft YaHei"/>
                  <a:cs typeface="Arial"/>
                </a:rPr>
                <a:t>SEO 自然流入型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5642" y="4083368"/>
              <a:ext cx="9314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ru-ru 俄语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91356" y="3882390"/>
              <a:ext cx="67026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 xml:space="preserve">用 </a:t>
              </a:r>
              <a:r>
                <a:rPr lang="zh-CN" sz="1800" b="1" dirty="0">
                  <a:solidFill>
                    <a:srgbClr val="4A90C4"/>
                  </a:solidFill>
                  <a:latin typeface="Arial"/>
                  <a:ea typeface="Microsoft YaHei"/>
                  <a:cs typeface="Arial"/>
                </a:rPr>
                <a:t>SEO 内容与落地页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承接自然流量，投放只作 PPC 补位。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571500" y="44291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7EDF3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571500" y="4640580"/>
            <a:ext cx="11049000" cy="702945"/>
            <a:chOff x="571500" y="4640580"/>
            <a:chExt cx="11049000" cy="702945"/>
          </a:xfrm>
        </p:grpSpPr>
        <p:grpSp>
          <p:nvGrpSpPr>
            <p:cNvPr id="42" name="Group 42"/>
            <p:cNvGrpSpPr/>
            <p:nvPr/>
          </p:nvGrpSpPr>
          <p:grpSpPr>
            <a:xfrm>
              <a:off x="612775" y="4679950"/>
              <a:ext cx="165099" cy="165100"/>
              <a:chOff x="612775" y="4679950"/>
              <a:chExt cx="165099" cy="1651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12775" y="4721225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33412" y="4679950"/>
                <a:ext cx="952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1275">
                    <a:moveTo>
                      <a:pt x="0" y="0"/>
                    </a:move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3412" y="4762500"/>
                <a:ext cx="9525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2550">
                    <a:moveTo>
                      <a:pt x="0" y="0"/>
                    </a:moveTo>
                    <a:lnTo>
                      <a:pt x="0" y="82550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74687" y="4783137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5325" y="4679950"/>
                <a:ext cx="9525" cy="1031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87">
                    <a:moveTo>
                      <a:pt x="0" y="0"/>
                    </a:moveTo>
                    <a:lnTo>
                      <a:pt x="0" y="103187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5325" y="4824412"/>
                <a:ext cx="9525" cy="2063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">
                    <a:moveTo>
                      <a:pt x="0" y="0"/>
                    </a:moveTo>
                    <a:lnTo>
                      <a:pt x="0" y="20637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36599" y="4690269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7237" y="4679950"/>
                <a:ext cx="9525" cy="103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319">
                    <a:moveTo>
                      <a:pt x="0" y="0"/>
                    </a:moveTo>
                    <a:lnTo>
                      <a:pt x="0" y="10319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57237" y="4731543"/>
                <a:ext cx="9525" cy="1135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3506">
                    <a:moveTo>
                      <a:pt x="0" y="0"/>
                    </a:moveTo>
                    <a:lnTo>
                      <a:pt x="0" y="113506"/>
                    </a:lnTo>
                  </a:path>
                </a:pathLst>
              </a:custGeom>
              <a:noFill/>
              <a:ln w="19050">
                <a:solidFill>
                  <a:srgbClr val="5A6675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941832" y="4640580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多渠道均衡型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5642" y="4988242"/>
              <a:ext cx="28215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ko-kr 韩语 · en-my 马来西亚英文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991356" y="4787265"/>
              <a:ext cx="44890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5A6675"/>
                  </a:solidFill>
                  <a:latin typeface="Arial"/>
                  <a:ea typeface="Microsoft YaHei"/>
                  <a:cs typeface="Arial"/>
                </a:rPr>
                <a:t>组合投放、小步试错</a:t>
              </a:r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，不押注单一渠道。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571500" y="533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D5DDE6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562356" y="5520690"/>
            <a:ext cx="7635240" cy="979361"/>
            <a:chOff x="562356" y="5520690"/>
            <a:chExt cx="7635240" cy="979361"/>
          </a:xfrm>
        </p:grpSpPr>
        <p:sp>
          <p:nvSpPr>
            <p:cNvPr id="48" name="TextBox 48"/>
            <p:cNvSpPr txBox="1"/>
            <p:nvPr/>
          </p:nvSpPr>
          <p:spPr>
            <a:xfrm>
              <a:off x="562356" y="5520690"/>
              <a:ext cx="61630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下一步：可按这一版语言站分析生成 HTML 动态页面；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62356" y="5844540"/>
              <a:ext cx="7635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B2430"/>
                  </a:solidFill>
                  <a:latin typeface="Arial"/>
                  <a:ea typeface="Microsoft YaHei"/>
                  <a:cs typeface="Arial"/>
                </a:rPr>
                <a:t>也可进一步看各语言站下单转化（订单量、GMV），评估投放 ROI。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4642" y="6236018"/>
              <a:ext cx="6226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口径不变：SGP 集群 · 门票业务 · locale 语言站 · trip_channel 流量来源。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5404" y="6480810"/>
            <a:ext cx="11061192" cy="234696"/>
            <a:chOff x="565404" y="6480810"/>
            <a:chExt cx="11061192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65404" y="6480810"/>
              <a:ext cx="4188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94A2"/>
                  </a:solidFill>
                  <a:latin typeface="Arial"/>
                  <a:ea typeface="Microsoft YaHei"/>
                  <a:cs typeface="Arial"/>
                </a:rPr>
                <a:t>数据窗口 2026-08-10 至 2026-08-17 · 截止 2026-08-17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48721" y="64808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8A94A2"/>
                  </a:solidFill>
                  <a:latin typeface="Consolas"/>
                  <a:ea typeface="Consolas"/>
                  <a:cs typeface="Consolas"/>
                </a:rPr>
                <a:t>P12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2026-09-10T13:04:01Z</dcterms:created>
  <dcterms:modified xsi:type="dcterms:W3CDTF">2026-09-10T13:04:01Z</dcterms:modified>
  <cp:category/>
  <cp:contentStatus/>
</cp:coreProperties>
</file>