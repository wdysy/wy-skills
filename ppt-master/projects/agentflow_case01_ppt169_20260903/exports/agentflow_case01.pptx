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285750" y="4762500"/>
            <a:ext cx="1905000" cy="1905000"/>
          </a:xfrm>
          <a:prstGeom prst="roundRect">
            <a:avLst>
              <a:gd name="adj" fmla="val 6000"/>
            </a:avLst>
          </a:prstGeom>
          <a:solidFill>
            <a:srgbClr val="17324D">
              <a:alpha val="7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762000" y="4191000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17324D">
              <a:alpha val="7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238250" y="5048250"/>
            <a:ext cx="2095500" cy="1619250"/>
          </a:xfrm>
          <a:prstGeom prst="roundRect">
            <a:avLst>
              <a:gd name="adj" fmla="val 3529"/>
            </a:avLst>
          </a:prstGeom>
          <a:solidFill>
            <a:srgbClr val="17324D">
              <a:alpha val="7000"/>
            </a:srgbClr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715500" y="-476250"/>
            <a:ext cx="2476500" cy="2476500"/>
          </a:xfrm>
          <a:prstGeom prst="ellipse">
            <a:avLst/>
          </a:prstGeom>
          <a:solidFill>
            <a:srgbClr val="1F6FB2">
              <a:alpha val="6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9334500" y="762000"/>
            <a:ext cx="1714500" cy="1714500"/>
          </a:xfrm>
          <a:prstGeom prst="ellipse">
            <a:avLst/>
          </a:prstGeom>
          <a:solidFill>
            <a:srgbClr val="1F6FB2">
              <a:alpha val="6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0953750" y="1143000"/>
            <a:ext cx="1333500" cy="1333500"/>
          </a:xfrm>
          <a:prstGeom prst="ellipse">
            <a:avLst/>
          </a:prstGeom>
          <a:solidFill>
            <a:srgbClr val="1F6FB2">
              <a:alpha val="6000"/>
            </a:srgbClr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609600" y="3810000"/>
            <a:ext cx="685800" cy="28575"/>
          </a:xfrm>
          <a:prstGeom prst="rect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90550" y="3923348"/>
            <a:ext cx="5849844" cy="962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9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AI Agent 商业化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0550" y="4628198"/>
            <a:ext cx="7578882" cy="962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9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从"可试用"到"可落地"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0456" y="5425440"/>
            <a:ext cx="48646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6773"/>
                </a:solidFill>
                <a:latin typeface="Arial"/>
                <a:ea typeface="Microsoft YaHei"/>
                <a:cs typeface="Arial"/>
              </a:rPr>
              <a:t>企业客户服务与销售协同中的平台化落地方案</a:t>
            </a:r>
          </a:p>
        </p:txBody>
      </p:sp>
      <p:sp>
        <p:nvSpPr>
          <p:cNvPr id="15" name="Rectangle 15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solidFill>
            <a:srgbClr val="17324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03504" y="6518910"/>
            <a:ext cx="345307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1"/>
                </a:solidFill>
                <a:latin typeface="Arial"/>
                <a:ea typeface="Microsoft YaHei"/>
                <a:cs typeface="Arial"/>
              </a:rPr>
              <a:t>面向：企业客户决策层 · 咨询顾问 · 潜在投资人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88526" y="6518910"/>
            <a:ext cx="24999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agentflow_case01 · 2026-09-03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7324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3504" y="203835"/>
            <a:ext cx="15398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1"/>
                </a:solidFill>
                <a:latin typeface="Arial"/>
                <a:ea typeface="Microsoft YaHei"/>
                <a:cs typeface="Arial"/>
              </a:rPr>
              <a:t>P02 · AI 商业化洞察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3598" y="612458"/>
            <a:ext cx="817262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AI 的真正机会，不在"是否采用"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3598" y="1069658"/>
            <a:ext cx="619501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而在"如何从试点走向规模化"</a:t>
            </a:r>
          </a:p>
        </p:txBody>
      </p:sp>
      <p:sp>
        <p:nvSpPr>
          <p:cNvPr id="7" name="Rectangle 7"/>
          <p:cNvSpPr/>
          <p:nvPr/>
        </p:nvSpPr>
        <p:spPr>
          <a:xfrm>
            <a:off x="609600" y="1600200"/>
            <a:ext cx="762000" cy="28575"/>
          </a:xfrm>
          <a:prstGeom prst="rect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609600" y="1866900"/>
            <a:ext cx="3429000" cy="2095500"/>
          </a:xfrm>
          <a:prstGeom prst="roundRect">
            <a:avLst>
              <a:gd name="adj" fmla="val 5455"/>
            </a:avLst>
          </a:prstGeom>
          <a:solidFill>
            <a:srgbClr val="EEF1F4"/>
          </a:solidFill>
          <a:ln w="9525">
            <a:solidFill>
              <a:srgbClr val="D8DEE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72533" y="1843088"/>
            <a:ext cx="1903133" cy="1304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6750" b="1" dirty="0">
                <a:solidFill>
                  <a:srgbClr val="1F6FB2"/>
                </a:solidFill>
                <a:latin typeface="Cambria"/>
                <a:ea typeface="Cambria"/>
                <a:cs typeface="Cambria"/>
              </a:rPr>
              <a:t>71%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6886" y="2870835"/>
            <a:ext cx="11344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5B6773"/>
                </a:solidFill>
                <a:latin typeface="Arial"/>
                <a:ea typeface="Arial"/>
                <a:cs typeface="Arial"/>
              </a:rPr>
              <a:t>McKinsey 2025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6998" y="3076575"/>
            <a:ext cx="239420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多数组织已规律性使用 AI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71828" y="33756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B6773"/>
                </a:solidFill>
                <a:latin typeface="Arial"/>
                <a:ea typeface="Microsoft YaHei"/>
                <a:cs typeface="Arial"/>
              </a:rPr>
              <a:t>至少一个业务职能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4564380" y="1971675"/>
            <a:ext cx="4084168" cy="990981"/>
            <a:chOff x="4564380" y="1971675"/>
            <a:chExt cx="4084168" cy="990981"/>
          </a:xfrm>
        </p:grpSpPr>
        <p:sp>
          <p:nvSpPr>
            <p:cNvPr id="13" name="TextBox 13"/>
            <p:cNvSpPr txBox="1"/>
            <p:nvPr/>
          </p:nvSpPr>
          <p:spPr>
            <a:xfrm>
              <a:off x="4564380" y="1971675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采用率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72000" y="2247900"/>
              <a:ext cx="3238500" cy="152400"/>
            </a:xfrm>
            <a:prstGeom prst="roundRect">
              <a:avLst>
                <a:gd name="adj" fmla="val 50000"/>
              </a:avLst>
            </a:prstGeom>
            <a:solidFill>
              <a:srgbClr val="D8DEE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572000" y="2247900"/>
              <a:ext cx="3238500" cy="152400"/>
            </a:xfrm>
            <a:prstGeom prst="roundRect">
              <a:avLst>
                <a:gd name="adj" fmla="val 50000"/>
              </a:avLst>
            </a:prstGeom>
            <a:solidFill>
              <a:srgbClr val="1F6FB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04404" y="242316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71% 已采用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72000" y="2667000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862093" y="2727960"/>
              <a:ext cx="181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高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64380" y="3152775"/>
            <a:ext cx="5101895" cy="990981"/>
            <a:chOff x="4564380" y="3152775"/>
            <a:chExt cx="5101895" cy="990981"/>
          </a:xfrm>
        </p:grpSpPr>
        <p:sp>
          <p:nvSpPr>
            <p:cNvPr id="20" name="TextBox 20"/>
            <p:cNvSpPr txBox="1"/>
            <p:nvPr/>
          </p:nvSpPr>
          <p:spPr>
            <a:xfrm>
              <a:off x="4564380" y="31527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规模化率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572000" y="3429000"/>
              <a:ext cx="3238500" cy="152400"/>
            </a:xfrm>
            <a:prstGeom prst="roundRect">
              <a:avLst>
                <a:gd name="adj" fmla="val 50000"/>
              </a:avLst>
            </a:prstGeom>
            <a:solidFill>
              <a:srgbClr val="D8DEE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72000" y="3429000"/>
              <a:ext cx="914400" cy="152400"/>
            </a:xfrm>
            <a:prstGeom prst="roundRect">
              <a:avLst>
                <a:gd name="adj" fmla="val 50000"/>
              </a:avLst>
            </a:prstGeom>
            <a:solidFill>
              <a:srgbClr val="C44E3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804404" y="3604260"/>
              <a:ext cx="18618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约 28% 实现企业级规模化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572000" y="3848100"/>
              <a:ext cx="762000" cy="266700"/>
            </a:xfrm>
            <a:prstGeom prst="roundRect">
              <a:avLst>
                <a:gd name="adj" fmla="val 21429"/>
              </a:avLst>
            </a:prstGeom>
            <a:solidFill>
              <a:srgbClr val="C44E3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862093" y="3909060"/>
              <a:ext cx="181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低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4191000"/>
            <a:ext cx="10972800" cy="1143000"/>
            <a:chOff x="609600" y="4191000"/>
            <a:chExt cx="10972800" cy="1143000"/>
          </a:xfrm>
        </p:grpSpPr>
        <p:sp>
          <p:nvSpPr>
            <p:cNvPr id="27" name="Rectangle 27"/>
            <p:cNvSpPr/>
            <p:nvPr/>
          </p:nvSpPr>
          <p:spPr>
            <a:xfrm>
              <a:off x="609600" y="4191000"/>
              <a:ext cx="10972800" cy="1143000"/>
            </a:xfrm>
            <a:prstGeom prst="roundRect">
              <a:avLst>
                <a:gd name="adj" fmla="val 10000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7532" y="43072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窗口洞察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818" y="4698682"/>
              <a:ext cx="47458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企业已广泛使用 AI，但尚未形成组织级闭环。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818" y="4984432"/>
              <a:ext cx="60696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机会在于把零散试点收束为</a:t>
              </a:r>
              <a:r>
                <a:rPr lang="zh-CN" sz="1650" b="1" dirty="0">
                  <a:solidFill>
                    <a:srgbClr val="1F6FB2"/>
                  </a:solidFill>
                  <a:latin typeface="Arial"/>
                  <a:ea typeface="Microsoft YaHei"/>
                  <a:cs typeface="Arial"/>
                </a:rPr>
                <a:t>平台化能力</a:t>
              </a:r>
              <a:r>
                <a:rPr lang="zh-CN" sz="16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，实现跨团队可复制。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8972016" y="6554152"/>
            <a:ext cx="26157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A94A1"/>
                </a:solidFill>
                <a:latin typeface="Arial"/>
                <a:ea typeface="Microsoft YaHei"/>
                <a:cs typeface="Arial"/>
              </a:rPr>
              <a:t>来源：McKinsey Global Institute, 2025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7324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3504" y="203835"/>
            <a:ext cx="11728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1"/>
                </a:solidFill>
                <a:latin typeface="Arial"/>
                <a:ea typeface="Microsoft YaHei"/>
                <a:cs typeface="Arial"/>
              </a:rPr>
              <a:t>P03 · 问题拆解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3598" y="612458"/>
            <a:ext cx="520705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单点工具难以跨团队复制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3598" y="1069658"/>
            <a:ext cx="473659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流程断裂才是核心阻力</a:t>
            </a:r>
          </a:p>
        </p:txBody>
      </p:sp>
      <p:sp>
        <p:nvSpPr>
          <p:cNvPr id="7" name="Rectangle 7"/>
          <p:cNvSpPr/>
          <p:nvPr/>
        </p:nvSpPr>
        <p:spPr>
          <a:xfrm>
            <a:off x="609600" y="1600200"/>
            <a:ext cx="762000" cy="28575"/>
          </a:xfrm>
          <a:prstGeom prst="rect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00456" y="1710690"/>
            <a:ext cx="73241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6773"/>
                </a:solidFill>
                <a:latin typeface="Arial"/>
                <a:ea typeface="Microsoft YaHei"/>
                <a:cs typeface="Arial"/>
              </a:rPr>
              <a:t>知识分散、流程断裂、价值难复制 — 三类结构性问题构成规模化阻力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09600" y="2171700"/>
            <a:ext cx="3505200" cy="3238500"/>
            <a:chOff x="609600" y="2171700"/>
            <a:chExt cx="3505200" cy="3238500"/>
          </a:xfrm>
        </p:grpSpPr>
        <p:sp>
          <p:nvSpPr>
            <p:cNvPr id="9" name="Rectangle 9"/>
            <p:cNvSpPr/>
            <p:nvPr/>
          </p:nvSpPr>
          <p:spPr>
            <a:xfrm>
              <a:off x="609600" y="2171700"/>
              <a:ext cx="3505200" cy="3238500"/>
            </a:xfrm>
            <a:prstGeom prst="roundRect">
              <a:avLst>
                <a:gd name="adj" fmla="val 3529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17170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rgbClr val="C44E3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247900"/>
              <a:ext cx="3505200" cy="76200"/>
            </a:xfrm>
            <a:prstGeom prst="rect">
              <a:avLst/>
            </a:prstGeom>
            <a:solidFill>
              <a:srgbClr val="C44E3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38200" y="247650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C44E3B">
                <a:alpha val="12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971550" y="2609850"/>
              <a:ext cx="266700" cy="266700"/>
              <a:chOff x="971550" y="2609850"/>
              <a:chExt cx="266700" cy="2667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971550" y="2609850"/>
                <a:ext cx="266700" cy="266700"/>
              </a:xfrm>
              <a:prstGeom prst="roundRect">
                <a:avLst>
                  <a:gd name="adj" fmla="val 10714"/>
                </a:avLst>
              </a:prstGeom>
              <a:noFill/>
              <a:ln w="19050">
                <a:solidFill>
                  <a:srgbClr val="C44E3B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009650" y="268605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C44E3B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009650" y="27432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C44E3B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009650" y="28003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C44E3B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827532" y="30118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知识分散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0580" y="34194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口径不一致，检索效率低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876300" y="3759518"/>
              <a:ext cx="2014728" cy="264033"/>
              <a:chOff x="876300" y="3759518"/>
              <a:chExt cx="2014728" cy="26403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876300" y="3810000"/>
                <a:ext cx="76200" cy="76200"/>
              </a:xfrm>
              <a:prstGeom prst="ellipse">
                <a:avLst/>
              </a:prstGeom>
              <a:solidFill>
                <a:srgbClr val="C44E3B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59942" y="375951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客服口径与销售不一致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76300" y="4064318"/>
              <a:ext cx="1651254" cy="264033"/>
              <a:chOff x="876300" y="4064318"/>
              <a:chExt cx="1651254" cy="264033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876300" y="4114800"/>
                <a:ext cx="76200" cy="76200"/>
              </a:xfrm>
              <a:prstGeom prst="ellipse">
                <a:avLst/>
              </a:prstGeom>
              <a:solidFill>
                <a:srgbClr val="C44E3B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59942" y="4064318"/>
                <a:ext cx="146761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产品知识更新滞后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876300" y="4369118"/>
              <a:ext cx="2014728" cy="264033"/>
              <a:chOff x="876300" y="4369118"/>
              <a:chExt cx="2014728" cy="264033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876300" y="4419600"/>
                <a:ext cx="76200" cy="76200"/>
              </a:xfrm>
              <a:prstGeom prst="ellipse">
                <a:avLst/>
              </a:prstGeom>
              <a:solidFill>
                <a:srgbClr val="C44E3B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59942" y="436911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跨部门知识检索成本高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76300" y="4673918"/>
              <a:ext cx="2014728" cy="264033"/>
              <a:chOff x="876300" y="4673918"/>
              <a:chExt cx="2014728" cy="264033"/>
            </a:xfrm>
          </p:grpSpPr>
          <p:sp>
            <p:nvSpPr>
              <p:cNvPr id="29" name="Ellipse 29"/>
              <p:cNvSpPr/>
              <p:nvPr/>
            </p:nvSpPr>
            <p:spPr>
              <a:xfrm>
                <a:off x="876300" y="4724400"/>
                <a:ext cx="76200" cy="76200"/>
              </a:xfrm>
              <a:prstGeom prst="ellipse">
                <a:avLst/>
              </a:prstGeom>
              <a:solidFill>
                <a:srgbClr val="C44E3B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59942" y="467391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历史会话价值未被沉淀</a:t>
                </a:r>
              </a:p>
            </p:txBody>
          </p:sp>
        </p:grpSp>
        <p:sp>
          <p:nvSpPr>
            <p:cNvPr id="32" name="Rectangle 32"/>
            <p:cNvSpPr/>
            <p:nvPr/>
          </p:nvSpPr>
          <p:spPr>
            <a:xfrm>
              <a:off x="838200" y="4991100"/>
              <a:ext cx="3048000" cy="266700"/>
            </a:xfrm>
            <a:prstGeom prst="roundRect">
              <a:avLst>
                <a:gd name="adj" fmla="val 21429"/>
              </a:avLst>
            </a:prstGeom>
            <a:solidFill>
              <a:srgbClr val="C44E3B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67612" y="50520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44E3B"/>
                  </a:solidFill>
                  <a:latin typeface="Arial"/>
                  <a:ea typeface="Microsoft YaHei"/>
                  <a:cs typeface="Arial"/>
                </a:rPr>
                <a:t>决策依据散落，无法复用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343400" y="2171700"/>
            <a:ext cx="3505200" cy="3238500"/>
            <a:chOff x="4343400" y="2171700"/>
            <a:chExt cx="3505200" cy="3238500"/>
          </a:xfrm>
        </p:grpSpPr>
        <p:sp>
          <p:nvSpPr>
            <p:cNvPr id="35" name="Rectangle 35"/>
            <p:cNvSpPr/>
            <p:nvPr/>
          </p:nvSpPr>
          <p:spPr>
            <a:xfrm>
              <a:off x="4343400" y="2171700"/>
              <a:ext cx="3505200" cy="3238500"/>
            </a:xfrm>
            <a:prstGeom prst="roundRect">
              <a:avLst>
                <a:gd name="adj" fmla="val 3529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217170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rgbClr val="C44E3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343400" y="2247900"/>
              <a:ext cx="3505200" cy="76200"/>
            </a:xfrm>
            <a:prstGeom prst="rect">
              <a:avLst/>
            </a:prstGeom>
            <a:solidFill>
              <a:srgbClr val="C44E3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72000" y="247650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C44E3B">
                <a:alpha val="12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4705350" y="2686050"/>
              <a:ext cx="266700" cy="190500"/>
              <a:chOff x="4705350" y="2686050"/>
              <a:chExt cx="266700" cy="190500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4705350" y="2743200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C44E3B"/>
                </a:solidFill>
              </a:ln>
            </p:spPr>
          </p:sp>
          <p:sp>
            <p:nvSpPr>
              <p:cNvPr id="40" name="Polyline 40"/>
              <p:cNvSpPr/>
              <p:nvPr/>
            </p:nvSpPr>
            <p:spPr>
              <a:xfrm>
                <a:off x="4895850" y="268605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57150"/>
                    </a:ln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C44E3B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4838700" y="2743200"/>
                <a:ext cx="95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3350">
                    <a:moveTo>
                      <a:pt x="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19050">
                <a:solidFill>
                  <a:srgbClr val="C44E3B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4810125" y="2714625"/>
                <a:ext cx="57150" cy="57150"/>
              </a:xfrm>
              <a:prstGeom prst="ellipse">
                <a:avLst/>
              </a:prstGeom>
              <a:noFill/>
              <a:ln w="19050">
                <a:solidFill>
                  <a:srgbClr val="C44E3B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4561332" y="30118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流程断裂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64380" y="34194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跨系统转写、升级与催办成本高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4610100" y="3759518"/>
              <a:ext cx="2114683" cy="264033"/>
              <a:chOff x="4610100" y="3759518"/>
              <a:chExt cx="2114683" cy="264033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4610100" y="3810000"/>
                <a:ext cx="76200" cy="76200"/>
              </a:xfrm>
              <a:prstGeom prst="ellipse">
                <a:avLst/>
              </a:prstGeom>
              <a:solidFill>
                <a:srgbClr val="C44E3B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793742" y="3759518"/>
                <a:ext cx="193104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客服→销售信息手动传递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4610100" y="4064318"/>
              <a:ext cx="2196465" cy="264033"/>
              <a:chOff x="4610100" y="4064318"/>
              <a:chExt cx="2196465" cy="264033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4610100" y="4114800"/>
                <a:ext cx="76200" cy="76200"/>
              </a:xfrm>
              <a:prstGeom prst="ellipse">
                <a:avLst/>
              </a:prstGeom>
              <a:solidFill>
                <a:srgbClr val="C44E3B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4793742" y="40643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升级流程缺乏自动化触发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4610100" y="4369118"/>
              <a:ext cx="2014728" cy="264033"/>
              <a:chOff x="4610100" y="4369118"/>
              <a:chExt cx="2014728" cy="264033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4610100" y="4419600"/>
                <a:ext cx="76200" cy="76200"/>
              </a:xfrm>
              <a:prstGeom prst="ellipse">
                <a:avLst/>
              </a:prstGeom>
              <a:solidFill>
                <a:srgbClr val="C44E3B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4793742" y="436911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跨部门任务无统一追踪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610100" y="4673918"/>
              <a:ext cx="2014728" cy="264033"/>
              <a:chOff x="4610100" y="4673918"/>
              <a:chExt cx="2014728" cy="264033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4610100" y="4724400"/>
                <a:ext cx="76200" cy="76200"/>
              </a:xfrm>
              <a:prstGeom prst="ellipse">
                <a:avLst/>
              </a:prstGeom>
              <a:solidFill>
                <a:srgbClr val="C44E3B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4793742" y="467391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结果回写依赖人工操作</a:t>
                </a:r>
              </a:p>
            </p:txBody>
          </p:sp>
        </p:grpSp>
        <p:sp>
          <p:nvSpPr>
            <p:cNvPr id="58" name="Rectangle 58"/>
            <p:cNvSpPr/>
            <p:nvPr/>
          </p:nvSpPr>
          <p:spPr>
            <a:xfrm>
              <a:off x="4572000" y="4991100"/>
              <a:ext cx="3048000" cy="266700"/>
            </a:xfrm>
            <a:prstGeom prst="roundRect">
              <a:avLst>
                <a:gd name="adj" fmla="val 21429"/>
              </a:avLst>
            </a:prstGeom>
            <a:solidFill>
              <a:srgbClr val="C44E3B">
                <a:alpha val="10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201412" y="50520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C44E3B"/>
                  </a:solidFill>
                  <a:latin typeface="Arial"/>
                  <a:ea typeface="Microsoft YaHei"/>
                  <a:cs typeface="Arial"/>
                </a:rPr>
                <a:t>协同效率止步于手动操作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077200" y="2171700"/>
            <a:ext cx="3505200" cy="3238500"/>
            <a:chOff x="8077200" y="2171700"/>
            <a:chExt cx="3505200" cy="3238500"/>
          </a:xfrm>
        </p:grpSpPr>
        <p:sp>
          <p:nvSpPr>
            <p:cNvPr id="61" name="Rectangle 61"/>
            <p:cNvSpPr/>
            <p:nvPr/>
          </p:nvSpPr>
          <p:spPr>
            <a:xfrm>
              <a:off x="8077200" y="2171700"/>
              <a:ext cx="3505200" cy="3238500"/>
            </a:xfrm>
            <a:prstGeom prst="roundRect">
              <a:avLst>
                <a:gd name="adj" fmla="val 3529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8077200" y="217170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rgbClr val="7FA9D6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077200" y="2247900"/>
              <a:ext cx="3505200" cy="76200"/>
            </a:xfrm>
            <a:prstGeom prst="rect">
              <a:avLst/>
            </a:prstGeom>
            <a:solidFill>
              <a:srgbClr val="7FA9D6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305800" y="247650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7FA9D6">
                <a:alpha val="12000"/>
              </a:srgbClr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8439150" y="2609850"/>
              <a:ext cx="276225" cy="266700"/>
              <a:chOff x="8439150" y="2609850"/>
              <a:chExt cx="276225" cy="266700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8439150" y="2609850"/>
                <a:ext cx="228600" cy="190500"/>
              </a:xfrm>
              <a:prstGeom prst="roundRect">
                <a:avLst>
                  <a:gd name="adj" fmla="val 15000"/>
                </a:avLst>
              </a:prstGeom>
              <a:noFill/>
              <a:ln w="19050">
                <a:solidFill>
                  <a:srgbClr val="7FA9D6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8477250" y="2686050"/>
                <a:ext cx="228600" cy="190500"/>
              </a:xfrm>
              <a:prstGeom prst="roundRect">
                <a:avLst>
                  <a:gd name="adj" fmla="val 15000"/>
                </a:avLst>
              </a:prstGeom>
              <a:noFill/>
              <a:ln w="19050">
                <a:solidFill>
                  <a:srgbClr val="7FA9D6"/>
                </a:solidFill>
              </a:ln>
            </p:spPr>
          </p:sp>
          <p:sp>
            <p:nvSpPr>
              <p:cNvPr id="67" name="Line 67"/>
              <p:cNvSpPr/>
              <p:nvPr/>
            </p:nvSpPr>
            <p:spPr>
              <a:xfrm>
                <a:off x="8610600" y="26479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7FA9D6"/>
                </a:solidFill>
              </a:ln>
            </p:spPr>
          </p:sp>
          <p:sp>
            <p:nvSpPr>
              <p:cNvPr id="68" name="Line 68"/>
              <p:cNvSpPr/>
              <p:nvPr/>
            </p:nvSpPr>
            <p:spPr>
              <a:xfrm>
                <a:off x="8705850" y="264795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19050">
                <a:solidFill>
                  <a:srgbClr val="7FA9D6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8295132" y="30118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价值难复制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98180" y="34194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成果停留在局部提效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8343900" y="3759518"/>
              <a:ext cx="2378202" cy="264033"/>
              <a:chOff x="8343900" y="3759518"/>
              <a:chExt cx="2378202" cy="264033"/>
            </a:xfrm>
          </p:grpSpPr>
          <p:sp>
            <p:nvSpPr>
              <p:cNvPr id="72" name="Ellipse 72"/>
              <p:cNvSpPr/>
              <p:nvPr/>
            </p:nvSpPr>
            <p:spPr>
              <a:xfrm>
                <a:off x="8343900" y="3810000"/>
                <a:ext cx="76200" cy="76200"/>
              </a:xfrm>
              <a:prstGeom prst="ellipse">
                <a:avLst/>
              </a:prstGeom>
              <a:solidFill>
                <a:srgbClr val="7FA9D6"/>
              </a:solidFill>
              <a:ln>
                <a:noFill/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527542" y="375951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单点成功无法推广至全流程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8343900" y="4064318"/>
              <a:ext cx="2014728" cy="264033"/>
              <a:chOff x="8343900" y="4064318"/>
              <a:chExt cx="2014728" cy="264033"/>
            </a:xfrm>
          </p:grpSpPr>
          <p:sp>
            <p:nvSpPr>
              <p:cNvPr id="75" name="Ellipse 75"/>
              <p:cNvSpPr/>
              <p:nvPr/>
            </p:nvSpPr>
            <p:spPr>
              <a:xfrm>
                <a:off x="8343900" y="4114800"/>
                <a:ext cx="76200" cy="76200"/>
              </a:xfrm>
              <a:prstGeom prst="ellipse">
                <a:avLst/>
              </a:prstGeom>
              <a:solidFill>
                <a:srgbClr val="7FA9D6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8527542" y="4064318"/>
                <a:ext cx="18310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经验依赖个人而非系统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8343900" y="4369118"/>
              <a:ext cx="2378202" cy="264033"/>
              <a:chOff x="8343900" y="4369118"/>
              <a:chExt cx="2378202" cy="264033"/>
            </a:xfrm>
          </p:grpSpPr>
          <p:sp>
            <p:nvSpPr>
              <p:cNvPr id="78" name="Ellipse 78"/>
              <p:cNvSpPr/>
              <p:nvPr/>
            </p:nvSpPr>
            <p:spPr>
              <a:xfrm>
                <a:off x="8343900" y="4419600"/>
                <a:ext cx="76200" cy="76200"/>
              </a:xfrm>
              <a:prstGeom prst="ellipse">
                <a:avLst/>
              </a:prstGeom>
              <a:solidFill>
                <a:srgbClr val="7FA9D6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8527542" y="436911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缺乏可复制的最佳实践模板</a:t>
                </a:r>
              </a:p>
            </p:txBody>
          </p:sp>
        </p:grpSp>
        <p:grpSp>
          <p:nvGrpSpPr>
            <p:cNvPr id="83" name="Group 83"/>
            <p:cNvGrpSpPr/>
            <p:nvPr/>
          </p:nvGrpSpPr>
          <p:grpSpPr>
            <a:xfrm>
              <a:off x="8343900" y="4673918"/>
              <a:ext cx="1832991" cy="264033"/>
              <a:chOff x="8343900" y="4673918"/>
              <a:chExt cx="1832991" cy="264033"/>
            </a:xfrm>
          </p:grpSpPr>
          <p:sp>
            <p:nvSpPr>
              <p:cNvPr id="81" name="Ellipse 81"/>
              <p:cNvSpPr/>
              <p:nvPr/>
            </p:nvSpPr>
            <p:spPr>
              <a:xfrm>
                <a:off x="8343900" y="4724400"/>
                <a:ext cx="76200" cy="76200"/>
              </a:xfrm>
              <a:prstGeom prst="ellipse">
                <a:avLst/>
              </a:prstGeom>
              <a:solidFill>
                <a:srgbClr val="7FA9D6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8527542" y="467391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新场景需要从零搭建</a:t>
                </a:r>
              </a:p>
            </p:txBody>
          </p:sp>
        </p:grpSp>
        <p:sp>
          <p:nvSpPr>
            <p:cNvPr id="84" name="Rectangle 84"/>
            <p:cNvSpPr/>
            <p:nvPr/>
          </p:nvSpPr>
          <p:spPr>
            <a:xfrm>
              <a:off x="8305800" y="4991100"/>
              <a:ext cx="3048000" cy="266700"/>
            </a:xfrm>
            <a:prstGeom prst="roundRect">
              <a:avLst>
                <a:gd name="adj" fmla="val 21429"/>
              </a:avLst>
            </a:prstGeom>
            <a:solidFill>
              <a:srgbClr val="7FA9D6">
                <a:alpha val="10000"/>
              </a:srgbClr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133103" y="5052060"/>
              <a:ext cx="1393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6FB2"/>
                  </a:solidFill>
                  <a:latin typeface="Arial"/>
                  <a:ea typeface="Microsoft YaHei"/>
                  <a:cs typeface="Arial"/>
                </a:rPr>
                <a:t>局部最优≠全局最优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604266" y="6554152"/>
            <a:ext cx="16498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agentflow_case01 · P03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1259026" y="655415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1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7324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3504" y="203835"/>
            <a:ext cx="11728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1"/>
                </a:solidFill>
                <a:latin typeface="Arial"/>
                <a:ea typeface="Microsoft YaHei"/>
                <a:cs typeface="Arial"/>
              </a:rPr>
              <a:t>P04 · 场景选择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3598" y="612458"/>
            <a:ext cx="332521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客服与销售支持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3598" y="1069658"/>
            <a:ext cx="928660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同时具备高频、强流程与强 ROI 属性</a:t>
            </a:r>
          </a:p>
        </p:txBody>
      </p:sp>
      <p:sp>
        <p:nvSpPr>
          <p:cNvPr id="7" name="Rectangle 7"/>
          <p:cNvSpPr/>
          <p:nvPr/>
        </p:nvSpPr>
        <p:spPr>
          <a:xfrm>
            <a:off x="609600" y="1600200"/>
            <a:ext cx="762000" cy="28575"/>
          </a:xfrm>
          <a:prstGeom prst="rect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00456" y="1710690"/>
            <a:ext cx="724753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6773"/>
                </a:solidFill>
                <a:latin typeface="Arial"/>
                <a:ea typeface="Microsoft YaHei"/>
                <a:cs typeface="Arial"/>
              </a:rPr>
              <a:t>这两个场景天然适合 Agent 商业化验证 — 价值可量化、复制有路径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09600" y="2171700"/>
            <a:ext cx="5332857" cy="3429000"/>
            <a:chOff x="609600" y="2171700"/>
            <a:chExt cx="5332857" cy="3429000"/>
          </a:xfrm>
        </p:grpSpPr>
        <p:sp>
          <p:nvSpPr>
            <p:cNvPr id="9" name="Rectangle 9"/>
            <p:cNvSpPr/>
            <p:nvPr/>
          </p:nvSpPr>
          <p:spPr>
            <a:xfrm>
              <a:off x="609600" y="2171700"/>
              <a:ext cx="4953000" cy="3429000"/>
            </a:xfrm>
            <a:prstGeom prst="roundRect">
              <a:avLst>
                <a:gd name="adj" fmla="val 3333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580" y="239077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为何选择这两个场景？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838200" y="2781300"/>
              <a:ext cx="5104257" cy="762000"/>
              <a:chOff x="838200" y="2781300"/>
              <a:chExt cx="5104257" cy="762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838200" y="2781300"/>
                <a:ext cx="4495800" cy="762000"/>
              </a:xfrm>
              <a:prstGeom prst="roundRect">
                <a:avLst>
                  <a:gd name="adj" fmla="val 10000"/>
                </a:avLst>
              </a:pr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838200" y="2781300"/>
                <a:ext cx="5715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1F6FB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8032" y="2840355"/>
                <a:ext cx="367243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F6FB2"/>
                    </a:solidFill>
                    <a:latin typeface="Arial"/>
                    <a:ea typeface="Microsoft YaHei"/>
                    <a:cs typeface="Arial"/>
                  </a:rPr>
                  <a:t>高频 × 标准化 × 复杂性并存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21842" y="3188018"/>
                <a:ext cx="492061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每天处理大量重复性询问，部分问题需深度分析与多系统查询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38200" y="3657600"/>
              <a:ext cx="4495800" cy="762000"/>
              <a:chOff x="838200" y="3657600"/>
              <a:chExt cx="4495800" cy="762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38200" y="3657600"/>
                <a:ext cx="4495800" cy="762000"/>
              </a:xfrm>
              <a:prstGeom prst="roundRect">
                <a:avLst>
                  <a:gd name="adj" fmla="val 10000"/>
                </a:avLst>
              </a:pr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838200" y="3657600"/>
                <a:ext cx="5715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8032" y="3716655"/>
                <a:ext cx="333107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2E8B57"/>
                    </a:solidFill>
                    <a:latin typeface="Arial"/>
                    <a:ea typeface="Microsoft YaHei"/>
                    <a:cs typeface="Arial"/>
                  </a:rPr>
                  <a:t>强知识依赖 + 强流程依赖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21842" y="4064318"/>
                <a:ext cx="42094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知识库、CRM、工单系统需要实时同步与智能路由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38200" y="4533900"/>
              <a:ext cx="4495800" cy="762000"/>
              <a:chOff x="838200" y="4533900"/>
              <a:chExt cx="4495800" cy="7620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38200" y="4533900"/>
                <a:ext cx="4495800" cy="762000"/>
              </a:xfrm>
              <a:prstGeom prst="roundRect">
                <a:avLst>
                  <a:gd name="adj" fmla="val 10000"/>
                </a:avLst>
              </a:pr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838200" y="4533900"/>
                <a:ext cx="57150" cy="762000"/>
              </a:xfrm>
              <a:prstGeom prst="roundRect">
                <a:avLst>
                  <a:gd name="adj" fmla="val 50000"/>
                </a:avLst>
              </a:prstGeom>
              <a:solidFill>
                <a:srgbClr val="17324D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18032" y="4592955"/>
                <a:ext cx="37536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7324D"/>
                    </a:solidFill>
                    <a:latin typeface="Arial"/>
                    <a:ea typeface="Microsoft YaHei"/>
                    <a:cs typeface="Arial"/>
                  </a:rPr>
                  <a:t>价值可量化，ROI 直接可见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21842" y="4940618"/>
                <a:ext cx="41936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响应时长、升级率、线索质量、满意度均可量化追踪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5791200" y="2171700"/>
            <a:ext cx="5791200" cy="3534156"/>
            <a:chOff x="5791200" y="2171700"/>
            <a:chExt cx="5791200" cy="3534156"/>
          </a:xfrm>
        </p:grpSpPr>
        <p:sp>
          <p:nvSpPr>
            <p:cNvPr id="27" name="Rectangle 27"/>
            <p:cNvSpPr/>
            <p:nvPr/>
          </p:nvSpPr>
          <p:spPr>
            <a:xfrm>
              <a:off x="5791200" y="2171700"/>
              <a:ext cx="5791200" cy="3429000"/>
            </a:xfrm>
            <a:prstGeom prst="roundRect">
              <a:avLst>
                <a:gd name="adj" fmla="val 3333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12180" y="23907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关键量化指标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006084" y="2826068"/>
              <a:ext cx="5347716" cy="687133"/>
              <a:chOff x="6006084" y="2826068"/>
              <a:chExt cx="5347716" cy="687133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6012942" y="28260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响应时长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006084" y="2985135"/>
                <a:ext cx="99523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7324D"/>
                    </a:solidFill>
                    <a:latin typeface="Cambria"/>
                    <a:ea typeface="Cambria"/>
                    <a:cs typeface="Cambria"/>
                  </a:rPr>
                  <a:t>↓60%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775704" y="314706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平均响应时间缩短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6019800" y="3390900"/>
                <a:ext cx="5334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D8DEE6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6019800" y="3390900"/>
                <a:ext cx="32004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1F6FB2"/>
              </a:solidFill>
              <a:ln>
                <a:noFill/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6006084" y="3702368"/>
              <a:ext cx="5347716" cy="687133"/>
              <a:chOff x="6006084" y="3702368"/>
              <a:chExt cx="5347716" cy="687133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6012942" y="3702368"/>
                <a:ext cx="55892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升级率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006084" y="3861435"/>
                <a:ext cx="99523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7324D"/>
                    </a:solidFill>
                    <a:latin typeface="Cambria"/>
                    <a:ea typeface="Cambria"/>
                    <a:cs typeface="Cambria"/>
                  </a:rPr>
                  <a:t>↓40%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775704" y="402336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不必要人工升级减少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6019800" y="4267200"/>
                <a:ext cx="5334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D8DEE6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019800" y="4267200"/>
                <a:ext cx="21336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2E8B57"/>
              </a:solidFill>
              <a:ln>
                <a:noFill/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6006084" y="4578668"/>
              <a:ext cx="5347716" cy="687133"/>
              <a:chOff x="6006084" y="4578668"/>
              <a:chExt cx="5347716" cy="687133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6012942" y="45786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线索质量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006084" y="4737735"/>
                <a:ext cx="995233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700" b="1" dirty="0">
                    <a:solidFill>
                      <a:srgbClr val="17324D"/>
                    </a:solidFill>
                    <a:latin typeface="Cambria"/>
                    <a:ea typeface="Cambria"/>
                    <a:cs typeface="Cambria"/>
                  </a:rPr>
                  <a:t>↑35%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75704" y="489966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高意向线索占比提升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6019800" y="5143500"/>
                <a:ext cx="5334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D8DEE6"/>
              </a:solidFill>
              <a:ln>
                <a:noFill/>
              </a:ln>
            </p:spPr>
          </p:sp>
          <p:sp>
            <p:nvSpPr>
              <p:cNvPr id="45" name="Rectangle 45"/>
              <p:cNvSpPr/>
              <p:nvPr/>
            </p:nvSpPr>
            <p:spPr>
              <a:xfrm>
                <a:off x="6019800" y="5143500"/>
                <a:ext cx="18669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7FA9D6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077380" y="5471160"/>
              <a:ext cx="32188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* 数据为参考行业基准，实际效果因场景而异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604266" y="6554152"/>
            <a:ext cx="16498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agentflow_case01 · P04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59026" y="655415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2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7324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3504" y="203835"/>
            <a:ext cx="11728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1"/>
                </a:solidFill>
                <a:latin typeface="Arial"/>
                <a:ea typeface="Microsoft YaHei"/>
                <a:cs typeface="Arial"/>
              </a:rPr>
              <a:t>P05 · 平台架构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3598" y="612458"/>
            <a:ext cx="5677510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可产品化方案必须同时具备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3598" y="1069658"/>
            <a:ext cx="824991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Agent、编排、工作台与治理四层能力</a:t>
            </a:r>
          </a:p>
        </p:txBody>
      </p:sp>
      <p:sp>
        <p:nvSpPr>
          <p:cNvPr id="7" name="Rectangle 7"/>
          <p:cNvSpPr/>
          <p:nvPr/>
        </p:nvSpPr>
        <p:spPr>
          <a:xfrm>
            <a:off x="609600" y="1600200"/>
            <a:ext cx="762000" cy="28575"/>
          </a:xfrm>
          <a:prstGeom prst="rect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00456" y="1710690"/>
            <a:ext cx="607618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6773"/>
                </a:solidFill>
                <a:latin typeface="Arial"/>
                <a:ea typeface="Microsoft YaHei"/>
                <a:cs typeface="Arial"/>
              </a:rPr>
              <a:t>企业最终买单的是治理与工作流能力，而不只是模型本身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09600" y="2171700"/>
            <a:ext cx="10972800" cy="914400"/>
            <a:chOff x="609600" y="2171700"/>
            <a:chExt cx="10972800" cy="914400"/>
          </a:xfrm>
        </p:grpSpPr>
        <p:sp>
          <p:nvSpPr>
            <p:cNvPr id="9" name="Rectangle 9"/>
            <p:cNvSpPr/>
            <p:nvPr/>
          </p:nvSpPr>
          <p:spPr>
            <a:xfrm>
              <a:off x="609600" y="2171700"/>
              <a:ext cx="10972800" cy="914400"/>
            </a:xfrm>
            <a:prstGeom prst="roundRect">
              <a:avLst>
                <a:gd name="adj" fmla="val 12500"/>
              </a:avLst>
            </a:prstGeom>
            <a:solidFill>
              <a:srgbClr val="17324D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876300" y="2381250"/>
              <a:ext cx="228600" cy="266700"/>
              <a:chOff x="876300" y="2381250"/>
              <a:chExt cx="228600" cy="2667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76300" y="238125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114300" y="0"/>
                    </a:moveTo>
                    <a:lnTo>
                      <a:pt x="0" y="57150"/>
                    </a:lnTo>
                    <a:lnTo>
                      <a:pt x="0" y="152400"/>
                    </a:lnTo>
                    <a:cubicBezTo>
                      <a:pt x="0" y="209550"/>
                      <a:pt x="57150" y="247650"/>
                      <a:pt x="114300" y="266700"/>
                    </a:cubicBezTo>
                    <a:cubicBezTo>
                      <a:pt x="171450" y="247650"/>
                      <a:pt x="228600" y="209550"/>
                      <a:pt x="228600" y="152400"/>
                    </a:cubicBezTo>
                    <a:lnTo>
                      <a:pt x="228600" y="57150"/>
                    </a:lnTo>
                    <a:close/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11" name="Polyline 11"/>
              <p:cNvSpPr/>
              <p:nvPr/>
            </p:nvSpPr>
            <p:spPr>
              <a:xfrm>
                <a:off x="942975" y="2476500"/>
                <a:ext cx="95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95250" y="0"/>
                    </a:lnTo>
                  </a:path>
                </a:pathLst>
              </a:custGeom>
              <a:noFill/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360932" y="2306955"/>
              <a:ext cx="193901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Control Plane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64742" y="2654618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治理与安全层：权限管理、审计日志、合规策略、跨系统策略配置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515600" y="2438400"/>
              <a:ext cx="838200" cy="381000"/>
            </a:xfrm>
            <a:prstGeom prst="roundRect">
              <a:avLst>
                <a:gd name="adj" fmla="val 20000"/>
              </a:avLst>
            </a:prstGeom>
            <a:solidFill>
              <a:srgbClr val="1F6FB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89362" y="2556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企业必需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9600" y="3238500"/>
            <a:ext cx="10972800" cy="914400"/>
            <a:chOff x="609600" y="3238500"/>
            <a:chExt cx="10972800" cy="914400"/>
          </a:xfrm>
        </p:grpSpPr>
        <p:sp>
          <p:nvSpPr>
            <p:cNvPr id="18" name="Rectangle 18"/>
            <p:cNvSpPr/>
            <p:nvPr/>
          </p:nvSpPr>
          <p:spPr>
            <a:xfrm>
              <a:off x="609600" y="3238500"/>
              <a:ext cx="10972800" cy="914400"/>
            </a:xfrm>
            <a:prstGeom prst="roundRect">
              <a:avLst>
                <a:gd name="adj" fmla="val 12500"/>
              </a:avLst>
            </a:prstGeom>
            <a:solidFill>
              <a:srgbClr val="1F6FB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857250" y="3429000"/>
              <a:ext cx="266700" cy="342900"/>
              <a:chOff x="857250" y="3429000"/>
              <a:chExt cx="266700" cy="3429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857250" y="3657600"/>
                <a:ext cx="114300" cy="114300"/>
              </a:xfrm>
              <a:prstGeom prst="ellipse">
                <a:avLst/>
              </a:prstGeom>
              <a:noFill/>
              <a:ln>
                <a:noFill/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914400" y="3486150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171450"/>
                    </a:move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1" name="Polyline 21"/>
              <p:cNvSpPr/>
              <p:nvPr/>
            </p:nvSpPr>
            <p:spPr>
              <a:xfrm>
                <a:off x="876300" y="348615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0" y="57150"/>
                    </a:moveTo>
                    <a:lnTo>
                      <a:pt x="38100" y="0"/>
                    </a:lnTo>
                    <a:lnTo>
                      <a:pt x="76200" y="5715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914400" y="34861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1009650" y="3429000"/>
                <a:ext cx="114300" cy="114300"/>
              </a:xfrm>
              <a:prstGeom prst="ellipse">
                <a:avLst/>
              </a:prstGeom>
              <a:noFill/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360932" y="3373755"/>
              <a:ext cx="20493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Orchestrator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64742" y="3721418"/>
              <a:ext cx="54080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8DEE6"/>
                  </a:solidFill>
                  <a:latin typeface="Arial"/>
                  <a:ea typeface="Microsoft YaHei"/>
                  <a:cs typeface="Arial"/>
                </a:rPr>
                <a:t>智能路由层：多 Agent 协同编排、意图识别、任务分发与状态管理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515600" y="3505200"/>
              <a:ext cx="838200" cy="381000"/>
            </a:xfrm>
            <a:prstGeom prst="roundRect">
              <a:avLst>
                <a:gd name="adj" fmla="val 20000"/>
              </a:avLst>
            </a:prstGeom>
            <a:noFill/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589362" y="36233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6FB2"/>
                  </a:solidFill>
                  <a:latin typeface="Arial"/>
                  <a:ea typeface="Microsoft YaHei"/>
                  <a:cs typeface="Arial"/>
                </a:rPr>
                <a:t>核心能力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4305300"/>
            <a:ext cx="10972800" cy="914400"/>
            <a:chOff x="609600" y="4305300"/>
            <a:chExt cx="10972800" cy="914400"/>
          </a:xfrm>
        </p:grpSpPr>
        <p:sp>
          <p:nvSpPr>
            <p:cNvPr id="30" name="Rectangle 30"/>
            <p:cNvSpPr/>
            <p:nvPr/>
          </p:nvSpPr>
          <p:spPr>
            <a:xfrm>
              <a:off x="609600" y="4305300"/>
              <a:ext cx="10972800" cy="914400"/>
            </a:xfrm>
            <a:prstGeom prst="roundRect">
              <a:avLst>
                <a:gd name="adj" fmla="val 12500"/>
              </a:avLst>
            </a:prstGeom>
            <a:solidFill>
              <a:srgbClr val="EEF1F4"/>
            </a:solidFill>
            <a:ln w="19050">
              <a:solidFill>
                <a:srgbClr val="7FA9D6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76300" y="4486275"/>
              <a:ext cx="228600" cy="257175"/>
              <a:chOff x="876300" y="4486275"/>
              <a:chExt cx="228600" cy="25717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76300" y="4572000"/>
                <a:ext cx="228600" cy="171450"/>
              </a:xfrm>
              <a:prstGeom prst="roundRect">
                <a:avLst>
                  <a:gd name="adj" fmla="val 33333"/>
                </a:avLst>
              </a:prstGeom>
              <a:noFill/>
              <a:ln w="19050">
                <a:solidFill>
                  <a:srgbClr val="1F6FB2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914400" y="4629150"/>
                <a:ext cx="38100" cy="38100"/>
              </a:xfrm>
              <a:prstGeom prst="ellipse">
                <a:avLst/>
              </a:prstGeom>
              <a:solidFill>
                <a:srgbClr val="1F6FB2"/>
              </a:solidFill>
              <a:ln w="19050">
                <a:solidFill>
                  <a:srgbClr val="1F6FB2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1028700" y="4629150"/>
                <a:ext cx="38100" cy="38100"/>
              </a:xfrm>
              <a:prstGeom prst="ellipse">
                <a:avLst/>
              </a:prstGeom>
              <a:solidFill>
                <a:srgbClr val="1F6FB2"/>
              </a:solidFill>
              <a:ln w="19050">
                <a:solidFill>
                  <a:srgbClr val="1F6FB2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990600" y="45148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1F6FB2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962025" y="4486275"/>
                <a:ext cx="57150" cy="57150"/>
              </a:xfrm>
              <a:prstGeom prst="ellipse">
                <a:avLst/>
              </a:prstGeom>
              <a:noFill/>
              <a:ln w="19050">
                <a:solidFill>
                  <a:srgbClr val="1F6FB2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360932" y="4440555"/>
              <a:ext cx="18506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7324D"/>
                  </a:solidFill>
                  <a:latin typeface="Arial"/>
                  <a:ea typeface="Arial"/>
                  <a:cs typeface="Arial"/>
                </a:rPr>
                <a:t>Agent Studio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64742" y="478821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模型与技能层：多模型接入、技能配置、知识库挂载、记忆管理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0515600" y="4572000"/>
              <a:ext cx="838200" cy="381000"/>
            </a:xfrm>
            <a:prstGeom prst="roundRect">
              <a:avLst>
                <a:gd name="adj" fmla="val 20000"/>
              </a:avLst>
            </a:prstGeom>
            <a:solidFill>
              <a:srgbClr val="7FA9D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589362" y="46901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智能引擎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9600" y="5372100"/>
            <a:ext cx="10972800" cy="914400"/>
            <a:chOff x="609600" y="5372100"/>
            <a:chExt cx="10972800" cy="914400"/>
          </a:xfrm>
        </p:grpSpPr>
        <p:sp>
          <p:nvSpPr>
            <p:cNvPr id="42" name="Rectangle 42"/>
            <p:cNvSpPr/>
            <p:nvPr/>
          </p:nvSpPr>
          <p:spPr>
            <a:xfrm>
              <a:off x="609600" y="5372100"/>
              <a:ext cx="10972800" cy="914400"/>
            </a:xfrm>
            <a:prstGeom prst="roundRect">
              <a:avLst>
                <a:gd name="adj" fmla="val 12500"/>
              </a:avLst>
            </a:prstGeom>
            <a:solidFill>
              <a:srgbClr val="EEF1F4"/>
            </a:solidFill>
            <a:ln w="19050">
              <a:solidFill>
                <a:srgbClr val="D8DEE6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857250" y="5581650"/>
              <a:ext cx="266700" cy="257175"/>
              <a:chOff x="857250" y="5581650"/>
              <a:chExt cx="266700" cy="257175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857250" y="5581650"/>
                <a:ext cx="266700" cy="190500"/>
              </a:xfrm>
              <a:prstGeom prst="roundRect">
                <a:avLst>
                  <a:gd name="adj" fmla="val 15000"/>
                </a:avLst>
              </a:prstGeom>
              <a:noFill/>
              <a:ln w="19050">
                <a:solidFill>
                  <a:srgbClr val="5B6773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857250" y="5638800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5B6773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933450" y="57721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5B6773"/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1047750" y="57721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5B6773"/>
                </a:solidFill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895350" y="58293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5B6773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360932" y="5507355"/>
              <a:ext cx="15596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17324D"/>
                  </a:solidFill>
                  <a:latin typeface="Arial"/>
                  <a:ea typeface="Arial"/>
                  <a:cs typeface="Arial"/>
                </a:rPr>
                <a:t>Workspace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64742" y="5855018"/>
              <a:ext cx="6187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用户交互层：坐席工作台、销售支持界面、CRM 深度集成、操作入口统一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515600" y="5638800"/>
              <a:ext cx="838200" cy="381000"/>
            </a:xfrm>
            <a:prstGeom prst="roundRect">
              <a:avLst>
                <a:gd name="adj" fmla="val 20000"/>
              </a:avLst>
            </a:prstGeom>
            <a:solidFill>
              <a:srgbClr val="D8DEE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589362" y="57569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用户触点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604266" y="6554152"/>
            <a:ext cx="16498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agentflow_case01 · P05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259026" y="655415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7324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3504" y="203835"/>
            <a:ext cx="11728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1"/>
                </a:solidFill>
                <a:latin typeface="Arial"/>
                <a:ea typeface="Microsoft YaHei"/>
                <a:cs typeface="Arial"/>
              </a:rPr>
              <a:t>P06 · 业务闭环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3598" y="612458"/>
            <a:ext cx="426613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从一次客户问题开始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3598" y="1069658"/>
            <a:ext cx="802980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可串起服务、判断、跟进与回写全链路</a:t>
            </a:r>
          </a:p>
        </p:txBody>
      </p:sp>
      <p:sp>
        <p:nvSpPr>
          <p:cNvPr id="7" name="Rectangle 7"/>
          <p:cNvSpPr/>
          <p:nvPr/>
        </p:nvSpPr>
        <p:spPr>
          <a:xfrm>
            <a:off x="609600" y="1600200"/>
            <a:ext cx="762000" cy="28575"/>
          </a:xfrm>
          <a:prstGeom prst="rect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00456" y="1710690"/>
            <a:ext cx="749259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6773"/>
                </a:solidFill>
                <a:latin typeface="Arial"/>
                <a:ea typeface="Microsoft YaHei"/>
                <a:cs typeface="Arial"/>
              </a:rPr>
              <a:t>协同价值高于单个 Agent 的局部提效 — 端到端闭环才是平台差异所在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09600" y="2286000"/>
            <a:ext cx="2286000" cy="1143000"/>
            <a:chOff x="609600" y="2286000"/>
            <a:chExt cx="2286000" cy="1143000"/>
          </a:xfrm>
        </p:grpSpPr>
        <p:sp>
          <p:nvSpPr>
            <p:cNvPr id="9" name="Rectangle 9"/>
            <p:cNvSpPr/>
            <p:nvPr/>
          </p:nvSpPr>
          <p:spPr>
            <a:xfrm>
              <a:off x="609600" y="2286000"/>
              <a:ext cx="2286000" cy="1143000"/>
            </a:xfrm>
            <a:prstGeom prst="roundRect">
              <a:avLst>
                <a:gd name="adj" fmla="val 10000"/>
              </a:avLst>
            </a:prstGeom>
            <a:solidFill>
              <a:srgbClr val="1F6FB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45408" y="2393632"/>
              <a:ext cx="16143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① 客户问题进入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1400" y="27117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8DEE6"/>
                  </a:solidFill>
                  <a:latin typeface="Arial"/>
                  <a:ea typeface="Microsoft YaHei"/>
                  <a:cs typeface="Arial"/>
                </a:rPr>
                <a:t>多渠道接入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030" y="2940368"/>
              <a:ext cx="1809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8DEE6"/>
                  </a:solidFill>
                  <a:latin typeface="Arial"/>
                  <a:ea typeface="Microsoft YaHei"/>
                  <a:cs typeface="Arial"/>
                </a:rPr>
                <a:t>（IM / 电话 / 表单）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24686" y="3185160"/>
              <a:ext cx="1055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A94A1"/>
                  </a:solidFill>
                  <a:latin typeface="Arial"/>
                  <a:ea typeface="Arial"/>
                  <a:cs typeface="Arial"/>
                </a:rPr>
                <a:t>Trigger Point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895600" y="2651760"/>
            <a:ext cx="609600" cy="262890"/>
            <a:chOff x="2895600" y="2651760"/>
            <a:chExt cx="609600" cy="262890"/>
          </a:xfrm>
        </p:grpSpPr>
        <p:sp>
          <p:nvSpPr>
            <p:cNvPr id="15" name="Line 15"/>
            <p:cNvSpPr/>
            <p:nvPr/>
          </p:nvSpPr>
          <p:spPr>
            <a:xfrm>
              <a:off x="2895600" y="285750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rgbClr val="7FA9D6"/>
              </a:solidFill>
            </a:ln>
          </p:spPr>
        </p:sp>
        <p:sp>
          <p:nvSpPr>
            <p:cNvPr id="16" name="Polyline 16"/>
            <p:cNvSpPr/>
            <p:nvPr/>
          </p:nvSpPr>
          <p:spPr>
            <a:xfrm>
              <a:off x="3429000" y="28003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7FA9D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25470" y="2651760"/>
              <a:ext cx="5498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AI 分析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505200" y="2286000"/>
            <a:ext cx="2286000" cy="1143000"/>
            <a:chOff x="3505200" y="2286000"/>
            <a:chExt cx="2286000" cy="1143000"/>
          </a:xfrm>
        </p:grpSpPr>
        <p:sp>
          <p:nvSpPr>
            <p:cNvPr id="19" name="Rectangle 19"/>
            <p:cNvSpPr/>
            <p:nvPr/>
          </p:nvSpPr>
          <p:spPr>
            <a:xfrm>
              <a:off x="3505200" y="2286000"/>
              <a:ext cx="2286000" cy="1143000"/>
            </a:xfrm>
            <a:prstGeom prst="roundRect">
              <a:avLst>
                <a:gd name="adj" fmla="val 10000"/>
              </a:avLst>
            </a:prstGeom>
            <a:solidFill>
              <a:srgbClr val="EEF1F4"/>
            </a:solidFill>
            <a:ln w="19050">
              <a:solidFill>
                <a:srgbClr val="1F6FB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74237" y="239363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② 智能处理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03040" y="27089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意图识别 · 知识检索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03040" y="29184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建议生成 · 智能升级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76700" y="3181350"/>
              <a:ext cx="1143000" cy="209550"/>
            </a:xfrm>
            <a:prstGeom prst="roundRect">
              <a:avLst>
                <a:gd name="adj" fmla="val 27273"/>
              </a:avLst>
            </a:prstGeom>
            <a:solidFill>
              <a:srgbClr val="2E8B57">
                <a:alpha val="15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29414" y="3220402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E8B57"/>
                  </a:solidFill>
                  <a:latin typeface="Arial"/>
                  <a:ea typeface="Microsoft YaHei"/>
                  <a:cs typeface="Arial"/>
                </a:rPr>
                <a:t>自动解决率 ↑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66816" y="2651760"/>
            <a:ext cx="658368" cy="262890"/>
            <a:chOff x="5766816" y="2651760"/>
            <a:chExt cx="658368" cy="262890"/>
          </a:xfrm>
        </p:grpSpPr>
        <p:sp>
          <p:nvSpPr>
            <p:cNvPr id="26" name="Line 26"/>
            <p:cNvSpPr/>
            <p:nvPr/>
          </p:nvSpPr>
          <p:spPr>
            <a:xfrm>
              <a:off x="5791200" y="285750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rgbClr val="7FA9D6"/>
              </a:solidFill>
            </a:ln>
          </p:spPr>
        </p:sp>
        <p:sp>
          <p:nvSpPr>
            <p:cNvPr id="27" name="Polyline 27"/>
            <p:cNvSpPr/>
            <p:nvPr/>
          </p:nvSpPr>
          <p:spPr>
            <a:xfrm>
              <a:off x="6324600" y="28003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7FA9D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766816" y="2651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线索发现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00800" y="2286000"/>
            <a:ext cx="2286000" cy="1143000"/>
            <a:chOff x="6400800" y="2286000"/>
            <a:chExt cx="2286000" cy="1143000"/>
          </a:xfrm>
        </p:grpSpPr>
        <p:sp>
          <p:nvSpPr>
            <p:cNvPr id="30" name="Rectangle 30"/>
            <p:cNvSpPr/>
            <p:nvPr/>
          </p:nvSpPr>
          <p:spPr>
            <a:xfrm>
              <a:off x="6400800" y="2286000"/>
              <a:ext cx="2286000" cy="1143000"/>
            </a:xfrm>
            <a:prstGeom prst="roundRect">
              <a:avLst>
                <a:gd name="adj" fmla="val 10000"/>
              </a:avLst>
            </a:prstGeom>
            <a:solidFill>
              <a:srgbClr val="EEF1F4"/>
            </a:solidFill>
            <a:ln w="19050">
              <a:solidFill>
                <a:srgbClr val="17324D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69837" y="239363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③ 线索同步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10756" y="27089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高意向客户自动标记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84416" y="2918460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→ 销售支持队列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972300" y="3181350"/>
              <a:ext cx="1143000" cy="209550"/>
            </a:xfrm>
            <a:prstGeom prst="roundRect">
              <a:avLst>
                <a:gd name="adj" fmla="val 27273"/>
              </a:avLst>
            </a:prstGeom>
            <a:solidFill>
              <a:srgbClr val="1F6FB2">
                <a:alpha val="15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19814" y="3220402"/>
              <a:ext cx="847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6FB2"/>
                  </a:solidFill>
                  <a:latin typeface="Arial"/>
                  <a:ea typeface="Arial"/>
                  <a:cs typeface="Arial"/>
                </a:rPr>
                <a:t>Sales Lead ↑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662416" y="2651760"/>
            <a:ext cx="658368" cy="262890"/>
            <a:chOff x="8662416" y="2651760"/>
            <a:chExt cx="658368" cy="262890"/>
          </a:xfrm>
        </p:grpSpPr>
        <p:sp>
          <p:nvSpPr>
            <p:cNvPr id="37" name="Line 37"/>
            <p:cNvSpPr/>
            <p:nvPr/>
          </p:nvSpPr>
          <p:spPr>
            <a:xfrm>
              <a:off x="8686800" y="285750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rgbClr val="7FA9D6"/>
              </a:solidFill>
            </a:ln>
          </p:spPr>
        </p:sp>
        <p:sp>
          <p:nvSpPr>
            <p:cNvPr id="38" name="Polyline 38"/>
            <p:cNvSpPr/>
            <p:nvPr/>
          </p:nvSpPr>
          <p:spPr>
            <a:xfrm>
              <a:off x="9220200" y="28003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7FA9D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62416" y="2651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自动回写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296400" y="2286000"/>
            <a:ext cx="2286000" cy="1143000"/>
            <a:chOff x="9296400" y="2286000"/>
            <a:chExt cx="2286000" cy="1143000"/>
          </a:xfrm>
        </p:grpSpPr>
        <p:sp>
          <p:nvSpPr>
            <p:cNvPr id="41" name="Rectangle 41"/>
            <p:cNvSpPr/>
            <p:nvPr/>
          </p:nvSpPr>
          <p:spPr>
            <a:xfrm>
              <a:off x="9296400" y="2286000"/>
              <a:ext cx="2286000" cy="1143000"/>
            </a:xfrm>
            <a:prstGeom prst="roundRect">
              <a:avLst>
                <a:gd name="adj" fmla="val 10000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865437" y="239363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④ 结果回写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37750" y="2708910"/>
              <a:ext cx="14032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8DEE6"/>
                  </a:solidFill>
                  <a:latin typeface="Arial"/>
                  <a:ea typeface="Microsoft YaHei"/>
                  <a:cs typeface="Arial"/>
                </a:rPr>
                <a:t>CRM · 工单 · 分析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787128" y="29184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8DEE6"/>
                  </a:solidFill>
                  <a:latin typeface="Arial"/>
                  <a:ea typeface="Microsoft YaHei"/>
                  <a:cs typeface="Arial"/>
                </a:rPr>
                <a:t>全链路记录可追溯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51364" y="32013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闭环完成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9600" y="3733800"/>
            <a:ext cx="11049000" cy="952500"/>
            <a:chOff x="609600" y="3733800"/>
            <a:chExt cx="11049000" cy="952500"/>
          </a:xfrm>
        </p:grpSpPr>
        <p:sp>
          <p:nvSpPr>
            <p:cNvPr id="47" name="Rectangle 47"/>
            <p:cNvSpPr/>
            <p:nvPr/>
          </p:nvSpPr>
          <p:spPr>
            <a:xfrm>
              <a:off x="609600" y="3733800"/>
              <a:ext cx="10972800" cy="952500"/>
            </a:xfrm>
            <a:prstGeom prst="roundRect">
              <a:avLst>
                <a:gd name="adj" fmla="val 12000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0580" y="385762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全链路数据闭环价值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857250" y="4159568"/>
              <a:ext cx="2606250" cy="264033"/>
              <a:chOff x="857250" y="4159568"/>
              <a:chExt cx="2606250" cy="264033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857250" y="4191000"/>
                <a:ext cx="114300" cy="114300"/>
              </a:xfrm>
              <a:prstGeom prst="ellipse">
                <a:avLst/>
              </a:prstGeom>
              <a:solidFill>
                <a:srgbClr val="1F6FB2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059942" y="4159568"/>
                <a:ext cx="24035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会话记录自动归档 → 知识沉淀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4438650" y="4159568"/>
              <a:ext cx="2424513" cy="264033"/>
              <a:chOff x="4438650" y="4159568"/>
              <a:chExt cx="2424513" cy="264033"/>
            </a:xfrm>
          </p:grpSpPr>
          <p:sp>
            <p:nvSpPr>
              <p:cNvPr id="52" name="Ellipse 52"/>
              <p:cNvSpPr/>
              <p:nvPr/>
            </p:nvSpPr>
            <p:spPr>
              <a:xfrm>
                <a:off x="4438650" y="4191000"/>
                <a:ext cx="114300" cy="114300"/>
              </a:xfrm>
              <a:prstGeom prst="ellipse">
                <a:avLst/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4641342" y="41595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升级决策可审计 → 合规可控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7867650" y="4159568"/>
              <a:ext cx="2606250" cy="264033"/>
              <a:chOff x="7867650" y="4159568"/>
              <a:chExt cx="2606250" cy="264033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7867650" y="4191000"/>
                <a:ext cx="114300" cy="114300"/>
              </a:xfrm>
              <a:prstGeom prst="ellipse">
                <a:avLst/>
              </a:prstGeom>
              <a:solidFill>
                <a:srgbClr val="7FA9D6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070342" y="4159568"/>
                <a:ext cx="24035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线索质量实时量化 → 销售赋能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9753600" y="4076700"/>
              <a:ext cx="1905000" cy="533400"/>
              <a:chOff x="9753600" y="4076700"/>
              <a:chExt cx="1905000" cy="5334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9753600" y="4076700"/>
                <a:ext cx="19050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533400">
                    <a:moveTo>
                      <a:pt x="0" y="266700"/>
                    </a:moveTo>
                    <a:cubicBezTo>
                      <a:pt x="571500" y="266700"/>
                      <a:pt x="762000" y="0"/>
                      <a:pt x="1333500" y="0"/>
                    </a:cubicBezTo>
                    <a:cubicBezTo>
                      <a:pt x="1905000" y="0"/>
                      <a:pt x="1905000" y="533400"/>
                      <a:pt x="1333500" y="533400"/>
                    </a:cubicBezTo>
                    <a:cubicBezTo>
                      <a:pt x="762000" y="533400"/>
                      <a:pt x="571500" y="266700"/>
                      <a:pt x="0" y="266700"/>
                    </a:cubicBezTo>
                  </a:path>
                </a:pathLst>
              </a:custGeom>
              <a:noFill/>
              <a:ln w="19050">
                <a:solidFill>
                  <a:srgbClr val="7FA9D6"/>
                </a:solidFill>
              </a:ln>
            </p:spPr>
          </p:sp>
          <p:sp>
            <p:nvSpPr>
              <p:cNvPr id="59" name="Polyline 59"/>
              <p:cNvSpPr/>
              <p:nvPr/>
            </p:nvSpPr>
            <p:spPr>
              <a:xfrm>
                <a:off x="9753600" y="4267200"/>
                <a:ext cx="952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52400">
                    <a:moveTo>
                      <a:pt x="95250" y="0"/>
                    </a:moveTo>
                    <a:lnTo>
                      <a:pt x="0" y="76200"/>
                    </a:lnTo>
                    <a:lnTo>
                      <a:pt x="95250" y="152400"/>
                    </a:lnTo>
                  </a:path>
                </a:pathLst>
              </a:custGeom>
              <a:noFill/>
              <a:ln w="19050">
                <a:solidFill>
                  <a:srgbClr val="7FA9D6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10415016" y="4325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数据循环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09600" y="4953000"/>
            <a:ext cx="10978896" cy="952500"/>
            <a:chOff x="609600" y="4953000"/>
            <a:chExt cx="10978896" cy="952500"/>
          </a:xfrm>
        </p:grpSpPr>
        <p:sp>
          <p:nvSpPr>
            <p:cNvPr id="63" name="Rectangle 63"/>
            <p:cNvSpPr/>
            <p:nvPr/>
          </p:nvSpPr>
          <p:spPr>
            <a:xfrm>
              <a:off x="609600" y="4953000"/>
              <a:ext cx="10972800" cy="952500"/>
            </a:xfrm>
            <a:prstGeom prst="roundRect">
              <a:avLst>
                <a:gd name="adj" fmla="val 12000"/>
              </a:avLst>
            </a:prstGeom>
            <a:noFill/>
            <a:ln w="9525">
              <a:solidFill>
                <a:srgbClr val="D8DEE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30580" y="50768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闭环关键指标</a:t>
              </a:r>
            </a:p>
          </p:txBody>
        </p:sp>
        <p:grpSp>
          <p:nvGrpSpPr>
            <p:cNvPr id="67" name="Group 67"/>
            <p:cNvGrpSpPr/>
            <p:nvPr/>
          </p:nvGrpSpPr>
          <p:grpSpPr>
            <a:xfrm>
              <a:off x="831342" y="5378768"/>
              <a:ext cx="1320603" cy="264033"/>
              <a:chOff x="831342" y="5378768"/>
              <a:chExt cx="1320603" cy="264033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831342" y="5378768"/>
                <a:ext cx="967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F6FB2"/>
                    </a:solidFill>
                    <a:latin typeface="Arial"/>
                    <a:ea typeface="Microsoft YaHei"/>
                    <a:cs typeface="Arial"/>
                  </a:rPr>
                  <a:t>端到端时长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1783842" y="5378768"/>
                <a:ext cx="3681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773"/>
                    </a:solidFill>
                    <a:latin typeface="Arial"/>
                    <a:ea typeface="Arial"/>
                    <a:cs typeface="Arial"/>
                  </a:rPr>
                  <a:t>&lt; 4h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3269742" y="5378768"/>
              <a:ext cx="1552156" cy="264033"/>
              <a:chOff x="3269742" y="5378768"/>
              <a:chExt cx="1552156" cy="264033"/>
            </a:xfrm>
          </p:grpSpPr>
          <p:sp>
            <p:nvSpPr>
              <p:cNvPr id="68" name="TextBox 68"/>
              <p:cNvSpPr txBox="1"/>
              <p:nvPr/>
            </p:nvSpPr>
            <p:spPr>
              <a:xfrm>
                <a:off x="3269742" y="5378768"/>
                <a:ext cx="967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2E8B57"/>
                    </a:solidFill>
                    <a:latin typeface="Arial"/>
                    <a:ea typeface="Microsoft YaHei"/>
                    <a:cs typeface="Arial"/>
                  </a:rPr>
                  <a:t>自动解决率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4317492" y="5378768"/>
                <a:ext cx="50440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773"/>
                    </a:solidFill>
                    <a:latin typeface="Arial"/>
                    <a:ea typeface="Arial"/>
                    <a:cs typeface="Arial"/>
                  </a:rPr>
                  <a:t>&gt; 70%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5555742" y="5378768"/>
              <a:ext cx="1497635" cy="264033"/>
              <a:chOff x="5555742" y="5378768"/>
              <a:chExt cx="1497635" cy="264033"/>
            </a:xfrm>
          </p:grpSpPr>
          <p:sp>
            <p:nvSpPr>
              <p:cNvPr id="71" name="TextBox 71"/>
              <p:cNvSpPr txBox="1"/>
              <p:nvPr/>
            </p:nvSpPr>
            <p:spPr>
              <a:xfrm>
                <a:off x="5555742" y="5378768"/>
                <a:ext cx="967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7324D"/>
                    </a:solidFill>
                    <a:latin typeface="Arial"/>
                    <a:ea typeface="Microsoft YaHei"/>
                    <a:cs typeface="Arial"/>
                  </a:rPr>
                  <a:t>线索转化率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6603492" y="537876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773"/>
                    </a:solidFill>
                    <a:latin typeface="Arial"/>
                    <a:ea typeface="Arial"/>
                    <a:cs typeface="Arial"/>
                  </a:rPr>
                  <a:t>+35%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7841742" y="5378768"/>
              <a:ext cx="1497635" cy="264033"/>
              <a:chOff x="7841742" y="5378768"/>
              <a:chExt cx="1497635" cy="264033"/>
            </a:xfrm>
          </p:grpSpPr>
          <p:sp>
            <p:nvSpPr>
              <p:cNvPr id="74" name="TextBox 74"/>
              <p:cNvSpPr txBox="1"/>
              <p:nvPr/>
            </p:nvSpPr>
            <p:spPr>
              <a:xfrm>
                <a:off x="7841742" y="5378768"/>
                <a:ext cx="967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7FA9D6"/>
                    </a:solidFill>
                    <a:latin typeface="Arial"/>
                    <a:ea typeface="Microsoft YaHei"/>
                    <a:cs typeface="Arial"/>
                  </a:rPr>
                  <a:t>数据完整率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8889492" y="537876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5B6773"/>
                    </a:solidFill>
                    <a:latin typeface="Arial"/>
                    <a:ea typeface="Arial"/>
                    <a:cs typeface="Arial"/>
                  </a:rPr>
                  <a:t>100%</a:t>
                </a:r>
              </a:p>
            </p:txBody>
          </p:sp>
        </p:grpSp>
        <p:sp>
          <p:nvSpPr>
            <p:cNvPr id="77" name="TextBox 77"/>
            <p:cNvSpPr txBox="1"/>
            <p:nvPr/>
          </p:nvSpPr>
          <p:spPr>
            <a:xfrm>
              <a:off x="9314688" y="55283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全流程可追踪、可量化、可复盘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604266" y="6554152"/>
            <a:ext cx="16498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agentflow_case01 · P06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259026" y="655415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4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7324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3504" y="203835"/>
            <a:ext cx="11728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1"/>
                </a:solidFill>
                <a:latin typeface="Arial"/>
                <a:ea typeface="Microsoft YaHei"/>
                <a:cs typeface="Arial"/>
              </a:rPr>
              <a:t>P07 · 商业价值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3598" y="612458"/>
            <a:ext cx="511631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ROI 不只体现在人效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3598" y="1069658"/>
            <a:ext cx="6147968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更体现在质量提升与平台复制</a:t>
            </a:r>
          </a:p>
        </p:txBody>
      </p:sp>
      <p:sp>
        <p:nvSpPr>
          <p:cNvPr id="7" name="Rectangle 7"/>
          <p:cNvSpPr/>
          <p:nvPr/>
        </p:nvSpPr>
        <p:spPr>
          <a:xfrm>
            <a:off x="609600" y="1600200"/>
            <a:ext cx="762000" cy="28575"/>
          </a:xfrm>
          <a:prstGeom prst="rect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00456" y="1710690"/>
            <a:ext cx="822411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6773"/>
                </a:solidFill>
                <a:latin typeface="Arial"/>
                <a:ea typeface="Microsoft YaHei"/>
                <a:cs typeface="Arial"/>
              </a:rPr>
              <a:t>短期看效率，中期看质量，长期看平台扩张 — 三层价值叠加才是完整 ROI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09600" y="2171700"/>
            <a:ext cx="3505200" cy="3619500"/>
            <a:chOff x="609600" y="2171700"/>
            <a:chExt cx="3505200" cy="3619500"/>
          </a:xfrm>
        </p:grpSpPr>
        <p:sp>
          <p:nvSpPr>
            <p:cNvPr id="9" name="Rectangle 9"/>
            <p:cNvSpPr/>
            <p:nvPr/>
          </p:nvSpPr>
          <p:spPr>
            <a:xfrm>
              <a:off x="609600" y="2171700"/>
              <a:ext cx="3505200" cy="3619500"/>
            </a:xfrm>
            <a:prstGeom prst="roundRect">
              <a:avLst>
                <a:gd name="adj" fmla="val 3261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171700"/>
              <a:ext cx="3505200" cy="95250"/>
            </a:xfrm>
            <a:prstGeom prst="roundRect">
              <a:avLst>
                <a:gd name="adj" fmla="val 50000"/>
              </a:avLst>
            </a:prstGeom>
            <a:solidFill>
              <a:srgbClr val="1F6FB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266950"/>
              <a:ext cx="3505200" cy="95250"/>
            </a:xfrm>
            <a:prstGeom prst="rect">
              <a:avLst/>
            </a:prstGeom>
            <a:solidFill>
              <a:srgbClr val="1F6FB2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57250" y="2533650"/>
              <a:ext cx="342900" cy="342900"/>
              <a:chOff x="857250" y="2533650"/>
              <a:chExt cx="342900" cy="34290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857250" y="2533650"/>
                <a:ext cx="342900" cy="342900"/>
              </a:xfrm>
              <a:prstGeom prst="ellipse">
                <a:avLst/>
              </a:prstGeom>
              <a:noFill/>
              <a:ln w="19050">
                <a:solidFill>
                  <a:srgbClr val="1F6FB2"/>
                </a:solidFill>
              </a:ln>
            </p:spPr>
          </p:sp>
          <p:sp>
            <p:nvSpPr>
              <p:cNvPr id="13" name="Polyline 13"/>
              <p:cNvSpPr/>
              <p:nvPr/>
            </p:nvSpPr>
            <p:spPr>
              <a:xfrm>
                <a:off x="1028700" y="260985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0"/>
                    </a:moveTo>
                    <a:lnTo>
                      <a:pt x="0" y="95250"/>
                    </a:lnTo>
                    <a:lnTo>
                      <a:pt x="76200" y="152400"/>
                    </a:lnTo>
                  </a:path>
                </a:pathLst>
              </a:custGeom>
              <a:noFill/>
              <a:ln w="19050">
                <a:solidFill>
                  <a:srgbClr val="1F6FB2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360932" y="24784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效率收益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1342" y="28260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短期价值 · 人力节省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62917" y="3051810"/>
              <a:ext cx="11985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F6FB2"/>
                  </a:solidFill>
                  <a:latin typeface="Cambria"/>
                  <a:ea typeface="Cambria"/>
                  <a:cs typeface="Cambria"/>
                </a:rPr>
                <a:t>60%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28394" y="36452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人力时间节省估算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1342" y="39309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响应效率提升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8200" y="4191000"/>
              <a:ext cx="3048000" cy="114300"/>
            </a:xfrm>
            <a:prstGeom prst="roundRect">
              <a:avLst>
                <a:gd name="adj" fmla="val 50000"/>
              </a:avLst>
            </a:prstGeom>
            <a:solidFill>
              <a:srgbClr val="D8DEE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38200" y="4191000"/>
              <a:ext cx="2667000" cy="114300"/>
            </a:xfrm>
            <a:prstGeom prst="roundRect">
              <a:avLst>
                <a:gd name="adj" fmla="val 50000"/>
              </a:avLst>
            </a:prstGeom>
            <a:solidFill>
              <a:srgbClr val="1F6FB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957066" y="41919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773"/>
                  </a:solidFill>
                  <a:latin typeface="Arial"/>
                  <a:ea typeface="Arial"/>
                  <a:cs typeface="Arial"/>
                </a:rPr>
                <a:t>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1342" y="44072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知识检索耗时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8200" y="4667250"/>
              <a:ext cx="3048000" cy="114300"/>
            </a:xfrm>
            <a:prstGeom prst="roundRect">
              <a:avLst>
                <a:gd name="adj" fmla="val 50000"/>
              </a:avLst>
            </a:prstGeom>
            <a:solidFill>
              <a:srgbClr val="D8DEE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2133600" cy="114300"/>
            </a:xfrm>
            <a:prstGeom prst="roundRect">
              <a:avLst>
                <a:gd name="adj" fmla="val 50000"/>
              </a:avLst>
            </a:prstGeom>
            <a:solidFill>
              <a:srgbClr val="7FA9D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57066" y="46682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773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342" y="4883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人工升级频次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38200" y="5143500"/>
              <a:ext cx="3048000" cy="114300"/>
            </a:xfrm>
            <a:prstGeom prst="roundRect">
              <a:avLst>
                <a:gd name="adj" fmla="val 50000"/>
              </a:avLst>
            </a:prstGeom>
            <a:solidFill>
              <a:srgbClr val="D8DEE6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38200" y="5143500"/>
              <a:ext cx="1524000" cy="114300"/>
            </a:xfrm>
            <a:prstGeom prst="roundRect">
              <a:avLst>
                <a:gd name="adj" fmla="val 50000"/>
              </a:avLst>
            </a:prstGeom>
            <a:solidFill>
              <a:srgbClr val="7FA9D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57066" y="51444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773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" y="5448300"/>
              <a:ext cx="3048000" cy="266700"/>
            </a:xfrm>
            <a:prstGeom prst="roundRect">
              <a:avLst>
                <a:gd name="adj" fmla="val 21429"/>
              </a:avLst>
            </a:prstGeom>
            <a:solidFill>
              <a:srgbClr val="1F6FB2">
                <a:alpha val="1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13967" y="5509260"/>
              <a:ext cx="12964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6FB2"/>
                  </a:solidFill>
                  <a:latin typeface="Arial"/>
                  <a:ea typeface="Microsoft YaHei"/>
                  <a:cs typeface="Arial"/>
                </a:rPr>
                <a:t>回收期：6-9 个月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4343400" y="2171700"/>
            <a:ext cx="3505200" cy="3619500"/>
            <a:chOff x="4343400" y="2171700"/>
            <a:chExt cx="3505200" cy="3619500"/>
          </a:xfrm>
        </p:grpSpPr>
        <p:sp>
          <p:nvSpPr>
            <p:cNvPr id="34" name="Rectangle 34"/>
            <p:cNvSpPr/>
            <p:nvPr/>
          </p:nvSpPr>
          <p:spPr>
            <a:xfrm>
              <a:off x="4343400" y="2171700"/>
              <a:ext cx="3505200" cy="3619500"/>
            </a:xfrm>
            <a:prstGeom prst="roundRect">
              <a:avLst>
                <a:gd name="adj" fmla="val 3261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4343400" y="2171700"/>
              <a:ext cx="3505200" cy="9525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2266950"/>
              <a:ext cx="3505200" cy="95250"/>
            </a:xfrm>
            <a:prstGeom prst="rect">
              <a:avLst/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37" name="Polygon 37"/>
            <p:cNvSpPr/>
            <p:nvPr/>
          </p:nvSpPr>
          <p:spPr>
            <a:xfrm>
              <a:off x="4619625" y="255270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0"/>
                  </a:moveTo>
                  <a:lnTo>
                    <a:pt x="180975" y="95250"/>
                  </a:lnTo>
                  <a:lnTo>
                    <a:pt x="285750" y="104775"/>
                  </a:lnTo>
                  <a:lnTo>
                    <a:pt x="209550" y="180975"/>
                  </a:lnTo>
                  <a:lnTo>
                    <a:pt x="228600" y="285750"/>
                  </a:lnTo>
                  <a:lnTo>
                    <a:pt x="142875" y="228600"/>
                  </a:lnTo>
                  <a:lnTo>
                    <a:pt x="57150" y="285750"/>
                  </a:lnTo>
                  <a:lnTo>
                    <a:pt x="76200" y="180975"/>
                  </a:lnTo>
                  <a:lnTo>
                    <a:pt x="0" y="104775"/>
                  </a:lnTo>
                  <a:lnTo>
                    <a:pt x="104775" y="95250"/>
                  </a:lnTo>
                  <a:close/>
                </a:path>
              </a:pathLst>
            </a:custGeom>
            <a:noFill/>
            <a:ln w="19050">
              <a:solidFill>
                <a:srgbClr val="2E8B57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094732" y="24784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质量收益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65142" y="282606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中期价值 · 体验与准确性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24216" y="3051810"/>
              <a:ext cx="154356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2E8B57"/>
                  </a:solidFill>
                  <a:latin typeface="Cambria"/>
                  <a:ea typeface="Cambria"/>
                  <a:cs typeface="Cambria"/>
                </a:rPr>
                <a:t>+35%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71326" y="3645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高意向线索占比提升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65142" y="3930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客户满意度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572000" y="4191000"/>
              <a:ext cx="3048000" cy="114300"/>
            </a:xfrm>
            <a:prstGeom prst="roundRect">
              <a:avLst>
                <a:gd name="adj" fmla="val 50000"/>
              </a:avLst>
            </a:prstGeom>
            <a:solidFill>
              <a:srgbClr val="D8DEE6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572000" y="4191000"/>
              <a:ext cx="2590800" cy="11430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90866" y="41919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773"/>
                  </a:solidFill>
                  <a:latin typeface="Arial"/>
                  <a:ea typeface="Arial"/>
                  <a:cs typeface="Arial"/>
                </a:rPr>
                <a:t>↑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65142" y="4407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答案准确率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572000" y="4667250"/>
              <a:ext cx="3048000" cy="114300"/>
            </a:xfrm>
            <a:prstGeom prst="roundRect">
              <a:avLst>
                <a:gd name="adj" fmla="val 50000"/>
              </a:avLst>
            </a:prstGeom>
            <a:solidFill>
              <a:srgbClr val="D8DEE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572000" y="4667250"/>
              <a:ext cx="2743200" cy="11430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690866" y="46682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773"/>
                  </a:solidFill>
                  <a:latin typeface="Arial"/>
                  <a:ea typeface="Arial"/>
                  <a:cs typeface="Arial"/>
                </a:rPr>
                <a:t>↑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65142" y="48834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升级误判率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572000" y="5143500"/>
              <a:ext cx="3048000" cy="114300"/>
            </a:xfrm>
            <a:prstGeom prst="roundRect">
              <a:avLst>
                <a:gd name="adj" fmla="val 50000"/>
              </a:avLst>
            </a:prstGeom>
            <a:solidFill>
              <a:srgbClr val="D8DEE6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572000" y="5143500"/>
              <a:ext cx="1066800" cy="11430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690866" y="51444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773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572000" y="5448300"/>
              <a:ext cx="3048000" cy="266700"/>
            </a:xfrm>
            <a:prstGeom prst="roundRect">
              <a:avLst>
                <a:gd name="adj" fmla="val 21429"/>
              </a:avLst>
            </a:prstGeom>
            <a:solidFill>
              <a:srgbClr val="2E8B57">
                <a:alpha val="10000"/>
              </a:srgbClr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443728" y="55092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E8B57"/>
                  </a:solidFill>
                  <a:latin typeface="Arial"/>
                  <a:ea typeface="Microsoft YaHei"/>
                  <a:cs typeface="Arial"/>
                </a:rPr>
                <a:t>品牌口碑正向积累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077200" y="2171700"/>
            <a:ext cx="3505200" cy="3619500"/>
            <a:chOff x="8077200" y="2171700"/>
            <a:chExt cx="3505200" cy="3619500"/>
          </a:xfrm>
        </p:grpSpPr>
        <p:sp>
          <p:nvSpPr>
            <p:cNvPr id="57" name="Rectangle 57"/>
            <p:cNvSpPr/>
            <p:nvPr/>
          </p:nvSpPr>
          <p:spPr>
            <a:xfrm>
              <a:off x="8077200" y="2171700"/>
              <a:ext cx="3505200" cy="3619500"/>
            </a:xfrm>
            <a:prstGeom prst="roundRect">
              <a:avLst>
                <a:gd name="adj" fmla="val 3261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8077200" y="2171700"/>
              <a:ext cx="3505200" cy="95250"/>
            </a:xfrm>
            <a:prstGeom prst="roundRect">
              <a:avLst>
                <a:gd name="adj" fmla="val 50000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077200" y="2266950"/>
              <a:ext cx="3505200" cy="95250"/>
            </a:xfrm>
            <a:prstGeom prst="rect">
              <a:avLst/>
            </a:prstGeom>
            <a:solidFill>
              <a:srgbClr val="17324D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8305800" y="2514600"/>
              <a:ext cx="276225" cy="266700"/>
              <a:chOff x="8305800" y="2514600"/>
              <a:chExt cx="276225" cy="2667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8305800" y="2514600"/>
                <a:ext cx="209550" cy="17145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17324D"/>
                </a:solidFill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8362950" y="2609850"/>
                <a:ext cx="209550" cy="171450"/>
              </a:xfrm>
              <a:prstGeom prst="roundRect">
                <a:avLst>
                  <a:gd name="adj" fmla="val 16667"/>
                </a:avLst>
              </a:prstGeom>
              <a:noFill/>
              <a:ln w="19050">
                <a:solidFill>
                  <a:srgbClr val="17324D"/>
                </a:solidFill>
              </a:ln>
            </p:spPr>
          </p:sp>
          <p:sp>
            <p:nvSpPr>
              <p:cNvPr id="62" name="Line 62"/>
              <p:cNvSpPr/>
              <p:nvPr/>
            </p:nvSpPr>
            <p:spPr>
              <a:xfrm>
                <a:off x="8496300" y="2562225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7324D"/>
                </a:solidFill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8572500" y="2562225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17324D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8828532" y="24784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复制收益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98942" y="282606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长期价值 · 平台规模效应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465747" y="3051810"/>
              <a:ext cx="72810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7324D"/>
                  </a:solidFill>
                  <a:latin typeface="Cambria"/>
                  <a:ea typeface="Cambria"/>
                  <a:cs typeface="Cambria"/>
                </a:rPr>
                <a:t>3×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005126" y="36452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新场景部署效率提升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298942" y="3930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模板复用率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305800" y="4191000"/>
              <a:ext cx="3048000" cy="114300"/>
            </a:xfrm>
            <a:prstGeom prst="roundRect">
              <a:avLst>
                <a:gd name="adj" fmla="val 50000"/>
              </a:avLst>
            </a:prstGeom>
            <a:solidFill>
              <a:srgbClr val="D8DEE6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305800" y="4191000"/>
              <a:ext cx="2743200" cy="114300"/>
            </a:xfrm>
            <a:prstGeom prst="roundRect">
              <a:avLst>
                <a:gd name="adj" fmla="val 50000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424666" y="41919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773"/>
                  </a:solidFill>
                  <a:latin typeface="Arial"/>
                  <a:ea typeface="Arial"/>
                  <a:cs typeface="Arial"/>
                </a:rPr>
                <a:t>↑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298942" y="4407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知识库积累速度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305800" y="4667250"/>
              <a:ext cx="3048000" cy="114300"/>
            </a:xfrm>
            <a:prstGeom prst="roundRect">
              <a:avLst>
                <a:gd name="adj" fmla="val 50000"/>
              </a:avLst>
            </a:prstGeom>
            <a:solidFill>
              <a:srgbClr val="D8DEE6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305800" y="4667250"/>
              <a:ext cx="2438400" cy="114300"/>
            </a:xfrm>
            <a:prstGeom prst="roundRect">
              <a:avLst>
                <a:gd name="adj" fmla="val 50000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1424666" y="46682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773"/>
                  </a:solidFill>
                  <a:latin typeface="Arial"/>
                  <a:ea typeface="Arial"/>
                  <a:cs typeface="Arial"/>
                </a:rPr>
                <a:t>↑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298942" y="4883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跨部门复制成本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305800" y="5143500"/>
              <a:ext cx="3048000" cy="114300"/>
            </a:xfrm>
            <a:prstGeom prst="roundRect">
              <a:avLst>
                <a:gd name="adj" fmla="val 50000"/>
              </a:avLst>
            </a:prstGeom>
            <a:solidFill>
              <a:srgbClr val="D8DEE6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8305800" y="5143500"/>
              <a:ext cx="1219200" cy="114300"/>
            </a:xfrm>
            <a:prstGeom prst="roundRect">
              <a:avLst>
                <a:gd name="adj" fmla="val 50000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1424666" y="51444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773"/>
                  </a:solidFill>
                  <a:latin typeface="Arial"/>
                  <a:ea typeface="Arial"/>
                  <a:cs typeface="Arial"/>
                </a:rPr>
                <a:t>↓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305800" y="5448300"/>
              <a:ext cx="3048000" cy="266700"/>
            </a:xfrm>
            <a:prstGeom prst="roundRect">
              <a:avLst>
                <a:gd name="adj" fmla="val 21429"/>
              </a:avLst>
            </a:prstGeom>
            <a:solidFill>
              <a:srgbClr val="17324D">
                <a:alpha val="10000"/>
              </a:srgbClr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339072" y="55092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平台网络效应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604266" y="6554152"/>
            <a:ext cx="16498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agentflow_case01 · P07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259026" y="655415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5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7324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3504" y="203835"/>
            <a:ext cx="11728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1"/>
                </a:solidFill>
                <a:latin typeface="Arial"/>
                <a:ea typeface="Microsoft YaHei"/>
                <a:cs typeface="Arial"/>
              </a:rPr>
              <a:t>P08 · 商业路径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3598" y="612458"/>
            <a:ext cx="802980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最优商业化路径：逐层放大已验证能力</a:t>
            </a:r>
          </a:p>
        </p:txBody>
      </p:sp>
      <p:sp>
        <p:nvSpPr>
          <p:cNvPr id="6" name="Rectangle 6"/>
          <p:cNvSpPr/>
          <p:nvPr/>
        </p:nvSpPr>
        <p:spPr>
          <a:xfrm>
            <a:off x="609600" y="1143000"/>
            <a:ext cx="762000" cy="28575"/>
          </a:xfrm>
          <a:prstGeom prst="rect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00456" y="1253490"/>
            <a:ext cx="545828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6773"/>
                </a:solidFill>
                <a:latin typeface="Arial"/>
                <a:ea typeface="Microsoft YaHei"/>
                <a:cs typeface="Arial"/>
              </a:rPr>
              <a:t>订阅费 + 调度量计费 + 实施服务费 → 稳定收入结构</a:t>
            </a:r>
          </a:p>
        </p:txBody>
      </p:sp>
      <p:sp>
        <p:nvSpPr>
          <p:cNvPr id="8" name="Rectangle 8"/>
          <p:cNvSpPr/>
          <p:nvPr/>
        </p:nvSpPr>
        <p:spPr>
          <a:xfrm>
            <a:off x="609600" y="2362200"/>
            <a:ext cx="10972800" cy="76200"/>
          </a:xfrm>
          <a:prstGeom prst="roundRect">
            <a:avLst>
              <a:gd name="adj" fmla="val 50000"/>
            </a:avLst>
          </a:prstGeom>
          <a:solidFill>
            <a:srgbClr val="D8DEE6"/>
          </a:solidFill>
          <a:ln>
            <a:noFill/>
          </a:ln>
        </p:spPr>
      </p:sp>
      <p:grpSp>
        <p:nvGrpSpPr>
          <p:cNvPr id="32" name="Group 32"/>
          <p:cNvGrpSpPr/>
          <p:nvPr/>
        </p:nvGrpSpPr>
        <p:grpSpPr>
          <a:xfrm>
            <a:off x="609600" y="2209800"/>
            <a:ext cx="2286000" cy="3140011"/>
            <a:chOff x="609600" y="2209800"/>
            <a:chExt cx="2286000" cy="3140011"/>
          </a:xfrm>
        </p:grpSpPr>
        <p:sp>
          <p:nvSpPr>
            <p:cNvPr id="9" name="Ellipse 9"/>
            <p:cNvSpPr/>
            <p:nvPr/>
          </p:nvSpPr>
          <p:spPr>
            <a:xfrm>
              <a:off x="1143000" y="2209800"/>
              <a:ext cx="457200" cy="457200"/>
            </a:xfrm>
            <a:prstGeom prst="ellipse">
              <a:avLst/>
            </a:prstGeom>
            <a:solidFill>
              <a:srgbClr val="1F6FB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88527" y="2310765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0000"/>
                  </a:solidFill>
                  <a:latin typeface="Cambria"/>
                  <a:ea typeface="Cambria"/>
                  <a:cs typeface="Cambria"/>
                </a:rPr>
                <a:t>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781300"/>
              <a:ext cx="2286000" cy="2476500"/>
            </a:xfrm>
            <a:prstGeom prst="roundRect">
              <a:avLst>
                <a:gd name="adj" fmla="val 5000"/>
              </a:avLst>
            </a:prstGeom>
            <a:solidFill>
              <a:srgbClr val="EEF1F4"/>
            </a:solidFill>
            <a:ln w="19050">
              <a:solidFill>
                <a:srgbClr val="1F6FB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9600" y="2781300"/>
              <a:ext cx="2286000" cy="95250"/>
            </a:xfrm>
            <a:prstGeom prst="roundRect">
              <a:avLst>
                <a:gd name="adj" fmla="val 50000"/>
              </a:avLst>
            </a:prstGeom>
            <a:solidFill>
              <a:srgbClr val="1F6FB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" y="2876550"/>
              <a:ext cx="2286000" cy="95250"/>
            </a:xfrm>
            <a:prstGeom prst="rect">
              <a:avLst/>
            </a:prstGeom>
            <a:solidFill>
              <a:srgbClr val="1F6FB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61145" y="29841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单部门试点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24560" y="3299460"/>
              <a:ext cx="12560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客服 or 销售支持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23900" y="3581400"/>
              <a:ext cx="2057400" cy="9525"/>
            </a:xfrm>
            <a:prstGeom prst="rect">
              <a:avLst/>
            </a:prstGeom>
            <a:solidFill>
              <a:srgbClr val="D8DEE6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62000" y="3737610"/>
              <a:ext cx="1475080" cy="234696"/>
              <a:chOff x="762000" y="3737610"/>
              <a:chExt cx="1475080" cy="234696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762000" y="3771900"/>
                <a:ext cx="76200" cy="76200"/>
              </a:xfrm>
              <a:prstGeom prst="ellipse">
                <a:avLst/>
              </a:prstGeom>
              <a:solidFill>
                <a:srgbClr val="1F6FB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08304" y="373761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选定 1 个高频场景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62000" y="4042410"/>
              <a:ext cx="1612514" cy="234696"/>
              <a:chOff x="762000" y="4042410"/>
              <a:chExt cx="1612514" cy="234696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762000" y="4076700"/>
                <a:ext cx="76200" cy="76200"/>
              </a:xfrm>
              <a:prstGeom prst="ellipse">
                <a:avLst/>
              </a:prstGeom>
              <a:solidFill>
                <a:srgbClr val="1F6FB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08304" y="4042410"/>
                <a:ext cx="146621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Agent + 知识库上线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4347210"/>
              <a:ext cx="1588160" cy="234696"/>
              <a:chOff x="762000" y="4347210"/>
              <a:chExt cx="1588160" cy="234696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762000" y="4381500"/>
                <a:ext cx="76200" cy="76200"/>
              </a:xfrm>
              <a:prstGeom prst="ellipse">
                <a:avLst/>
              </a:prstGeom>
              <a:solidFill>
                <a:srgbClr val="1F6FB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08304" y="4347210"/>
                <a:ext cx="14418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4 周内跑通基础闭环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62000" y="4652010"/>
              <a:ext cx="1558138" cy="234696"/>
              <a:chOff x="762000" y="4652010"/>
              <a:chExt cx="1558138" cy="234696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762000" y="4686300"/>
                <a:ext cx="76200" cy="76200"/>
              </a:xfrm>
              <a:prstGeom prst="ellipse">
                <a:avLst/>
              </a:prstGeom>
              <a:solidFill>
                <a:srgbClr val="1F6FB2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08304" y="4652010"/>
                <a:ext cx="141183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验证核心 ROI 假设</a:t>
                </a:r>
              </a:p>
            </p:txBody>
          </p:sp>
        </p:grpSp>
        <p:sp>
          <p:nvSpPr>
            <p:cNvPr id="29" name="Rectangle 29"/>
            <p:cNvSpPr/>
            <p:nvPr/>
          </p:nvSpPr>
          <p:spPr>
            <a:xfrm>
              <a:off x="723900" y="4914900"/>
              <a:ext cx="2057400" cy="266700"/>
            </a:xfrm>
            <a:prstGeom prst="roundRect">
              <a:avLst>
                <a:gd name="adj" fmla="val 21429"/>
              </a:avLst>
            </a:prstGeom>
            <a:solidFill>
              <a:srgbClr val="1F6FB2">
                <a:alpha val="1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42644" y="49758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6FB2"/>
                  </a:solidFill>
                  <a:latin typeface="Arial"/>
                  <a:ea typeface="Microsoft YaHei"/>
                  <a:cs typeface="Arial"/>
                </a:rPr>
                <a:t>实施服务费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6747" y="5144452"/>
              <a:ext cx="8517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周期：4-8 周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895600" y="2895600"/>
            <a:ext cx="571500" cy="114300"/>
            <a:chOff x="2895600" y="2895600"/>
            <a:chExt cx="571500" cy="114300"/>
          </a:xfrm>
        </p:grpSpPr>
        <p:sp>
          <p:nvSpPr>
            <p:cNvPr id="33" name="Line 33"/>
            <p:cNvSpPr/>
            <p:nvPr/>
          </p:nvSpPr>
          <p:spPr>
            <a:xfrm>
              <a:off x="2895600" y="2952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7FA9D6"/>
              </a:solidFill>
            </a:ln>
          </p:spPr>
        </p:sp>
        <p:sp>
          <p:nvSpPr>
            <p:cNvPr id="34" name="Polyline 34"/>
            <p:cNvSpPr/>
            <p:nvPr/>
          </p:nvSpPr>
          <p:spPr>
            <a:xfrm>
              <a:off x="3390900" y="289560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7FA9D6"/>
              </a:solidFill>
            </a:ln>
          </p:spPr>
        </p:sp>
      </p:grpSp>
      <p:grpSp>
        <p:nvGrpSpPr>
          <p:cNvPr id="59" name="Group 59"/>
          <p:cNvGrpSpPr/>
          <p:nvPr/>
        </p:nvGrpSpPr>
        <p:grpSpPr>
          <a:xfrm>
            <a:off x="3467100" y="2209800"/>
            <a:ext cx="2286000" cy="3140011"/>
            <a:chOff x="3467100" y="2209800"/>
            <a:chExt cx="2286000" cy="3140011"/>
          </a:xfrm>
        </p:grpSpPr>
        <p:sp>
          <p:nvSpPr>
            <p:cNvPr id="36" name="Ellipse 36"/>
            <p:cNvSpPr/>
            <p:nvPr/>
          </p:nvSpPr>
          <p:spPr>
            <a:xfrm>
              <a:off x="4000500" y="2209800"/>
              <a:ext cx="457200" cy="457200"/>
            </a:xfrm>
            <a:prstGeom prst="ellipse">
              <a:avLst/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146027" y="2310765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0000"/>
                  </a:solidFill>
                  <a:latin typeface="Cambria"/>
                  <a:ea typeface="Cambria"/>
                  <a:cs typeface="Cambria"/>
                </a:rPr>
                <a:t>2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467100" y="2781300"/>
              <a:ext cx="2286000" cy="2476500"/>
            </a:xfrm>
            <a:prstGeom prst="roundRect">
              <a:avLst>
                <a:gd name="adj" fmla="val 5000"/>
              </a:avLst>
            </a:prstGeom>
            <a:solidFill>
              <a:srgbClr val="EEF1F4"/>
            </a:solidFill>
            <a:ln w="19050">
              <a:solidFill>
                <a:srgbClr val="2E8B57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3467100" y="2781300"/>
              <a:ext cx="2286000" cy="9525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467100" y="2876550"/>
              <a:ext cx="2286000" cy="95250"/>
            </a:xfrm>
            <a:prstGeom prst="rect">
              <a:avLst/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018645" y="29841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双场景联动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64940" y="32994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客服 + 销售支持协同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581400" y="3581400"/>
              <a:ext cx="2057400" cy="9525"/>
            </a:xfrm>
            <a:prstGeom prst="rect">
              <a:avLst/>
            </a:prstGeom>
            <a:solidFill>
              <a:srgbClr val="D8DEE6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3619500" y="3737610"/>
              <a:ext cx="1289304" cy="234696"/>
              <a:chOff x="3619500" y="3737610"/>
              <a:chExt cx="1289304" cy="234696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3619500" y="3771900"/>
                <a:ext cx="76200" cy="76200"/>
              </a:xfrm>
              <a:prstGeom prst="ellipse">
                <a:avLst/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3765804" y="37376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跨场景闭环跑通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3619500" y="4042410"/>
              <a:ext cx="1612392" cy="234696"/>
              <a:chOff x="3619500" y="4042410"/>
              <a:chExt cx="1612392" cy="234696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3619500" y="4076700"/>
                <a:ext cx="76200" cy="76200"/>
              </a:xfrm>
              <a:prstGeom prst="ellipse">
                <a:avLst/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3765804" y="404241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数据互通与线索同步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3619500" y="4347210"/>
              <a:ext cx="1677619" cy="234696"/>
              <a:chOff x="3619500" y="4347210"/>
              <a:chExt cx="1677619" cy="234696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3619500" y="4381500"/>
                <a:ext cx="76200" cy="76200"/>
              </a:xfrm>
              <a:prstGeom prst="ellipse">
                <a:avLst/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3765804" y="4347210"/>
                <a:ext cx="153131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ROI 数据可量化呈现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3619500" y="4652010"/>
              <a:ext cx="1265072" cy="234696"/>
              <a:chOff x="3619500" y="4652010"/>
              <a:chExt cx="1265072" cy="234696"/>
            </a:xfrm>
          </p:grpSpPr>
          <p:sp>
            <p:nvSpPr>
              <p:cNvPr id="53" name="Ellipse 53"/>
              <p:cNvSpPr/>
              <p:nvPr/>
            </p:nvSpPr>
            <p:spPr>
              <a:xfrm>
                <a:off x="3619500" y="4686300"/>
                <a:ext cx="76200" cy="76200"/>
              </a:xfrm>
              <a:prstGeom prst="ellipse">
                <a:avLst/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3765804" y="4652010"/>
                <a:ext cx="11187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→ 正式订阅合同</a:t>
                </a:r>
              </a:p>
            </p:txBody>
          </p:sp>
        </p:grpSp>
        <p:sp>
          <p:nvSpPr>
            <p:cNvPr id="56" name="Rectangle 56"/>
            <p:cNvSpPr/>
            <p:nvPr/>
          </p:nvSpPr>
          <p:spPr>
            <a:xfrm>
              <a:off x="3581400" y="4914900"/>
              <a:ext cx="2057400" cy="266700"/>
            </a:xfrm>
            <a:prstGeom prst="roundRect">
              <a:avLst>
                <a:gd name="adj" fmla="val 21429"/>
              </a:avLst>
            </a:prstGeom>
            <a:solidFill>
              <a:srgbClr val="2E8B57">
                <a:alpha val="10000"/>
              </a:srgb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038600" y="49758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E8B57"/>
                  </a:solidFill>
                  <a:latin typeface="Arial"/>
                  <a:ea typeface="Microsoft YaHei"/>
                  <a:cs typeface="Arial"/>
                </a:rPr>
                <a:t>订阅费（年框）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113571" y="5144452"/>
              <a:ext cx="993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周期：3-6 个月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53100" y="2895600"/>
            <a:ext cx="571500" cy="114300"/>
            <a:chOff x="5753100" y="2895600"/>
            <a:chExt cx="571500" cy="114300"/>
          </a:xfrm>
        </p:grpSpPr>
        <p:sp>
          <p:nvSpPr>
            <p:cNvPr id="60" name="Line 60"/>
            <p:cNvSpPr/>
            <p:nvPr/>
          </p:nvSpPr>
          <p:spPr>
            <a:xfrm>
              <a:off x="5753100" y="2952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7FA9D6"/>
              </a:solidFill>
            </a:ln>
          </p:spPr>
        </p:sp>
        <p:sp>
          <p:nvSpPr>
            <p:cNvPr id="61" name="Polyline 61"/>
            <p:cNvSpPr/>
            <p:nvPr/>
          </p:nvSpPr>
          <p:spPr>
            <a:xfrm>
              <a:off x="6248400" y="289560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7FA9D6"/>
              </a:solidFill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6324600" y="2209800"/>
            <a:ext cx="2286000" cy="3140011"/>
            <a:chOff x="6324600" y="2209800"/>
            <a:chExt cx="2286000" cy="3140011"/>
          </a:xfrm>
        </p:grpSpPr>
        <p:sp>
          <p:nvSpPr>
            <p:cNvPr id="63" name="Ellipse 63"/>
            <p:cNvSpPr/>
            <p:nvPr/>
          </p:nvSpPr>
          <p:spPr>
            <a:xfrm>
              <a:off x="6858000" y="2209800"/>
              <a:ext cx="457200" cy="457200"/>
            </a:xfrm>
            <a:prstGeom prst="ellipse">
              <a:avLst/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003527" y="2310765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0000"/>
                  </a:solidFill>
                  <a:latin typeface="Cambria"/>
                  <a:ea typeface="Cambria"/>
                  <a:cs typeface="Cambria"/>
                </a:rPr>
                <a:t>3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324600" y="2781300"/>
              <a:ext cx="2286000" cy="2476500"/>
            </a:xfrm>
            <a:prstGeom prst="roundRect">
              <a:avLst>
                <a:gd name="adj" fmla="val 5000"/>
              </a:avLst>
            </a:prstGeom>
            <a:solidFill>
              <a:srgbClr val="EEF1F4"/>
            </a:solidFill>
            <a:ln w="19050">
              <a:solidFill>
                <a:srgbClr val="17324D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324600" y="2781300"/>
              <a:ext cx="2286000" cy="95250"/>
            </a:xfrm>
            <a:prstGeom prst="roundRect">
              <a:avLst>
                <a:gd name="adj" fmla="val 50000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324600" y="2876550"/>
              <a:ext cx="2286000" cy="95250"/>
            </a:xfrm>
            <a:prstGeom prst="rect">
              <a:avLst/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992760" y="29841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模板沉淀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815328" y="32994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跨行业可复用模板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438900" y="3581400"/>
              <a:ext cx="2057400" cy="9525"/>
            </a:xfrm>
            <a:prstGeom prst="rect">
              <a:avLst/>
            </a:prstGeom>
            <a:solidFill>
              <a:srgbClr val="D8DEE6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477000" y="3737610"/>
              <a:ext cx="1289304" cy="234696"/>
              <a:chOff x="6477000" y="3737610"/>
              <a:chExt cx="1289304" cy="234696"/>
            </a:xfrm>
          </p:grpSpPr>
          <p:sp>
            <p:nvSpPr>
              <p:cNvPr id="71" name="Ellipse 71"/>
              <p:cNvSpPr/>
              <p:nvPr/>
            </p:nvSpPr>
            <p:spPr>
              <a:xfrm>
                <a:off x="6477000" y="3771900"/>
                <a:ext cx="76200" cy="76200"/>
              </a:xfrm>
              <a:prstGeom prst="ellipse">
                <a:avLst/>
              </a:prstGeom>
              <a:solidFill>
                <a:srgbClr val="17324D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6623304" y="37376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最佳实践模板化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6477000" y="4042410"/>
              <a:ext cx="1612392" cy="234696"/>
              <a:chOff x="6477000" y="4042410"/>
              <a:chExt cx="1612392" cy="234696"/>
            </a:xfrm>
          </p:grpSpPr>
          <p:sp>
            <p:nvSpPr>
              <p:cNvPr id="74" name="Ellipse 74"/>
              <p:cNvSpPr/>
              <p:nvPr/>
            </p:nvSpPr>
            <p:spPr>
              <a:xfrm>
                <a:off x="6477000" y="4076700"/>
                <a:ext cx="76200" cy="76200"/>
              </a:xfrm>
              <a:prstGeom prst="ellipse">
                <a:avLst/>
              </a:prstGeom>
              <a:solidFill>
                <a:srgbClr val="17324D"/>
              </a:solidFill>
              <a:ln>
                <a:noFill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6623304" y="4042410"/>
                <a:ext cx="14660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新客户部署周期缩短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6477000" y="4347210"/>
              <a:ext cx="1450848" cy="234696"/>
              <a:chOff x="6477000" y="4347210"/>
              <a:chExt cx="1450848" cy="234696"/>
            </a:xfrm>
          </p:grpSpPr>
          <p:sp>
            <p:nvSpPr>
              <p:cNvPr id="77" name="Ellipse 77"/>
              <p:cNvSpPr/>
              <p:nvPr/>
            </p:nvSpPr>
            <p:spPr>
              <a:xfrm>
                <a:off x="6477000" y="4381500"/>
                <a:ext cx="76200" cy="76200"/>
              </a:xfrm>
              <a:prstGeom prst="ellipse">
                <a:avLst/>
              </a:prstGeom>
              <a:solidFill>
                <a:srgbClr val="17324D"/>
              </a:solidFill>
              <a:ln>
                <a:noFill/>
              </a:ln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6623304" y="4347210"/>
                <a:ext cx="13045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行业解决方案打包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6477000" y="4652010"/>
              <a:ext cx="1426616" cy="234696"/>
              <a:chOff x="6477000" y="4652010"/>
              <a:chExt cx="1426616" cy="234696"/>
            </a:xfrm>
          </p:grpSpPr>
          <p:sp>
            <p:nvSpPr>
              <p:cNvPr id="80" name="Ellipse 80"/>
              <p:cNvSpPr/>
              <p:nvPr/>
            </p:nvSpPr>
            <p:spPr>
              <a:xfrm>
                <a:off x="6477000" y="4686300"/>
                <a:ext cx="76200" cy="76200"/>
              </a:xfrm>
              <a:prstGeom prst="ellipse">
                <a:avLst/>
              </a:prstGeom>
              <a:solidFill>
                <a:srgbClr val="17324D"/>
              </a:solidFill>
              <a:ln>
                <a:noFill/>
              </a:ln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6623304" y="4652010"/>
                <a:ext cx="12803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→ 调度量计费引入</a:t>
                </a:r>
              </a:p>
            </p:txBody>
          </p:sp>
        </p:grpSp>
        <p:sp>
          <p:nvSpPr>
            <p:cNvPr id="83" name="Rectangle 83"/>
            <p:cNvSpPr/>
            <p:nvPr/>
          </p:nvSpPr>
          <p:spPr>
            <a:xfrm>
              <a:off x="6438900" y="4914900"/>
              <a:ext cx="2057400" cy="266700"/>
            </a:xfrm>
            <a:prstGeom prst="roundRect">
              <a:avLst>
                <a:gd name="adj" fmla="val 21429"/>
              </a:avLst>
            </a:prstGeom>
            <a:solidFill>
              <a:srgbClr val="17324D">
                <a:alpha val="10000"/>
              </a:srgbClr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964756" y="497586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订阅 + 调度量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971071" y="5144452"/>
              <a:ext cx="9930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周期：3-6 个月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610600" y="2895600"/>
            <a:ext cx="571500" cy="114300"/>
            <a:chOff x="8610600" y="2895600"/>
            <a:chExt cx="571500" cy="114300"/>
          </a:xfrm>
        </p:grpSpPr>
        <p:sp>
          <p:nvSpPr>
            <p:cNvPr id="87" name="Line 87"/>
            <p:cNvSpPr/>
            <p:nvPr/>
          </p:nvSpPr>
          <p:spPr>
            <a:xfrm>
              <a:off x="8610600" y="2952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7FA9D6"/>
              </a:solidFill>
            </a:ln>
          </p:spPr>
        </p:sp>
        <p:sp>
          <p:nvSpPr>
            <p:cNvPr id="88" name="Polyline 88"/>
            <p:cNvSpPr/>
            <p:nvPr/>
          </p:nvSpPr>
          <p:spPr>
            <a:xfrm>
              <a:off x="9105900" y="289560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7FA9D6"/>
              </a:solidFill>
            </a:ln>
          </p:spPr>
        </p:sp>
      </p:grpSp>
      <p:grpSp>
        <p:nvGrpSpPr>
          <p:cNvPr id="113" name="Group 113"/>
          <p:cNvGrpSpPr/>
          <p:nvPr/>
        </p:nvGrpSpPr>
        <p:grpSpPr>
          <a:xfrm>
            <a:off x="9182100" y="2209800"/>
            <a:ext cx="2400300" cy="3140011"/>
            <a:chOff x="9182100" y="2209800"/>
            <a:chExt cx="2400300" cy="3140011"/>
          </a:xfrm>
        </p:grpSpPr>
        <p:sp>
          <p:nvSpPr>
            <p:cNvPr id="90" name="Ellipse 90"/>
            <p:cNvSpPr/>
            <p:nvPr/>
          </p:nvSpPr>
          <p:spPr>
            <a:xfrm>
              <a:off x="9715500" y="2209800"/>
              <a:ext cx="457200" cy="457200"/>
            </a:xfrm>
            <a:prstGeom prst="ellipse">
              <a:avLst/>
            </a:prstGeom>
            <a:solidFill>
              <a:srgbClr val="7FA9D6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861027" y="2310765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0000"/>
                  </a:solidFill>
                  <a:latin typeface="Cambria"/>
                  <a:ea typeface="Cambria"/>
                  <a:cs typeface="Cambria"/>
                </a:rPr>
                <a:t>4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9182100" y="2781300"/>
              <a:ext cx="2400300" cy="2476500"/>
            </a:xfrm>
            <a:prstGeom prst="roundRect">
              <a:avLst>
                <a:gd name="adj" fmla="val 4762"/>
              </a:avLst>
            </a:prstGeom>
            <a:solidFill>
              <a:srgbClr val="EEF1F4"/>
            </a:solidFill>
            <a:ln w="19050">
              <a:solidFill>
                <a:srgbClr val="7FA9D6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9182100" y="2781300"/>
              <a:ext cx="2400300" cy="95250"/>
            </a:xfrm>
            <a:prstGeom prst="roundRect">
              <a:avLst>
                <a:gd name="adj" fmla="val 50000"/>
              </a:avLst>
            </a:prstGeom>
            <a:solidFill>
              <a:srgbClr val="7FA9D6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9182100" y="2876550"/>
              <a:ext cx="2400300" cy="95250"/>
            </a:xfrm>
            <a:prstGeom prst="rect">
              <a:avLst/>
            </a:prstGeom>
            <a:solidFill>
              <a:srgbClr val="7FA9D6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9790795" y="29841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平台化扩张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646463" y="3299460"/>
              <a:ext cx="14715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多行业 / 多BU 复制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9296400" y="3581400"/>
              <a:ext cx="2171700" cy="9525"/>
            </a:xfrm>
            <a:prstGeom prst="rect">
              <a:avLst/>
            </a:prstGeom>
            <a:solidFill>
              <a:srgbClr val="D8DEE6"/>
            </a:solidFill>
            <a:ln>
              <a:noFill/>
            </a:ln>
          </p:spPr>
        </p:sp>
        <p:grpSp>
          <p:nvGrpSpPr>
            <p:cNvPr id="100" name="Group 100"/>
            <p:cNvGrpSpPr/>
            <p:nvPr/>
          </p:nvGrpSpPr>
          <p:grpSpPr>
            <a:xfrm>
              <a:off x="9334500" y="3737610"/>
              <a:ext cx="1740256" cy="234696"/>
              <a:chOff x="9334500" y="3737610"/>
              <a:chExt cx="1740256" cy="234696"/>
            </a:xfrm>
          </p:grpSpPr>
          <p:sp>
            <p:nvSpPr>
              <p:cNvPr id="98" name="Ellipse 98"/>
              <p:cNvSpPr/>
              <p:nvPr/>
            </p:nvSpPr>
            <p:spPr>
              <a:xfrm>
                <a:off x="9334500" y="3771900"/>
                <a:ext cx="76200" cy="76200"/>
              </a:xfrm>
              <a:prstGeom prst="ellipse">
                <a:avLst/>
              </a:prstGeom>
              <a:solidFill>
                <a:srgbClr val="7FA9D6"/>
              </a:solidFill>
              <a:ln>
                <a:noFill/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9480804" y="3737610"/>
                <a:ext cx="159395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Control Plane 标准化</a:t>
                </a: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9334500" y="4042410"/>
              <a:ext cx="1289304" cy="234696"/>
              <a:chOff x="9334500" y="4042410"/>
              <a:chExt cx="1289304" cy="234696"/>
            </a:xfrm>
          </p:grpSpPr>
          <p:sp>
            <p:nvSpPr>
              <p:cNvPr id="101" name="Ellipse 101"/>
              <p:cNvSpPr/>
              <p:nvPr/>
            </p:nvSpPr>
            <p:spPr>
              <a:xfrm>
                <a:off x="9334500" y="4076700"/>
                <a:ext cx="76200" cy="76200"/>
              </a:xfrm>
              <a:prstGeom prst="ellipse">
                <a:avLst/>
              </a:prstGeom>
              <a:solidFill>
                <a:srgbClr val="7FA9D6"/>
              </a:solidFill>
              <a:ln>
                <a:noFill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9480804" y="40424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多租户运营体系</a:t>
                </a: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9334500" y="4347210"/>
              <a:ext cx="1694688" cy="234696"/>
              <a:chOff x="9334500" y="4347210"/>
              <a:chExt cx="1694688" cy="234696"/>
            </a:xfrm>
          </p:grpSpPr>
          <p:sp>
            <p:nvSpPr>
              <p:cNvPr id="104" name="Ellipse 104"/>
              <p:cNvSpPr/>
              <p:nvPr/>
            </p:nvSpPr>
            <p:spPr>
              <a:xfrm>
                <a:off x="9334500" y="4381500"/>
                <a:ext cx="76200" cy="76200"/>
              </a:xfrm>
              <a:prstGeom prst="ellipse">
                <a:avLst/>
              </a:prstGeom>
              <a:solidFill>
                <a:srgbClr val="7FA9D6"/>
              </a:solidFill>
              <a:ln>
                <a:noFill/>
              </a:ln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9480804" y="4347210"/>
                <a:ext cx="15483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生态合作与 API 变现</a:t>
                </a: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9334500" y="4652010"/>
              <a:ext cx="1959712" cy="234696"/>
              <a:chOff x="9334500" y="4652010"/>
              <a:chExt cx="1959712" cy="234696"/>
            </a:xfrm>
          </p:grpSpPr>
          <p:sp>
            <p:nvSpPr>
              <p:cNvPr id="107" name="Ellipse 107"/>
              <p:cNvSpPr/>
              <p:nvPr/>
            </p:nvSpPr>
            <p:spPr>
              <a:xfrm>
                <a:off x="9334500" y="4686300"/>
                <a:ext cx="76200" cy="76200"/>
              </a:xfrm>
              <a:prstGeom prst="ellipse">
                <a:avLst/>
              </a:prstGeom>
              <a:solidFill>
                <a:srgbClr val="7FA9D6"/>
              </a:solidFill>
              <a:ln>
                <a:noFill/>
              </a:ln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9480804" y="4652010"/>
                <a:ext cx="18134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平台规模化 → 利润率提升</a:t>
                </a:r>
              </a:p>
            </p:txBody>
          </p:sp>
        </p:grpSp>
        <p:sp>
          <p:nvSpPr>
            <p:cNvPr id="110" name="Rectangle 110"/>
            <p:cNvSpPr/>
            <p:nvPr/>
          </p:nvSpPr>
          <p:spPr>
            <a:xfrm>
              <a:off x="9296400" y="4914900"/>
              <a:ext cx="2171700" cy="266700"/>
            </a:xfrm>
            <a:prstGeom prst="roundRect">
              <a:avLst>
                <a:gd name="adj" fmla="val 21429"/>
              </a:avLst>
            </a:prstGeom>
            <a:solidFill>
              <a:srgbClr val="7FA9D6">
                <a:alpha val="15000"/>
              </a:srgbClr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9717862" y="497586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6FB2"/>
                  </a:solidFill>
                  <a:latin typeface="Arial"/>
                  <a:ea typeface="Microsoft YaHei"/>
                  <a:cs typeface="Arial"/>
                </a:rPr>
                <a:t>平台费 + 生态分成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952863" y="51444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773"/>
                  </a:solidFill>
                  <a:latin typeface="Arial"/>
                  <a:ea typeface="Microsoft YaHei"/>
                  <a:cs typeface="Arial"/>
                </a:rPr>
                <a:t>持续规模增长</a:t>
              </a:r>
            </a:p>
          </p:txBody>
        </p:sp>
      </p:grpSp>
      <p:sp>
        <p:nvSpPr>
          <p:cNvPr id="114" name="TextBox 114"/>
          <p:cNvSpPr txBox="1"/>
          <p:nvPr/>
        </p:nvSpPr>
        <p:spPr>
          <a:xfrm>
            <a:off x="604266" y="6554152"/>
            <a:ext cx="16498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agentflow_case01 · P08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1259026" y="655415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6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7324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3504" y="203835"/>
            <a:ext cx="134355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1"/>
                </a:solidFill>
                <a:latin typeface="Arial"/>
                <a:ea typeface="Microsoft YaHei"/>
                <a:cs typeface="Arial"/>
              </a:rPr>
              <a:t>P09 · 风险与条件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3598" y="612458"/>
            <a:ext cx="708888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真正的护城河来自治理与流程接入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3598" y="1069658"/>
            <a:ext cx="379567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而非单一模型能力</a:t>
            </a:r>
          </a:p>
        </p:txBody>
      </p:sp>
      <p:sp>
        <p:nvSpPr>
          <p:cNvPr id="7" name="Rectangle 7"/>
          <p:cNvSpPr/>
          <p:nvPr/>
        </p:nvSpPr>
        <p:spPr>
          <a:xfrm>
            <a:off x="609600" y="1600200"/>
            <a:ext cx="762000" cy="28575"/>
          </a:xfrm>
          <a:prstGeom prst="rect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00456" y="1710690"/>
            <a:ext cx="756643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6773"/>
                </a:solidFill>
                <a:latin typeface="Arial"/>
                <a:ea typeface="Microsoft YaHei"/>
                <a:cs typeface="Arial"/>
              </a:rPr>
              <a:t>有清晰成功条件，也有必须正视的实施风险 — 平台与组织协同缺一不可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09600" y="2171700"/>
            <a:ext cx="5410200" cy="3810000"/>
            <a:chOff x="609600" y="2171700"/>
            <a:chExt cx="5410200" cy="3810000"/>
          </a:xfrm>
        </p:grpSpPr>
        <p:sp>
          <p:nvSpPr>
            <p:cNvPr id="9" name="Rectangle 9"/>
            <p:cNvSpPr/>
            <p:nvPr/>
          </p:nvSpPr>
          <p:spPr>
            <a:xfrm>
              <a:off x="609600" y="2171700"/>
              <a:ext cx="5410200" cy="3810000"/>
            </a:xfrm>
            <a:prstGeom prst="roundRect">
              <a:avLst>
                <a:gd name="adj" fmla="val 3000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171700"/>
              <a:ext cx="5410200" cy="9525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266950"/>
              <a:ext cx="5410200" cy="95250"/>
            </a:xfrm>
            <a:prstGeom prst="rect">
              <a:avLst/>
            </a:prstGeom>
            <a:solidFill>
              <a:srgbClr val="2E8B57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57250" y="2457450"/>
              <a:ext cx="266700" cy="266700"/>
              <a:chOff x="857250" y="2457450"/>
              <a:chExt cx="266700" cy="26670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857250" y="2457450"/>
                <a:ext cx="266700" cy="266700"/>
              </a:xfrm>
              <a:prstGeom prst="ellipse">
                <a:avLst/>
              </a:prstGeom>
              <a:noFill/>
              <a:ln w="19050">
                <a:solidFill>
                  <a:srgbClr val="2E8B57"/>
                </a:solidFill>
              </a:ln>
            </p:spPr>
          </p:sp>
          <p:sp>
            <p:nvSpPr>
              <p:cNvPr id="13" name="Polyline 13"/>
              <p:cNvSpPr/>
              <p:nvPr/>
            </p:nvSpPr>
            <p:spPr>
              <a:xfrm>
                <a:off x="923925" y="2543175"/>
                <a:ext cx="1333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2E8B57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248156" y="2434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成功条件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38200" y="2933700"/>
              <a:ext cx="4953000" cy="609600"/>
              <a:chOff x="838200" y="2933700"/>
              <a:chExt cx="4953000" cy="6096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838200" y="2933700"/>
                <a:ext cx="4953000" cy="6096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838200" y="2933700"/>
                <a:ext cx="57150" cy="609600"/>
              </a:xfrm>
              <a:prstGeom prst="roundRect">
                <a:avLst>
                  <a:gd name="adj" fmla="val 50000"/>
                </a:avLst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21080" y="3019425"/>
                <a:ext cx="24382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① 高层支持与明确 Owner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22604" y="3280410"/>
                <a:ext cx="35117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跨部门项目需 VP 级背书，设立专职产品 Owner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38200" y="3657600"/>
              <a:ext cx="4953000" cy="609600"/>
              <a:chOff x="838200" y="3657600"/>
              <a:chExt cx="4953000" cy="6096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38200" y="3657600"/>
                <a:ext cx="4953000" cy="6096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838200" y="3657600"/>
                <a:ext cx="57150" cy="609600"/>
              </a:xfrm>
              <a:prstGeom prst="roundRect">
                <a:avLst>
                  <a:gd name="adj" fmla="val 50000"/>
                </a:avLst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21080" y="3743325"/>
                <a:ext cx="254675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② 知识库与 CRM 数据基础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22604" y="4004310"/>
                <a:ext cx="362224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历史知识整理入库，CRM 字段规范，接口可对接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38200" y="4381500"/>
              <a:ext cx="4953000" cy="609600"/>
              <a:chOff x="838200" y="4381500"/>
              <a:chExt cx="4953000" cy="6096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38200" y="4381500"/>
                <a:ext cx="4953000" cy="6096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838200" y="4381500"/>
                <a:ext cx="57150" cy="609600"/>
              </a:xfrm>
              <a:prstGeom prst="roundRect">
                <a:avLst>
                  <a:gd name="adj" fmla="val 50000"/>
                </a:avLst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21080" y="4467225"/>
                <a:ext cx="16796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③ 渐进式推广策略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22604" y="4728210"/>
                <a:ext cx="361462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单场景验证 → 双场景闭环 → 规模化复制的推进节奏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38200" y="5105400"/>
              <a:ext cx="4953000" cy="609600"/>
              <a:chOff x="838200" y="5105400"/>
              <a:chExt cx="4953000" cy="609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38200" y="5105400"/>
                <a:ext cx="4953000" cy="6096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38200" y="5105400"/>
                <a:ext cx="57150" cy="609600"/>
              </a:xfrm>
              <a:prstGeom prst="roundRect">
                <a:avLst>
                  <a:gd name="adj" fmla="val 50000"/>
                </a:avLst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21080" y="5191125"/>
                <a:ext cx="210370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④ 治理与安全合规先行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22604" y="5452110"/>
                <a:ext cx="35661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数据权限、审计日志、合规策略在首期上线前完成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6248400" y="2171700"/>
            <a:ext cx="5334000" cy="3810000"/>
            <a:chOff x="6248400" y="2171700"/>
            <a:chExt cx="5334000" cy="3810000"/>
          </a:xfrm>
        </p:grpSpPr>
        <p:sp>
          <p:nvSpPr>
            <p:cNvPr id="37" name="Rectangle 37"/>
            <p:cNvSpPr/>
            <p:nvPr/>
          </p:nvSpPr>
          <p:spPr>
            <a:xfrm>
              <a:off x="6248400" y="2171700"/>
              <a:ext cx="5334000" cy="3810000"/>
            </a:xfrm>
            <a:prstGeom prst="roundRect">
              <a:avLst>
                <a:gd name="adj" fmla="val 3000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2171700"/>
              <a:ext cx="5334000" cy="95250"/>
            </a:xfrm>
            <a:prstGeom prst="roundRect">
              <a:avLst>
                <a:gd name="adj" fmla="val 50000"/>
              </a:avLst>
            </a:prstGeom>
            <a:solidFill>
              <a:srgbClr val="C44E3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48400" y="2266950"/>
              <a:ext cx="5334000" cy="95250"/>
            </a:xfrm>
            <a:prstGeom prst="rect">
              <a:avLst/>
            </a:prstGeom>
            <a:solidFill>
              <a:srgbClr val="C44E3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6496050" y="2476500"/>
              <a:ext cx="266700" cy="228600"/>
              <a:chOff x="6496050" y="2476500"/>
              <a:chExt cx="266700" cy="228600"/>
            </a:xfrm>
          </p:grpSpPr>
          <p:sp>
            <p:nvSpPr>
              <p:cNvPr id="40" name="Polygon 40"/>
              <p:cNvSpPr/>
              <p:nvPr/>
            </p:nvSpPr>
            <p:spPr>
              <a:xfrm>
                <a:off x="6496050" y="2476500"/>
                <a:ext cx="2667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28600">
                    <a:moveTo>
                      <a:pt x="133350" y="0"/>
                    </a:moveTo>
                    <a:lnTo>
                      <a:pt x="266700" y="228600"/>
                    </a:lnTo>
                    <a:lnTo>
                      <a:pt x="0" y="228600"/>
                    </a:lnTo>
                    <a:close/>
                  </a:path>
                </a:pathLst>
              </a:custGeom>
              <a:noFill/>
              <a:ln w="19050">
                <a:solidFill>
                  <a:srgbClr val="C44E3B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6629400" y="25527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C44E3B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6610350" y="2647950"/>
                <a:ext cx="38100" cy="38100"/>
              </a:xfrm>
              <a:prstGeom prst="ellipse">
                <a:avLst/>
              </a:prstGeom>
              <a:solidFill>
                <a:srgbClr val="C44E3B"/>
              </a:solidFill>
              <a:ln w="19050">
                <a:solidFill>
                  <a:srgbClr val="C44E3B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886956" y="2434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关键风险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6477000" y="2933700"/>
              <a:ext cx="4876800" cy="609600"/>
              <a:chOff x="6477000" y="2933700"/>
              <a:chExt cx="4876800" cy="6096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6477000" y="2933700"/>
                <a:ext cx="4876800" cy="6096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C44E3B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6477000" y="2933700"/>
                <a:ext cx="57150" cy="609600"/>
              </a:xfrm>
              <a:prstGeom prst="roundRect">
                <a:avLst>
                  <a:gd name="adj" fmla="val 50000"/>
                </a:avLst>
              </a:prstGeom>
              <a:solidFill>
                <a:srgbClr val="C44E3B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659880" y="3019425"/>
                <a:ext cx="210370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① 数据质量与接口壁垒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661404" y="3280410"/>
                <a:ext cx="350276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知识库缺失或 CRM 接口不开放将显著拖慢进度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477000" y="3657600"/>
              <a:ext cx="4876800" cy="609600"/>
              <a:chOff x="6477000" y="3657600"/>
              <a:chExt cx="4876800" cy="6096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477000" y="3657600"/>
                <a:ext cx="4876800" cy="6096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C44E3B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6477000" y="3657600"/>
                <a:ext cx="57150" cy="609600"/>
              </a:xfrm>
              <a:prstGeom prst="roundRect">
                <a:avLst>
                  <a:gd name="adj" fmla="val 50000"/>
                </a:avLst>
              </a:prstGeom>
              <a:solidFill>
                <a:srgbClr val="C44E3B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6659880" y="3743325"/>
                <a:ext cx="210370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② 组织摩擦与变更阻力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661404" y="4004310"/>
                <a:ext cx="324307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跨部门协作意愿低，坐席对新工具接受度不足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6477000" y="4381500"/>
              <a:ext cx="4876800" cy="609600"/>
              <a:chOff x="6477000" y="4381500"/>
              <a:chExt cx="4876800" cy="6096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6477000" y="4381500"/>
                <a:ext cx="4876800" cy="6096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C44E3B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6477000" y="4381500"/>
                <a:ext cx="57150" cy="609600"/>
              </a:xfrm>
              <a:prstGeom prst="roundRect">
                <a:avLst>
                  <a:gd name="adj" fmla="val 50000"/>
                </a:avLst>
              </a:prstGeom>
              <a:solidFill>
                <a:srgbClr val="C44E3B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6659880" y="4467225"/>
                <a:ext cx="252775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③ 过度依赖单一模型供应商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6661404" y="4728210"/>
                <a:ext cx="29199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建议预留模型切换路径，避免能力被绑定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6477000" y="5105400"/>
              <a:ext cx="4876800" cy="609600"/>
              <a:chOff x="6477000" y="5105400"/>
              <a:chExt cx="4876800" cy="6096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6477000" y="5105400"/>
                <a:ext cx="4876800" cy="609600"/>
              </a:xfrm>
              <a:prstGeom prst="roundRect">
                <a:avLst>
                  <a:gd name="adj" fmla="val 12500"/>
                </a:avLst>
              </a:prstGeom>
              <a:noFill/>
              <a:ln w="9525">
                <a:solidFill>
                  <a:srgbClr val="C44E3B"/>
                </a:solidFill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6477000" y="5105400"/>
                <a:ext cx="57150" cy="609600"/>
              </a:xfrm>
              <a:prstGeom prst="roundRect">
                <a:avLst>
                  <a:gd name="adj" fmla="val 50000"/>
                </a:avLst>
              </a:prstGeom>
              <a:solidFill>
                <a:srgbClr val="C44E3B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6659880" y="5191125"/>
                <a:ext cx="252775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④ 治理缺失导致规模化失控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6661404" y="5452110"/>
                <a:ext cx="32673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B6773"/>
                    </a:solidFill>
                    <a:latin typeface="Arial"/>
                    <a:ea typeface="Microsoft YaHei"/>
                    <a:cs typeface="Arial"/>
                  </a:rPr>
                  <a:t>无权限管理、无审计日志 → 企业无法合规采购</a:t>
                </a:r>
              </a:p>
            </p:txBody>
          </p:sp>
        </p:grpSp>
      </p:grpSp>
      <p:sp>
        <p:nvSpPr>
          <p:cNvPr id="66" name="TextBox 66"/>
          <p:cNvSpPr txBox="1"/>
          <p:nvPr/>
        </p:nvSpPr>
        <p:spPr>
          <a:xfrm>
            <a:off x="604266" y="6554152"/>
            <a:ext cx="16498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agentflow_case01 · P09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259026" y="655415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7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17324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03504" y="203835"/>
            <a:ext cx="11728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A94A1"/>
                </a:solidFill>
                <a:latin typeface="Arial"/>
                <a:ea typeface="Microsoft YaHei"/>
                <a:cs typeface="Arial"/>
              </a:rPr>
              <a:t>P10 · 行动号召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3598" y="707708"/>
            <a:ext cx="379567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现在启动联合试点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3598" y="1183958"/>
            <a:ext cx="755934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7324D"/>
                </a:solidFill>
                <a:latin typeface="Cambria"/>
                <a:ea typeface="SimSun"/>
                <a:cs typeface="Cambria"/>
              </a:rPr>
              <a:t>是进入平台扩张曲线的最低成本方式</a:t>
            </a:r>
          </a:p>
        </p:txBody>
      </p:sp>
      <p:sp>
        <p:nvSpPr>
          <p:cNvPr id="7" name="Rectangle 7"/>
          <p:cNvSpPr/>
          <p:nvPr/>
        </p:nvSpPr>
        <p:spPr>
          <a:xfrm>
            <a:off x="609600" y="1714500"/>
            <a:ext cx="762000" cy="28575"/>
          </a:xfrm>
          <a:prstGeom prst="rect">
            <a:avLst/>
          </a:prstGeom>
          <a:solidFill>
            <a:srgbClr val="1F6FB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00456" y="1853565"/>
            <a:ext cx="90809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B6773"/>
                </a:solidFill>
                <a:latin typeface="Arial"/>
                <a:ea typeface="Microsoft YaHei"/>
                <a:cs typeface="Arial"/>
              </a:rPr>
              <a:t>认知红利仍在、组织壁垒尚未固化的窗口期 — 建议从"客服 + 销售支持"联合试点开始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609600" y="2400300"/>
            <a:ext cx="3505200" cy="1905000"/>
            <a:chOff x="609600" y="2400300"/>
            <a:chExt cx="3505200" cy="1905000"/>
          </a:xfrm>
        </p:grpSpPr>
        <p:sp>
          <p:nvSpPr>
            <p:cNvPr id="9" name="Rectangle 9"/>
            <p:cNvSpPr/>
            <p:nvPr/>
          </p:nvSpPr>
          <p:spPr>
            <a:xfrm>
              <a:off x="609600" y="2400300"/>
              <a:ext cx="3505200" cy="1905000"/>
            </a:xfrm>
            <a:prstGeom prst="roundRect">
              <a:avLst>
                <a:gd name="adj" fmla="val 6000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240030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rgbClr val="1F6FB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476500"/>
              <a:ext cx="3505200" cy="76200"/>
            </a:xfrm>
            <a:prstGeom prst="rect">
              <a:avLst/>
            </a:prstGeom>
            <a:solidFill>
              <a:srgbClr val="1F6FB2"/>
            </a:solidFill>
            <a:ln>
              <a:noFill/>
            </a:ln>
          </p:spPr>
        </p:sp>
        <p:sp>
          <p:nvSpPr>
            <p:cNvPr id="12" name="Polygon 12"/>
            <p:cNvSpPr/>
            <p:nvPr/>
          </p:nvSpPr>
          <p:spPr>
            <a:xfrm>
              <a:off x="838200" y="2686050"/>
              <a:ext cx="266700" cy="285750"/>
            </a:xfrm>
            <a:custGeom>
              <a:avLst/>
              <a:gdLst/>
              <a:ahLst/>
              <a:cxnLst/>
              <a:rect l="l" t="t" r="r" b="b"/>
              <a:pathLst>
                <a:path w="266700" h="285750">
                  <a:moveTo>
                    <a:pt x="133350" y="0"/>
                  </a:moveTo>
                  <a:lnTo>
                    <a:pt x="161925" y="95250"/>
                  </a:lnTo>
                  <a:lnTo>
                    <a:pt x="266700" y="104775"/>
                  </a:lnTo>
                  <a:lnTo>
                    <a:pt x="190500" y="180975"/>
                  </a:lnTo>
                  <a:lnTo>
                    <a:pt x="209550" y="285750"/>
                  </a:lnTo>
                  <a:lnTo>
                    <a:pt x="133350" y="228600"/>
                  </a:lnTo>
                  <a:lnTo>
                    <a:pt x="57150" y="285750"/>
                  </a:lnTo>
                  <a:lnTo>
                    <a:pt x="76200" y="180975"/>
                  </a:lnTo>
                  <a:lnTo>
                    <a:pt x="0" y="104775"/>
                  </a:lnTo>
                  <a:lnTo>
                    <a:pt x="104775" y="95250"/>
                  </a:lnTo>
                  <a:close/>
                </a:path>
              </a:pathLst>
            </a:custGeom>
            <a:noFill/>
            <a:ln w="19050">
              <a:solidFill>
                <a:srgbClr val="1F6FB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67206" y="2663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为什么值得做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828675" y="3073718"/>
              <a:ext cx="1723873" cy="264033"/>
              <a:chOff x="828675" y="3073718"/>
              <a:chExt cx="1723873" cy="264033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828675" y="3114675"/>
                <a:ext cx="95250" cy="95250"/>
              </a:xfrm>
              <a:prstGeom prst="ellipse">
                <a:avLst/>
              </a:prstGeom>
              <a:solidFill>
                <a:srgbClr val="1F6FB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21842" y="3073718"/>
                <a:ext cx="153070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ROI 清晰且可量化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28675" y="3359468"/>
              <a:ext cx="2687593" cy="264033"/>
              <a:chOff x="828675" y="3359468"/>
              <a:chExt cx="2687593" cy="264033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828675" y="3400425"/>
                <a:ext cx="95250" cy="95250"/>
              </a:xfrm>
              <a:prstGeom prst="ellipse">
                <a:avLst/>
              </a:prstGeom>
              <a:solidFill>
                <a:srgbClr val="1F6FB2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21842" y="3359468"/>
                <a:ext cx="24944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高频场景验证周期短（4-8周）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28675" y="3645218"/>
              <a:ext cx="2387727" cy="264033"/>
              <a:chOff x="828675" y="3645218"/>
              <a:chExt cx="2387727" cy="26403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828675" y="3686175"/>
                <a:ext cx="95250" cy="95250"/>
              </a:xfrm>
              <a:prstGeom prst="ellipse">
                <a:avLst/>
              </a:prstGeom>
              <a:solidFill>
                <a:srgbClr val="1F6FB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021842" y="364521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形成规模化复制的标杆案例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28675" y="3930968"/>
              <a:ext cx="2387727" cy="264033"/>
              <a:chOff x="828675" y="3930968"/>
              <a:chExt cx="2387727" cy="264033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828675" y="3971925"/>
                <a:ext cx="95250" cy="95250"/>
              </a:xfrm>
              <a:prstGeom prst="ellipse">
                <a:avLst/>
              </a:prstGeom>
              <a:solidFill>
                <a:srgbClr val="1F6FB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21842" y="393096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平台化后可向其他场景延伸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4343400" y="2400300"/>
            <a:ext cx="3505200" cy="1905000"/>
            <a:chOff x="4343400" y="2400300"/>
            <a:chExt cx="35052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4343400" y="2400300"/>
              <a:ext cx="3505200" cy="1905000"/>
            </a:xfrm>
            <a:prstGeom prst="roundRect">
              <a:avLst>
                <a:gd name="adj" fmla="val 6000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43400" y="240030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rgbClr val="2E8B5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343400" y="2476500"/>
              <a:ext cx="3505200" cy="76200"/>
            </a:xfrm>
            <a:prstGeom prst="rect">
              <a:avLst/>
            </a:prstGeom>
            <a:solidFill>
              <a:srgbClr val="2E8B5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552950" y="2686050"/>
              <a:ext cx="304800" cy="304800"/>
              <a:chOff x="4552950" y="2686050"/>
              <a:chExt cx="304800" cy="304800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4552950" y="2686050"/>
                <a:ext cx="304800" cy="304800"/>
              </a:xfrm>
              <a:prstGeom prst="ellipse">
                <a:avLst/>
              </a:prstGeom>
              <a:noFill/>
              <a:ln w="19050">
                <a:solidFill>
                  <a:srgbClr val="2E8B57"/>
                </a:solidFill>
              </a:ln>
            </p:spPr>
          </p:sp>
          <p:sp>
            <p:nvSpPr>
              <p:cNvPr id="31" name="Polyline 31"/>
              <p:cNvSpPr/>
              <p:nvPr/>
            </p:nvSpPr>
            <p:spPr>
              <a:xfrm>
                <a:off x="4629150" y="2771775"/>
                <a:ext cx="1524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14300">
                    <a:moveTo>
                      <a:pt x="0" y="66675"/>
                    </a:moveTo>
                    <a:lnTo>
                      <a:pt x="47625" y="114300"/>
                    </a:ln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2E8B5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5001006" y="2663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为什么能做成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562475" y="3073718"/>
              <a:ext cx="2205990" cy="264033"/>
              <a:chOff x="4562475" y="3073718"/>
              <a:chExt cx="2205990" cy="264033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4562475" y="3114675"/>
                <a:ext cx="95250" cy="95250"/>
              </a:xfrm>
              <a:prstGeom prst="ellipse">
                <a:avLst/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755642" y="30737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成熟的技术栈与集成方案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562475" y="3359468"/>
              <a:ext cx="1842516" cy="264033"/>
              <a:chOff x="4562475" y="3359468"/>
              <a:chExt cx="1842516" cy="264033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4562475" y="3400425"/>
                <a:ext cx="95250" cy="95250"/>
              </a:xfrm>
              <a:prstGeom prst="ellipse">
                <a:avLst/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755642" y="3359468"/>
                <a:ext cx="16493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有可复制的成功路径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562475" y="3645218"/>
              <a:ext cx="2205990" cy="264033"/>
              <a:chOff x="4562475" y="3645218"/>
              <a:chExt cx="2205990" cy="264033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4562475" y="3686175"/>
                <a:ext cx="95250" cy="95250"/>
              </a:xfrm>
              <a:prstGeom prst="ellipse">
                <a:avLst/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755642" y="364521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客户已有明确的痛点认知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4562475" y="3930968"/>
              <a:ext cx="2205990" cy="264033"/>
              <a:chOff x="4562475" y="3930968"/>
              <a:chExt cx="2205990" cy="264033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4562475" y="3971925"/>
                <a:ext cx="95250" cy="95250"/>
              </a:xfrm>
              <a:prstGeom prst="ellipse">
                <a:avLst/>
              </a:prstGeom>
              <a:solidFill>
                <a:srgbClr val="2E8B57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4755642" y="3930968"/>
                <a:ext cx="20128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实施团队已有成熟方法论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8077200" y="2400300"/>
            <a:ext cx="3505200" cy="1905000"/>
            <a:chOff x="8077200" y="2400300"/>
            <a:chExt cx="3505200" cy="1905000"/>
          </a:xfrm>
        </p:grpSpPr>
        <p:sp>
          <p:nvSpPr>
            <p:cNvPr id="47" name="Rectangle 47"/>
            <p:cNvSpPr/>
            <p:nvPr/>
          </p:nvSpPr>
          <p:spPr>
            <a:xfrm>
              <a:off x="8077200" y="2400300"/>
              <a:ext cx="3505200" cy="1905000"/>
            </a:xfrm>
            <a:prstGeom prst="roundRect">
              <a:avLst>
                <a:gd name="adj" fmla="val 6000"/>
              </a:avLst>
            </a:prstGeom>
            <a:solidFill>
              <a:srgbClr val="EEF1F4"/>
            </a:solidFill>
            <a:ln w="9525">
              <a:solidFill>
                <a:srgbClr val="D8DEE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8077200" y="2400300"/>
              <a:ext cx="3505200" cy="76200"/>
            </a:xfrm>
            <a:prstGeom prst="roundRect">
              <a:avLst>
                <a:gd name="adj" fmla="val 50000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077200" y="2476500"/>
              <a:ext cx="3505200" cy="76200"/>
            </a:xfrm>
            <a:prstGeom prst="rect">
              <a:avLst/>
            </a:prstGeom>
            <a:solidFill>
              <a:srgbClr val="17324D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8286750" y="2686050"/>
              <a:ext cx="304800" cy="304800"/>
              <a:chOff x="8286750" y="2686050"/>
              <a:chExt cx="304800" cy="3048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8286750" y="2686050"/>
                <a:ext cx="304800" cy="304800"/>
              </a:xfrm>
              <a:prstGeom prst="ellipse">
                <a:avLst/>
              </a:prstGeom>
              <a:noFill/>
              <a:ln w="19050">
                <a:solidFill>
                  <a:srgbClr val="17324D"/>
                </a:solidFill>
              </a:ln>
            </p:spPr>
          </p:sp>
          <p:sp>
            <p:nvSpPr>
              <p:cNvPr id="51" name="Polyline 51"/>
              <p:cNvSpPr/>
              <p:nvPr/>
            </p:nvSpPr>
            <p:spPr>
              <a:xfrm>
                <a:off x="8439150" y="2743200"/>
                <a:ext cx="666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42875">
                    <a:moveTo>
                      <a:pt x="0" y="0"/>
                    </a:moveTo>
                    <a:lnTo>
                      <a:pt x="0" y="95250"/>
                    </a:lnTo>
                    <a:lnTo>
                      <a:pt x="66675" y="142875"/>
                    </a:lnTo>
                  </a:path>
                </a:pathLst>
              </a:custGeom>
              <a:noFill/>
              <a:ln w="19050">
                <a:solidFill>
                  <a:srgbClr val="17324D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8734806" y="2663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为什么现在做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8296275" y="3073718"/>
              <a:ext cx="3116047" cy="264033"/>
              <a:chOff x="8296275" y="3073718"/>
              <a:chExt cx="3116047" cy="264033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8296275" y="3114675"/>
                <a:ext cx="95250" cy="95250"/>
              </a:xfrm>
              <a:prstGeom prst="ellipse">
                <a:avLst/>
              </a:prstGeom>
              <a:solidFill>
                <a:srgbClr val="17324D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489442" y="3073718"/>
                <a:ext cx="292288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AI 认知窗口仍在，决策层关注度高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8296275" y="3359468"/>
              <a:ext cx="2569464" cy="264033"/>
              <a:chOff x="8296275" y="3359468"/>
              <a:chExt cx="2569464" cy="264033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8296275" y="3400425"/>
                <a:ext cx="95250" cy="95250"/>
              </a:xfrm>
              <a:prstGeom prst="ellipse">
                <a:avLst/>
              </a:prstGeom>
              <a:solidFill>
                <a:srgbClr val="17324D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489442" y="335946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竞争对手尚未完成平台化布局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8296275" y="3645218"/>
              <a:ext cx="2569464" cy="264033"/>
              <a:chOff x="8296275" y="3645218"/>
              <a:chExt cx="2569464" cy="264033"/>
            </a:xfrm>
          </p:grpSpPr>
          <p:sp>
            <p:nvSpPr>
              <p:cNvPr id="60" name="Ellipse 60"/>
              <p:cNvSpPr/>
              <p:nvPr/>
            </p:nvSpPr>
            <p:spPr>
              <a:xfrm>
                <a:off x="8296275" y="3686175"/>
                <a:ext cx="95250" cy="95250"/>
              </a:xfrm>
              <a:prstGeom prst="ellipse">
                <a:avLst/>
              </a:prstGeom>
              <a:solidFill>
                <a:srgbClr val="17324D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8489442" y="364521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数据与知识积累越早越有价值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8296275" y="3930968"/>
              <a:ext cx="2932938" cy="264033"/>
              <a:chOff x="8296275" y="3930968"/>
              <a:chExt cx="2932938" cy="264033"/>
            </a:xfrm>
          </p:grpSpPr>
          <p:sp>
            <p:nvSpPr>
              <p:cNvPr id="63" name="Ellipse 63"/>
              <p:cNvSpPr/>
              <p:nvPr/>
            </p:nvSpPr>
            <p:spPr>
              <a:xfrm>
                <a:off x="8296275" y="3971925"/>
                <a:ext cx="95250" cy="95250"/>
              </a:xfrm>
              <a:prstGeom prst="ellipse">
                <a:avLst/>
              </a:prstGeom>
              <a:solidFill>
                <a:srgbClr val="17324D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8489442" y="3930968"/>
                <a:ext cx="27397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F2933"/>
                    </a:solidFill>
                    <a:latin typeface="Arial"/>
                    <a:ea typeface="Microsoft YaHei"/>
                    <a:cs typeface="Arial"/>
                  </a:rPr>
                  <a:t>组织变革阻力随时间增加而非减少</a:t>
                </a:r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609600" y="4572000"/>
            <a:ext cx="10972800" cy="1333500"/>
            <a:chOff x="609600" y="4572000"/>
            <a:chExt cx="10972800" cy="1333500"/>
          </a:xfrm>
        </p:grpSpPr>
        <p:sp>
          <p:nvSpPr>
            <p:cNvPr id="67" name="Rectangle 67"/>
            <p:cNvSpPr/>
            <p:nvPr/>
          </p:nvSpPr>
          <p:spPr>
            <a:xfrm>
              <a:off x="609600" y="4572000"/>
              <a:ext cx="10972800" cy="1333500"/>
            </a:xfrm>
            <a:prstGeom prst="roundRect">
              <a:avLst>
                <a:gd name="adj" fmla="val 11429"/>
              </a:avLst>
            </a:prstGeom>
            <a:solidFill>
              <a:srgbClr val="17324D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604249" y="4756785"/>
              <a:ext cx="698350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000000"/>
                  </a:solidFill>
                  <a:latin typeface="Cambria"/>
                  <a:ea typeface="SimSun"/>
                  <a:cs typeface="Cambria"/>
                </a:rPr>
                <a:t>建议从"客服 + 销售支持"联合试点开始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072298" y="5251132"/>
              <a:ext cx="60474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在 8 周内验证效率与治理闭环，形成可复制的平台化扩张路径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572000" y="5543550"/>
              <a:ext cx="3048000" cy="304800"/>
            </a:xfrm>
            <a:prstGeom prst="roundRect">
              <a:avLst>
                <a:gd name="adj" fmla="val 50000"/>
              </a:avLst>
            </a:prstGeom>
            <a:solidFill>
              <a:srgbClr val="1F6FB2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325847" y="561689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00000"/>
                  </a:solidFill>
                  <a:latin typeface="Arial"/>
                  <a:ea typeface="Microsoft YaHei"/>
                  <a:cs typeface="Arial"/>
                </a:rPr>
                <a:t>预约联合试点讨论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604266" y="6554152"/>
            <a:ext cx="16498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agentflow_case01 · P10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400261" y="6554152"/>
            <a:ext cx="21874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A94A1"/>
                </a:solidFill>
                <a:latin typeface="Arial"/>
                <a:ea typeface="Arial"/>
                <a:cs typeface="Arial"/>
              </a:rPr>
              <a:t>agentflow_case01 · 2026-09-03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2026-09-03T06:19:45Z</dcterms:created>
  <dcterms:modified xsi:type="dcterms:W3CDTF">2026-09-03T06:19:45Z</dcterms:modified>
  <cp:category/>
  <cp:contentStatus/>
</cp:coreProperties>
</file>