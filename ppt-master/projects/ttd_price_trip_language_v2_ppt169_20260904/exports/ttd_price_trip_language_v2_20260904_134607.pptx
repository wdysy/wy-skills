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主题：T站门票语言站流量分析。开场引入数据周期和口径。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核心结论：TOP 2 语言站合计 59% 流量，TOP 10 占 88.6%。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数据口径：按语言站 locale 字段统计，修正上轮按景点统计偏差。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TOP 10 PV 排名：zh-hk 和 en-sg 绝对领先，头部集中度高。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集中度分析：TOP 2 占 59%，主力客源区为港澳台+东南亚+俄韩。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渠道对比：各站渠道构成差异显著，站内 32-67% 是主体。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zh-hk 站内 66.6% 全站最高，平台内自发流转为主。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en-sg APP-PUSH 23% 全站最高，与演出票务场景强绑定。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ru-ru SEO 28.4% 全站最高，搜索引擎自然流入为主。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ko-kr 和 en-my 多渠道均衡，站内 44-55%。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一站一策：四类站点差异化运营策略。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总结：从流量到转化，下一步看 OPT 转化和 GMV ROI。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666750" y="-952500"/>
            <a:ext cx="4191000" cy="4191000"/>
          </a:xfrm>
          <a:prstGeom prst="ellipse">
            <a:avLst/>
          </a:prstGeom>
          <a:solidFill>
            <a:srgbClr val="4FC3F7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001000" y="-1047750"/>
            <a:ext cx="4953000" cy="4953000"/>
          </a:xfrm>
          <a:prstGeom prst="ellipse">
            <a:avLst/>
          </a:prstGeom>
          <a:solidFill>
            <a:srgbClr val="FFB74D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143750" y="3333750"/>
            <a:ext cx="3810000" cy="3810000"/>
          </a:xfrm>
          <a:prstGeom prst="ellipse">
            <a:avLst/>
          </a:prstGeom>
          <a:solidFill>
            <a:srgbClr val="4FC3F7">
              <a:alpha val="5000"/>
            </a:srgbClr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571500" y="1714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571500" y="4953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FFB74D">
                <a:alpha val="25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857250"/>
            <a:ext cx="3810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381500" y="857250"/>
            <a:ext cx="1905000" cy="38100"/>
          </a:xfrm>
          <a:prstGeom prst="rect">
            <a:avLst/>
          </a:prstGeom>
          <a:solidFill>
            <a:srgbClr val="FFB74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64642" y="1187768"/>
            <a:ext cx="303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1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IBU 门票 · 语言站流量数据分析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2450" y="1655445"/>
            <a:ext cx="5320680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T站门票语言站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2450" y="2465070"/>
            <a:ext cx="3091282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流量分析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2450" y="3640455"/>
            <a:ext cx="2581618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1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603K+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57856" y="3996690"/>
            <a:ext cx="29992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PV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457200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4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29818" y="4755832"/>
            <a:ext cx="449254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数据周期：2026-08-10 ～ 08-17 · 完整 7 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2104" y="5109210"/>
            <a:ext cx="45661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口径：SGP 集群 · page_ct='trip' · sub_bu_name='ibu门票'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5404" y="5966460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运营数据分析 · 2026-09-04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1428750"/>
            <a:ext cx="4762500" cy="4762500"/>
          </a:xfrm>
          <a:prstGeom prst="ellipse">
            <a:avLst/>
          </a:prstGeom>
          <a:solidFill>
            <a:srgbClr val="4FC3F7">
              <a:alpha val="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90500" y="4476750"/>
            <a:ext cx="3429000" cy="34290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1059380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2 语言站合计贡献 59% 流量，头部集中度极高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7145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3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57250" y="2055495"/>
            <a:ext cx="1115675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59%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9442" y="2711768"/>
            <a:ext cx="21082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2（zh-hk + en-sg）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9442" y="2997518"/>
            <a:ext cx="11082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合计 PV 占比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0966" y="3315652"/>
            <a:ext cx="17280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香港 + 新加坡构成绝对主力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17145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FFB74D">
              <a:alpha val="6000"/>
            </a:srgbClr>
          </a:solidFill>
          <a:ln w="9525">
            <a:solidFill>
              <a:srgbClr val="FFB74D">
                <a:alpha val="25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667250" y="2055495"/>
            <a:ext cx="1756395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88.6%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79442" y="2711768"/>
            <a:ext cx="12714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10 语言站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79442" y="2997518"/>
            <a:ext cx="11082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合计 PV 占比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80966" y="3315652"/>
            <a:ext cx="15584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长尾 40+ 站点共享 ~11%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91500" y="17145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35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477250" y="2055495"/>
            <a:ext cx="2076755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32-67%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89442" y="271176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各语言站站内流量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89442" y="29975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仍是渠道主体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90966" y="331565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但每站投放侧重差异巨大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4000500"/>
            <a:ext cx="11049000" cy="1238250"/>
          </a:xfrm>
          <a:prstGeom prst="roundRect">
            <a:avLst>
              <a:gd name="adj" fmla="val 12308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41832" y="4231005"/>
            <a:ext cx="536440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主战场：港澳台 + 东南亚（新马）+ 俄韩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4880" y="4695825"/>
            <a:ext cx="48615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运营策略应一站一策，按各语言站渠道特征差异化投放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6166" y="6173152"/>
            <a:ext cx="55657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数据来源：dw_ticketdb.edw_log_ttd_traffic_order_d_ext · 2026-08-10 ～ 08-17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4FC3F7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0" y="-476250"/>
            <a:ext cx="2857500" cy="28575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数据口径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573127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按语言站（locale）口径统计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714500"/>
            <a:ext cx="5334000" cy="2286000"/>
          </a:xfrm>
          <a:prstGeom prst="roundRect">
            <a:avLst>
              <a:gd name="adj" fmla="val 6667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3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28294" y="19611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数据环境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0580" y="2390775"/>
            <a:ext cx="25328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SGP 集群（T 站海外数据）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1342" y="2730818"/>
            <a:ext cx="4248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dw_ticketdb.edw_log_ttd_traffic_order_d_ext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1342" y="3054668"/>
            <a:ext cx="41754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过滤：page_ct='trip' + sub_bu_name='ibu门票'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2104" y="348996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数据周期：2026-08-10 ～ 08-17（完整 7 天）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714500"/>
            <a:ext cx="5334000" cy="2286000"/>
          </a:xfrm>
          <a:prstGeom prst="roundRect">
            <a:avLst>
              <a:gd name="adj" fmla="val 6667"/>
            </a:avLst>
          </a:prstGeom>
          <a:solidFill>
            <a:srgbClr val="FFB74D">
              <a:alpha val="5000"/>
            </a:srgbClr>
          </a:solidFill>
          <a:ln w="9525">
            <a:solidFill>
              <a:srgbClr val="FFB74D">
                <a:alpha val="25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543294" y="19611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B74D"/>
                </a:solidFill>
                <a:latin typeface="Arial"/>
                <a:ea typeface="Microsoft YaHei"/>
                <a:cs typeface="Arial"/>
              </a:rPr>
              <a:t>统计口径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45580" y="2390775"/>
            <a:ext cx="2923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站点：按 locale 字段（语言站）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46342" y="2730818"/>
            <a:ext cx="25358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PV = count(distinct com_pv)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6342" y="3054668"/>
            <a:ext cx="21534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UV = count(distinct vid)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47104" y="34899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流量来源：trip_channel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4286250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FF6B6B">
              <a:alpha val="8000"/>
            </a:srgbClr>
          </a:solidFill>
          <a:ln w="9525">
            <a:solidFill>
              <a:srgbClr val="FF6B6B">
                <a:alpha val="3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5642" y="4483418"/>
            <a:ext cx="580203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⚠ 提示：上一轮按景点统计有偏差，本次已修正为按语言站口径重新统计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5143500"/>
            <a:ext cx="3286125" cy="571500"/>
          </a:xfrm>
          <a:prstGeom prst="roundRect">
            <a:avLst>
              <a:gd name="adj" fmla="val 20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50392" y="5350192"/>
            <a:ext cx="14494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zh-hk = 香港繁体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048125" y="5143500"/>
            <a:ext cx="3286125" cy="571500"/>
          </a:xfrm>
          <a:prstGeom prst="roundRect">
            <a:avLst>
              <a:gd name="adj" fmla="val 20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327017" y="5350192"/>
            <a:ext cx="16311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en-sg = 新加坡英文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524750" y="5143500"/>
            <a:ext cx="3286125" cy="571500"/>
          </a:xfrm>
          <a:prstGeom prst="roundRect">
            <a:avLst>
              <a:gd name="adj" fmla="val 20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803642" y="5350192"/>
            <a:ext cx="14857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zh-tw = 台湾繁体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173152"/>
            <a:ext cx="13181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全量共 50+ 个语言站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952500" y="3810000"/>
            <a:ext cx="3810000" cy="3810000"/>
          </a:xfrm>
          <a:prstGeom prst="ellipse">
            <a:avLst/>
          </a:prstGeom>
          <a:solidFill>
            <a:srgbClr val="4FC3F7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715500" y="-762000"/>
            <a:ext cx="3429000" cy="34290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12714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TOP 10 语言站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53952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PV 排名：头部站高度集中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565642" y="806768"/>
            <a:ext cx="2712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统计周期：2026-08-10 ～ 08-17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99567" y="1489710"/>
            <a:ext cx="8687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zh-hk 香港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857500" y="1457325"/>
            <a:ext cx="7239000" cy="228600"/>
          </a:xfrm>
          <a:prstGeom prst="roundRect">
            <a:avLst>
              <a:gd name="adj" fmla="val 25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185654" y="1499235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603,658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34166" y="1515428"/>
            <a:ext cx="427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FFB74D"/>
                </a:solidFill>
                <a:latin typeface="Arial"/>
                <a:ea typeface="Arial"/>
                <a:cs typeface="Arial"/>
              </a:rPr>
              <a:t>30.1%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9946" y="1870710"/>
            <a:ext cx="10384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en-sg 新加坡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857500" y="1838325"/>
            <a:ext cx="6981825" cy="228600"/>
          </a:xfrm>
          <a:prstGeom prst="roundRect">
            <a:avLst>
              <a:gd name="adj" fmla="val 25000"/>
            </a:avLst>
          </a:prstGeom>
          <a:solidFill>
            <a:srgbClr val="4FC3F7">
              <a:alpha val="85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928479" y="1880235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581,867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34166" y="1896428"/>
            <a:ext cx="427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FFB74D"/>
                </a:solidFill>
                <a:latin typeface="Arial"/>
                <a:ea typeface="Arial"/>
                <a:cs typeface="Arial"/>
              </a:rPr>
              <a:t>29.0%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08048" y="22517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zh-tw 台湾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857500" y="2219325"/>
            <a:ext cx="1781175" cy="228600"/>
          </a:xfrm>
          <a:prstGeom prst="roundRect">
            <a:avLst>
              <a:gd name="adj" fmla="val 25000"/>
            </a:avLst>
          </a:prstGeom>
          <a:solidFill>
            <a:srgbClr val="FFB74D">
              <a:alpha val="6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727829" y="2261235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148,331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14416" y="2277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7.4%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08048" y="26327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en-my 马来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857500" y="2600325"/>
            <a:ext cx="1752600" cy="228600"/>
          </a:xfrm>
          <a:prstGeom prst="roundRect">
            <a:avLst>
              <a:gd name="adj" fmla="val 25000"/>
            </a:avLst>
          </a:prstGeom>
          <a:solidFill>
            <a:srgbClr val="FFB74D">
              <a:alpha val="55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699254" y="2642235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146,071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14416" y="2658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7.3%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40357" y="3013710"/>
            <a:ext cx="8279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ru-ru 俄语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857500" y="2981325"/>
            <a:ext cx="819150" cy="228600"/>
          </a:xfrm>
          <a:prstGeom prst="roundRect">
            <a:avLst>
              <a:gd name="adj" fmla="val 25000"/>
            </a:avLst>
          </a:prstGeom>
          <a:solidFill>
            <a:srgbClr val="4FC3F7">
              <a:alpha val="5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765804" y="3023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68,933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57166" y="3039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3.4%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40357" y="3394710"/>
            <a:ext cx="8279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ko-kr 韩语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857500" y="3362325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4FC3F7">
              <a:alpha val="45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613404" y="3404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55,648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57166" y="3420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2.8%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80743" y="3775710"/>
            <a:ext cx="7876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en-id 印尼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857500" y="3743325"/>
            <a:ext cx="628650" cy="228600"/>
          </a:xfrm>
          <a:prstGeom prst="roundRect">
            <a:avLst>
              <a:gd name="adj" fmla="val 25000"/>
            </a:avLst>
          </a:prstGeom>
          <a:solidFill>
            <a:srgbClr val="5C759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575304" y="3785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FA8C8"/>
                </a:solidFill>
                <a:latin typeface="Georgia"/>
                <a:ea typeface="Georgia"/>
                <a:cs typeface="Georgia"/>
              </a:rPr>
              <a:t>52,135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57166" y="3801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2.6%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08048" y="41567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zh-my 马来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857500" y="4124325"/>
            <a:ext cx="581025" cy="228600"/>
          </a:xfrm>
          <a:prstGeom prst="roundRect">
            <a:avLst>
              <a:gd name="adj" fmla="val 25000"/>
            </a:avLst>
          </a:prstGeom>
          <a:solidFill>
            <a:srgbClr val="5C759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527679" y="4166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FA8C8"/>
                </a:solidFill>
                <a:latin typeface="Georgia"/>
                <a:ea typeface="Georgia"/>
                <a:cs typeface="Georgia"/>
              </a:rPr>
              <a:t>48,370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57166" y="4182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2.4%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78813" y="4537710"/>
            <a:ext cx="9895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zh-sg 新加坡</a:t>
            </a:r>
          </a:p>
        </p:txBody>
      </p:sp>
      <p:sp>
        <p:nvSpPr>
          <p:cNvPr id="42" name="Rectangle 42"/>
          <p:cNvSpPr/>
          <p:nvPr/>
        </p:nvSpPr>
        <p:spPr>
          <a:xfrm>
            <a:off x="2857500" y="4505325"/>
            <a:ext cx="504825" cy="228600"/>
          </a:xfrm>
          <a:prstGeom prst="roundRect">
            <a:avLst>
              <a:gd name="adj" fmla="val 25000"/>
            </a:avLst>
          </a:prstGeom>
          <a:solidFill>
            <a:srgbClr val="5C7590">
              <a:alpha val="9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451479" y="4547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FA8C8"/>
                </a:solidFill>
                <a:latin typeface="Georgia"/>
                <a:ea typeface="Georgia"/>
                <a:cs typeface="Georgia"/>
              </a:rPr>
              <a:t>42,422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57166" y="4563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2.1%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940357" y="4918710"/>
            <a:ext cx="8279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en-xx 泛英</a:t>
            </a:r>
          </a:p>
        </p:txBody>
      </p:sp>
      <p:sp>
        <p:nvSpPr>
          <p:cNvPr id="46" name="Rectangle 46"/>
          <p:cNvSpPr/>
          <p:nvPr/>
        </p:nvSpPr>
        <p:spPr>
          <a:xfrm>
            <a:off x="2857500" y="4886325"/>
            <a:ext cx="476250" cy="228600"/>
          </a:xfrm>
          <a:prstGeom prst="roundRect">
            <a:avLst>
              <a:gd name="adj" fmla="val 25000"/>
            </a:avLst>
          </a:prstGeom>
          <a:solidFill>
            <a:srgbClr val="5C7590">
              <a:alpha val="80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422904" y="4928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FA8C8"/>
                </a:solidFill>
                <a:latin typeface="Georgia"/>
                <a:ea typeface="Georgia"/>
                <a:cs typeface="Georgia"/>
              </a:rPr>
              <a:t>39,366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757166" y="4944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2.0%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096000" y="5429250"/>
            <a:ext cx="5143500" cy="666750"/>
          </a:xfrm>
          <a:prstGeom prst="roundRect">
            <a:avLst>
              <a:gd name="adj" fmla="val 17143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FFB74D">
                <a:alpha val="30000"/>
              </a:srgbClr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374892" y="5588318"/>
            <a:ext cx="35522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2 合计 59% ｜ TOP 10 合计 88.6%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76416" y="5868352"/>
            <a:ext cx="21662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全量 50+ 语言站，头部集中度极高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6166" y="6173152"/>
            <a:ext cx="44493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UV：zh-hk 49,043 ｜ en-sg 37,249 ｜ zh-tw 28,092 ｜ 更多见明细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428750" y="952500"/>
            <a:ext cx="4762500" cy="4762500"/>
          </a:xfrm>
          <a:prstGeom prst="ellipse">
            <a:avLst/>
          </a:prstGeom>
          <a:solidFill>
            <a:srgbClr val="4FC3F7">
              <a:alpha val="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集中度分析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621853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2 占 59%：流量高度集中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0" y="2070084"/>
            <a:ext cx="1243012" cy="1549416"/>
          </a:xfrm>
          <a:custGeom>
            <a:avLst/>
            <a:gdLst/>
            <a:ahLst/>
            <a:cxnLst/>
            <a:rect l="l" t="t" r="r" b="b"/>
            <a:pathLst>
              <a:path w="1243012" h="1549416">
                <a:moveTo>
                  <a:pt x="0" y="1549416"/>
                </a:moveTo>
                <a:lnTo>
                  <a:pt x="0" y="25416"/>
                </a:lnTo>
                <a:cubicBezTo>
                  <a:pt x="475188" y="0"/>
                  <a:pt x="934973" y="198007"/>
                  <a:pt x="1243012" y="560721"/>
                </a:cubicBezTo>
                <a:lnTo>
                  <a:pt x="777240" y="764556"/>
                </a:lnTo>
                <a:cubicBezTo>
                  <a:pt x="554987" y="598041"/>
                  <a:pt x="271130" y="536818"/>
                  <a:pt x="0" y="596916"/>
                </a:cubicBezTo>
                <a:close/>
              </a:path>
            </a:pathLst>
          </a:custGeom>
          <a:solidFill>
            <a:srgbClr val="FFB74D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4587240" y="2630805"/>
            <a:ext cx="1148090" cy="1965008"/>
          </a:xfrm>
          <a:custGeom>
            <a:avLst/>
            <a:gdLst/>
            <a:ahLst/>
            <a:cxnLst/>
            <a:rect l="l" t="t" r="r" b="b"/>
            <a:pathLst>
              <a:path w="1148090" h="1965008">
                <a:moveTo>
                  <a:pt x="465772" y="0"/>
                </a:moveTo>
                <a:cubicBezTo>
                  <a:pt x="1030383" y="496874"/>
                  <a:pt x="1148090" y="1331344"/>
                  <a:pt x="742950" y="1965008"/>
                </a:cubicBezTo>
                <a:lnTo>
                  <a:pt x="172402" y="1599248"/>
                </a:lnTo>
                <a:cubicBezTo>
                  <a:pt x="346177" y="1395956"/>
                  <a:pt x="426481" y="1128975"/>
                  <a:pt x="393688" y="863551"/>
                </a:cubicBezTo>
                <a:cubicBezTo>
                  <a:pt x="360895" y="598128"/>
                  <a:pt x="218027" y="358719"/>
                  <a:pt x="0" y="203835"/>
                </a:cubicBezTo>
                <a:close/>
              </a:path>
            </a:pathLst>
          </a:custGeom>
          <a:solidFill>
            <a:srgbClr val="4FC3F7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4645342" y="4230052"/>
            <a:ext cx="684848" cy="665797"/>
          </a:xfrm>
          <a:custGeom>
            <a:avLst/>
            <a:gdLst/>
            <a:ahLst/>
            <a:cxnLst/>
            <a:rect l="l" t="t" r="r" b="b"/>
            <a:pathLst>
              <a:path w="684848" h="665797">
                <a:moveTo>
                  <a:pt x="684848" y="365760"/>
                </a:moveTo>
                <a:cubicBezTo>
                  <a:pt x="635660" y="472489"/>
                  <a:pt x="574292" y="573171"/>
                  <a:pt x="501968" y="665797"/>
                </a:cubicBezTo>
                <a:lnTo>
                  <a:pt x="0" y="186690"/>
                </a:lnTo>
                <a:cubicBezTo>
                  <a:pt x="45148" y="129059"/>
                  <a:pt x="83501" y="66416"/>
                  <a:pt x="114300" y="0"/>
                </a:cubicBezTo>
                <a:close/>
              </a:path>
            </a:pathLst>
          </a:custGeom>
          <a:solidFill>
            <a:srgbClr val="9C6BDB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4434840" y="4416742"/>
            <a:ext cx="712470" cy="681038"/>
          </a:xfrm>
          <a:custGeom>
            <a:avLst/>
            <a:gdLst/>
            <a:ahLst/>
            <a:cxnLst/>
            <a:rect l="l" t="t" r="r" b="b"/>
            <a:pathLst>
              <a:path w="712470" h="681038">
                <a:moveTo>
                  <a:pt x="712470" y="479108"/>
                </a:moveTo>
                <a:cubicBezTo>
                  <a:pt x="609262" y="560689"/>
                  <a:pt x="495925" y="628563"/>
                  <a:pt x="375285" y="681038"/>
                </a:cubicBezTo>
                <a:lnTo>
                  <a:pt x="0" y="126683"/>
                </a:lnTo>
                <a:cubicBezTo>
                  <a:pt x="75342" y="93719"/>
                  <a:pt x="146098" y="51138"/>
                  <a:pt x="210502" y="0"/>
                </a:cubicBez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2532746" y="2095500"/>
            <a:ext cx="2277379" cy="3278457"/>
          </a:xfrm>
          <a:custGeom>
            <a:avLst/>
            <a:gdLst/>
            <a:ahLst/>
            <a:cxnLst/>
            <a:rect l="l" t="t" r="r" b="b"/>
            <a:pathLst>
              <a:path w="2277379" h="3278457">
                <a:moveTo>
                  <a:pt x="2277379" y="3002280"/>
                </a:moveTo>
                <a:cubicBezTo>
                  <a:pt x="1448323" y="3278457"/>
                  <a:pt x="552354" y="2830259"/>
                  <a:pt x="276177" y="2001202"/>
                </a:cubicBezTo>
                <a:cubicBezTo>
                  <a:pt x="0" y="1172146"/>
                  <a:pt x="448198" y="276177"/>
                  <a:pt x="1277254" y="0"/>
                </a:cubicBezTo>
                <a:lnTo>
                  <a:pt x="1277254" y="571500"/>
                </a:lnTo>
                <a:cubicBezTo>
                  <a:pt x="759094" y="744045"/>
                  <a:pt x="478917" y="1303972"/>
                  <a:pt x="651462" y="1822132"/>
                </a:cubicBezTo>
                <a:cubicBezTo>
                  <a:pt x="824007" y="2340293"/>
                  <a:pt x="1383934" y="2620470"/>
                  <a:pt x="1902094" y="2447925"/>
                </a:cubicBezTo>
                <a:close/>
              </a:path>
            </a:pathLst>
          </a:custGeom>
          <a:solidFill>
            <a:srgbClr val="5C7590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2857500" y="2667000"/>
            <a:ext cx="1905000" cy="190500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380308" y="3248025"/>
            <a:ext cx="8593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59%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77184" y="3775710"/>
            <a:ext cx="865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TOP 2 合计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096000" y="1702118"/>
            <a:ext cx="3198419" cy="1597533"/>
            <a:chOff x="6096000" y="1702118"/>
            <a:chExt cx="3198419" cy="1597533"/>
          </a:xfrm>
        </p:grpSpPr>
        <p:sp>
          <p:nvSpPr>
            <p:cNvPr id="16" name="Rectangle 16"/>
            <p:cNvSpPr/>
            <p:nvPr/>
          </p:nvSpPr>
          <p:spPr>
            <a:xfrm>
              <a:off x="6096000" y="171450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FFB74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6792" y="1702118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A"/>
                  </a:solidFill>
                  <a:latin typeface="Arial"/>
                  <a:ea typeface="Microsoft YaHei"/>
                  <a:cs typeface="Arial"/>
                </a:rPr>
                <a:t>zh-hk 香港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05166" y="1734502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30.1% / 603,658 PV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0" y="2047875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6792" y="2035492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A"/>
                  </a:solidFill>
                  <a:latin typeface="Arial"/>
                  <a:ea typeface="Microsoft YaHei"/>
                  <a:cs typeface="Arial"/>
                </a:rPr>
                <a:t>en-sg 新加坡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05166" y="2067878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29.0% / 581,867 PV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96000" y="238125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9C6BD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6792" y="23688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A"/>
                  </a:solidFill>
                  <a:latin typeface="Arial"/>
                  <a:ea typeface="Microsoft YaHei"/>
                  <a:cs typeface="Arial"/>
                </a:rPr>
                <a:t>zh-tw 台湾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05166" y="2401252"/>
              <a:ext cx="1324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7.4% / 148,331 PV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0" y="2714625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6792" y="270224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A"/>
                  </a:solidFill>
                  <a:latin typeface="Arial"/>
                  <a:ea typeface="Microsoft YaHei"/>
                  <a:cs typeface="Arial"/>
                </a:rPr>
                <a:t>en-my 马来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5166" y="2734628"/>
              <a:ext cx="1324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7.3% / 146,071 PV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0" y="304800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5C759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6792" y="30356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A"/>
                  </a:solidFill>
                  <a:latin typeface="Arial"/>
                  <a:ea typeface="Microsoft YaHei"/>
                  <a:cs typeface="Arial"/>
                </a:rPr>
                <a:t>其他 46+ 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5166" y="3068002"/>
              <a:ext cx="1489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26.2% / ~524,414 PV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6096000" y="4000500"/>
            <a:ext cx="5143500" cy="952500"/>
          </a:xfrm>
          <a:prstGeom prst="roundRect">
            <a:avLst>
              <a:gd name="adj" fmla="val 16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FFB74D">
                <a:alpha val="3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430518" y="418433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主力客源区域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32042" y="4540568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港澳台 + 东南亚（新马）+ 俄韩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6166" y="6173152"/>
            <a:ext cx="30779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全量共 50+ 个语言站，长尾站点共享约 11% 流量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0" y="1428750"/>
            <a:ext cx="4762500" cy="4762500"/>
          </a:xfrm>
          <a:prstGeom prst="ellipse">
            <a:avLst/>
          </a:prstGeom>
          <a:solidFill>
            <a:srgbClr val="4FC3F7">
              <a:alpha val="5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5210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渠道对比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850583"/>
            <a:ext cx="537507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各语言站流量来源差异显著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5715000" y="762000"/>
            <a:ext cx="4323779" cy="183832"/>
            <a:chOff x="5715000" y="762000"/>
            <a:chExt cx="4323779" cy="183832"/>
          </a:xfrm>
        </p:grpSpPr>
        <p:sp>
          <p:nvSpPr>
            <p:cNvPr id="7" name="Rectangle 7"/>
            <p:cNvSpPr/>
            <p:nvPr/>
          </p:nvSpPr>
          <p:spPr>
            <a:xfrm>
              <a:off x="571500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81688" y="7696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A8C8"/>
                  </a:solidFill>
                  <a:latin typeface="Arial"/>
                  <a:ea typeface="Microsoft YaHei"/>
                  <a:cs typeface="Arial"/>
                </a:rPr>
                <a:t>站内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38175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FFB74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548438" y="769620"/>
              <a:ext cx="5727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APP-PUSH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3900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05688" y="769620"/>
              <a:ext cx="4797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Partner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9C6BD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62938" y="769620"/>
              <a:ext cx="2463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SEO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85825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24938" y="769620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PPC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62025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5C759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786938" y="7696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A8C8"/>
                  </a:solidFill>
                  <a:latin typeface="Arial"/>
                  <a:ea typeface="Microsoft YaHei"/>
                  <a:cs typeface="Arial"/>
                </a:rPr>
                <a:t>其他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762000" y="228600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5C7590">
                <a:alpha val="30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" y="30956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5C7590">
                <a:alpha val="30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762000" y="39052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5C7590">
                <a:alpha val="30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762000" y="471487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5C7590">
                <a:alpha val="30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762000" y="552450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19050">
            <a:solidFill>
              <a:srgbClr val="8FA8C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27577" y="2252662"/>
            <a:ext cx="1963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7577" y="3062288"/>
            <a:ext cx="1963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7577" y="3871912"/>
            <a:ext cx="1963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7577" y="4681538"/>
            <a:ext cx="1963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7577" y="5491162"/>
            <a:ext cx="1963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600200" y="2924175"/>
            <a:ext cx="152400" cy="2600325"/>
          </a:xfrm>
          <a:prstGeom prst="roundRect">
            <a:avLst>
              <a:gd name="adj" fmla="val 25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1809750" y="5314950"/>
            <a:ext cx="152400" cy="20955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2019300" y="5000625"/>
            <a:ext cx="152400" cy="523875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2228850" y="5353050"/>
            <a:ext cx="152400" cy="17145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2438400" y="5334000"/>
            <a:ext cx="152400" cy="19050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3600450" y="3943350"/>
            <a:ext cx="152400" cy="1581150"/>
          </a:xfrm>
          <a:prstGeom prst="roundRect">
            <a:avLst>
              <a:gd name="adj" fmla="val 25000"/>
            </a:avLst>
          </a:prstGeom>
          <a:solidFill>
            <a:srgbClr val="4FC3F7">
              <a:alpha val="85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3810000" y="4619625"/>
            <a:ext cx="152400" cy="904875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4019550" y="5057775"/>
            <a:ext cx="152400" cy="466725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4229100" y="4981575"/>
            <a:ext cx="152400" cy="542925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4438650" y="5200650"/>
            <a:ext cx="152400" cy="32385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600700" y="3305175"/>
            <a:ext cx="152400" cy="2219325"/>
          </a:xfrm>
          <a:prstGeom prst="roundRect">
            <a:avLst>
              <a:gd name="adj" fmla="val 25000"/>
            </a:avLst>
          </a:prstGeom>
          <a:solidFill>
            <a:srgbClr val="4FC3F7">
              <a:alpha val="75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5810250" y="5105400"/>
            <a:ext cx="152400" cy="41910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019800" y="4857750"/>
            <a:ext cx="152400" cy="66675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6229350" y="5314950"/>
            <a:ext cx="152400" cy="20955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6438900" y="5124450"/>
            <a:ext cx="152400" cy="40005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7600950" y="4219575"/>
            <a:ext cx="152400" cy="1304925"/>
          </a:xfrm>
          <a:prstGeom prst="roundRect">
            <a:avLst>
              <a:gd name="adj" fmla="val 25000"/>
            </a:avLst>
          </a:prstGeom>
          <a:solidFill>
            <a:srgbClr val="4FC3F7">
              <a:alpha val="65000"/>
            </a:srgbClr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7810500" y="4857750"/>
            <a:ext cx="152400" cy="66675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020050" y="5038725"/>
            <a:ext cx="152400" cy="485775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229600" y="4343400"/>
            <a:ext cx="152400" cy="118110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8439150" y="4981575"/>
            <a:ext cx="152400" cy="542925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9601200" y="3800475"/>
            <a:ext cx="152400" cy="1724025"/>
          </a:xfrm>
          <a:prstGeom prst="roundRect">
            <a:avLst>
              <a:gd name="adj" fmla="val 25000"/>
            </a:avLst>
          </a:prstGeom>
          <a:solidFill>
            <a:srgbClr val="4FC3F7">
              <a:alpha val="90000"/>
            </a:srgbClr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9810750" y="5238750"/>
            <a:ext cx="152400" cy="28575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10020300" y="4781550"/>
            <a:ext cx="152400" cy="74295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10229850" y="5143500"/>
            <a:ext cx="152400" cy="38100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10439400" y="5010150"/>
            <a:ext cx="152400" cy="51435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695590" y="571595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zh-hk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695840" y="571595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en-sg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681249" y="5715952"/>
            <a:ext cx="4485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en-my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696340" y="571595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ru-ru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696590" y="571595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ko-kr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71500" y="6096000"/>
            <a:ext cx="11049000" cy="381000"/>
          </a:xfrm>
          <a:prstGeom prst="roundRect">
            <a:avLst>
              <a:gd name="adj" fmla="val 30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2997796" y="6188392"/>
            <a:ext cx="619640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站内是大盘主力（32%-67%），每站渠道侧重差异巨大 — 运营应一站一策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4596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096250" y="-1047750"/>
            <a:ext cx="4381500" cy="4381500"/>
          </a:xfrm>
          <a:prstGeom prst="ellipse">
            <a:avLst/>
          </a:prstGeom>
          <a:solidFill>
            <a:srgbClr val="4FC3F7">
              <a:alpha val="7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4286250"/>
            <a:ext cx="2857500" cy="28575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B74D"/>
                </a:solidFill>
                <a:latin typeface="Arial"/>
                <a:ea typeface="Microsoft YaHei"/>
                <a:cs typeface="Arial"/>
              </a:rPr>
              <a:t>重点站点分析 ·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546412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zh-hk 香港 — 站内流量主导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FFB74D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2450" y="1924050"/>
            <a:ext cx="2681630" cy="1162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66.6%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38856" y="2377440"/>
            <a:ext cx="27201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站内流量占比 · 全站最高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118" y="2822258"/>
            <a:ext cx="44592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香港用户在平台内自发流转，对外投放依赖低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404" y="3347085"/>
            <a:ext cx="17873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603,658（第 1 名）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404" y="3632835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UV 49,043（第 1 名）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5404" y="3918585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占比 30.1%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0" y="1619250"/>
            <a:ext cx="6286500" cy="4000500"/>
          </a:xfrm>
          <a:prstGeom prst="roundRect">
            <a:avLst>
              <a:gd name="adj" fmla="val 3810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35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15356" y="185356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渠道构成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17642" y="237839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77000" y="2400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477000" y="2400300"/>
            <a:ext cx="2790825" cy="19050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756392" y="24069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66.6%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17642" y="2854642"/>
            <a:ext cx="719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477000" y="28765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477000" y="2876550"/>
            <a:ext cx="561975" cy="1905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756392" y="288321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CAF50"/>
                </a:solidFill>
                <a:latin typeface="Georgia"/>
                <a:ea typeface="Georgia"/>
                <a:cs typeface="Georgia"/>
              </a:rPr>
              <a:t>13.3%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17642" y="3330892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77000" y="33528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477000" y="3352800"/>
            <a:ext cx="228600" cy="190500"/>
          </a:xfrm>
          <a:prstGeom prst="roundRect">
            <a:avLst>
              <a:gd name="adj" fmla="val 20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756392" y="3359468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5.4%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17642" y="3807142"/>
            <a:ext cx="368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38290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477000" y="38290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756392" y="3835718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4.5%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17642" y="4283392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4305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477000" y="4305300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756392" y="4311968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6B6B"/>
                </a:solidFill>
                <a:latin typeface="Georgia"/>
                <a:ea typeface="Georgia"/>
                <a:cs typeface="Georgia"/>
              </a:rPr>
              <a:t>5.0%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572000"/>
            <a:ext cx="4191000" cy="1047750"/>
          </a:xfrm>
          <a:prstGeom prst="roundRect">
            <a:avLst>
              <a:gd name="adj" fmla="val 14545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FFB74D">
                <a:alpha val="40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29818" y="4727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1342" y="509301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加强平台内交叉引流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1342" y="5359718"/>
            <a:ext cx="20564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Partner 联盟是第二抓手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6166" y="6173152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286750" y="-1238250"/>
            <a:ext cx="4381500" cy="4381500"/>
          </a:xfrm>
          <a:prstGeom prst="ellipse">
            <a:avLst/>
          </a:prstGeom>
          <a:solidFill>
            <a:srgbClr val="4FC3F7">
              <a:alpha val="7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76250" y="4286250"/>
            <a:ext cx="2857500" cy="28575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重点站点分析 ·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644399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en-sg 新加坡 — APP-PUSH 驱动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2450" y="1924050"/>
            <a:ext cx="2681630" cy="1162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23.0%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38856" y="2377440"/>
            <a:ext cx="30522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APP-PUSH 占比 · 全站最高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118" y="2822258"/>
            <a:ext cx="394540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PV 体量全站第二，高度依赖 Push 召回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404" y="3204210"/>
            <a:ext cx="4142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很可能与 BIGBANG 新加坡演唱会等演出开票提醒强绑定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404" y="3632835"/>
            <a:ext cx="17873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581,867（第 2 名）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5404" y="3918585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UV 37,249（第 2 名）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5404" y="4204335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占比 29.0%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43500" y="1619250"/>
            <a:ext cx="6286500" cy="4000500"/>
          </a:xfrm>
          <a:prstGeom prst="roundRect">
            <a:avLst>
              <a:gd name="adj" fmla="val 3810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35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515356" y="185356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渠道构成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17642" y="237839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477000" y="2400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477000" y="2400300"/>
            <a:ext cx="1790700" cy="19050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756392" y="24069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42.7%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17642" y="2854642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477000" y="28765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477000" y="2876550"/>
            <a:ext cx="962025" cy="190500"/>
          </a:xfrm>
          <a:prstGeom prst="roundRect">
            <a:avLst>
              <a:gd name="adj" fmla="val 20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756392" y="288321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23.0%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17642" y="3330892"/>
            <a:ext cx="368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477000" y="33528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477000" y="3352800"/>
            <a:ext cx="504825" cy="190500"/>
          </a:xfrm>
          <a:prstGeom prst="roundRect">
            <a:avLst>
              <a:gd name="adj" fmla="val 20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756392" y="33594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12.1%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17642" y="3807142"/>
            <a:ext cx="719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38290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477000" y="3829050"/>
            <a:ext cx="457200" cy="1905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756392" y="383571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CAF50"/>
                </a:solidFill>
                <a:latin typeface="Georgia"/>
                <a:ea typeface="Georgia"/>
                <a:cs typeface="Georgia"/>
              </a:rPr>
              <a:t>10.8%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17642" y="4283392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4305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477000" y="4305300"/>
            <a:ext cx="314325" cy="19050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756392" y="4311968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6B6B"/>
                </a:solidFill>
                <a:latin typeface="Georgia"/>
                <a:ea typeface="Georgia"/>
                <a:cs typeface="Georgia"/>
              </a:rPr>
              <a:t>7.4%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572000"/>
            <a:ext cx="4191000" cy="1047750"/>
          </a:xfrm>
          <a:prstGeom prst="roundRect">
            <a:avLst>
              <a:gd name="adj" fmla="val 14545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FFB74D">
                <a:alpha val="40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29818" y="4727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1342" y="5093018"/>
            <a:ext cx="16356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深耕 Push 召回能力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1342" y="53597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绑定演唱会/演出票务场景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166" y="6173152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334250" y="-1238250"/>
            <a:ext cx="4381500" cy="4381500"/>
          </a:xfrm>
          <a:prstGeom prst="ellipse">
            <a:avLst/>
          </a:prstGeom>
          <a:solidFill>
            <a:srgbClr val="9C6BDB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3524250"/>
            <a:ext cx="3429000" cy="34290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6BDB"/>
                </a:solidFill>
                <a:latin typeface="Arial"/>
                <a:ea typeface="Microsoft YaHei"/>
                <a:cs typeface="Arial"/>
              </a:rPr>
              <a:t>重点站点分析 · 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566430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ru-ru 俄语站 — SEO 驱动型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9C6BDB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2450" y="1924050"/>
            <a:ext cx="2681630" cy="1162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28.4%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38856" y="2377440"/>
            <a:ext cx="239938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SEO 占比 · 全站最高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118" y="2822258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俄罗斯用户大量通过搜索引擎自然流入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404" y="3204210"/>
            <a:ext cx="32349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站内占比全站最低（31.7%），对投放依赖低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404" y="3632835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68,933（第 5 名）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5404" y="3918585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UV 16,647（第 5 名）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5404" y="4204335"/>
            <a:ext cx="10533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占比 3.4%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43500" y="1619250"/>
            <a:ext cx="6286500" cy="4000500"/>
          </a:xfrm>
          <a:prstGeom prst="roundRect">
            <a:avLst>
              <a:gd name="adj" fmla="val 3810"/>
            </a:avLst>
          </a:prstGeom>
          <a:solidFill>
            <a:srgbClr val="9C6BDB">
              <a:alpha val="8000"/>
            </a:srgbClr>
          </a:solidFill>
          <a:ln w="9525">
            <a:solidFill>
              <a:srgbClr val="9C6BDB">
                <a:alpha val="35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515356" y="185356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C6BDB"/>
                </a:solidFill>
                <a:latin typeface="Arial"/>
                <a:ea typeface="Microsoft YaHei"/>
                <a:cs typeface="Arial"/>
              </a:rPr>
              <a:t>渠道构成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17642" y="2378392"/>
            <a:ext cx="368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477000" y="2400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477000" y="2400300"/>
            <a:ext cx="1190625" cy="190500"/>
          </a:xfrm>
          <a:prstGeom prst="roundRect">
            <a:avLst>
              <a:gd name="adj" fmla="val 20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756392" y="24069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28.4%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17642" y="285464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477000" y="28765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477000" y="2876550"/>
            <a:ext cx="1323975" cy="19050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756392" y="288321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31.7%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17642" y="3330892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477000" y="33528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477000" y="3352800"/>
            <a:ext cx="609600" cy="190500"/>
          </a:xfrm>
          <a:prstGeom prst="roundRect">
            <a:avLst>
              <a:gd name="adj" fmla="val 20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756392" y="33594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14.5%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17642" y="3807142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38290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477000" y="3829050"/>
            <a:ext cx="504825" cy="19050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756392" y="383571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6B6B"/>
                </a:solidFill>
                <a:latin typeface="Georgia"/>
                <a:ea typeface="Georgia"/>
                <a:cs typeface="Georgia"/>
              </a:rPr>
              <a:t>12.0%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17642" y="4283392"/>
            <a:ext cx="719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4305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477000" y="4305300"/>
            <a:ext cx="447675" cy="1905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756392" y="43119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CAF50"/>
                </a:solidFill>
                <a:latin typeface="Georgia"/>
                <a:ea typeface="Georgia"/>
                <a:cs typeface="Georgia"/>
              </a:rPr>
              <a:t>10.6%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572000"/>
            <a:ext cx="4191000" cy="1047750"/>
          </a:xfrm>
          <a:prstGeom prst="roundRect">
            <a:avLst>
              <a:gd name="adj" fmla="val 14545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9C6BDB">
                <a:alpha val="40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29818" y="4727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9C6BDB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1342" y="5093018"/>
            <a:ext cx="16363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加大 SEO 内容建设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1342" y="5359718"/>
            <a:ext cx="22218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关键词覆盖 + 自然流量增长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166" y="6173152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857500" y="952500"/>
            <a:ext cx="5715000" cy="5715000"/>
          </a:xfrm>
          <a:prstGeom prst="ellipse">
            <a:avLst/>
          </a:prstGeom>
          <a:solidFill>
            <a:srgbClr val="4CAF50">
              <a:alpha val="5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52101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CAF50"/>
                </a:solidFill>
                <a:latin typeface="Arial"/>
                <a:ea typeface="Microsoft YaHei"/>
                <a:cs typeface="Arial"/>
              </a:rPr>
              <a:t>重点站点分析 ·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850583"/>
            <a:ext cx="58203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ko-kr + en-my — 多渠道均衡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CAF50">
              <a:alpha val="4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714500"/>
            <a:ext cx="5334000" cy="3619500"/>
          </a:xfrm>
          <a:prstGeom prst="roundRect">
            <a:avLst>
              <a:gd name="adj" fmla="val 4211"/>
            </a:avLst>
          </a:prstGeom>
          <a:solidFill>
            <a:srgbClr val="4FC3F7">
              <a:alpha val="6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28294" y="1932622"/>
            <a:ext cx="14117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ko-kr 韩语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2866" y="2315528"/>
            <a:ext cx="23106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PV 55,648（第 6 名）· UV 14,796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2104" y="2727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619250" y="27432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619250" y="2743200"/>
            <a:ext cx="1647825" cy="152400"/>
          </a:xfrm>
          <a:prstGeom prst="roundRect">
            <a:avLst>
              <a:gd name="adj" fmla="val 25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961298" y="2744152"/>
            <a:ext cx="473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44.3%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2104" y="3089910"/>
            <a:ext cx="6391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619250" y="310515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619250" y="3105150"/>
            <a:ext cx="561975" cy="15240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961298" y="3106102"/>
            <a:ext cx="473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CAF50"/>
                </a:solidFill>
                <a:latin typeface="Georgia"/>
                <a:ea typeface="Georgia"/>
                <a:cs typeface="Georgia"/>
              </a:rPr>
              <a:t>15.0%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2104" y="34518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619250" y="34671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619250" y="3467100"/>
            <a:ext cx="428625" cy="15240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961298" y="3468052"/>
            <a:ext cx="473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FF6B6B"/>
                </a:solidFill>
                <a:latin typeface="Georgia"/>
                <a:ea typeface="Georgia"/>
                <a:cs typeface="Georgia"/>
              </a:rPr>
              <a:t>11.6%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2104" y="3813810"/>
            <a:ext cx="3279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619250" y="382905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1619250" y="3829050"/>
            <a:ext cx="361950" cy="15240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047549" y="383000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9.7%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2104" y="4175760"/>
            <a:ext cx="7632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619250" y="41910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1619250" y="4191000"/>
            <a:ext cx="238125" cy="15240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047549" y="419195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6.5%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1714500"/>
            <a:ext cx="5334000" cy="3619500"/>
          </a:xfrm>
          <a:prstGeom prst="roundRect">
            <a:avLst>
              <a:gd name="adj" fmla="val 4211"/>
            </a:avLst>
          </a:prstGeom>
          <a:solidFill>
            <a:srgbClr val="4CAF50">
              <a:alpha val="6000"/>
            </a:srgbClr>
          </a:solidFill>
          <a:ln w="9525">
            <a:solidFill>
              <a:srgbClr val="4CAF50">
                <a:alpha val="30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543294" y="1932622"/>
            <a:ext cx="201816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4CAF50"/>
                </a:solidFill>
                <a:latin typeface="Arial"/>
                <a:ea typeface="Microsoft YaHei"/>
                <a:cs typeface="Arial"/>
              </a:rPr>
              <a:t>en-my 马来英文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47866" y="2315528"/>
            <a:ext cx="23928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PV 146,071（第 4 名）· UV 11,297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47104" y="2727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334250" y="27432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7334250" y="2743200"/>
            <a:ext cx="2047875" cy="152400"/>
          </a:xfrm>
          <a:prstGeom prst="roundRect">
            <a:avLst>
              <a:gd name="adj" fmla="val 25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676298" y="2744152"/>
            <a:ext cx="473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55.0%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47104" y="3089910"/>
            <a:ext cx="6391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334250" y="310515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7334250" y="3105150"/>
            <a:ext cx="600075" cy="15240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676298" y="3106102"/>
            <a:ext cx="473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CAF50"/>
                </a:solidFill>
                <a:latin typeface="Georgia"/>
                <a:ea typeface="Georgia"/>
                <a:cs typeface="Georgia"/>
              </a:rPr>
              <a:t>16.1%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47104" y="3451860"/>
            <a:ext cx="7632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334250" y="34671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7334250" y="3467100"/>
            <a:ext cx="342900" cy="15240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762549" y="346805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9.3%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47104" y="381381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334250" y="382905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7334250" y="3829050"/>
            <a:ext cx="314325" cy="15240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0762549" y="383000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FF6B6B"/>
                </a:solidFill>
                <a:latin typeface="Georgia"/>
                <a:ea typeface="Georgia"/>
                <a:cs typeface="Georgia"/>
              </a:rPr>
              <a:t>8.4%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47104" y="4175760"/>
            <a:ext cx="3279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334250" y="41910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7334250" y="4191000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762549" y="419195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5.2%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71500" y="5524500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CAF50">
                <a:alpha val="30000"/>
              </a:srgbClr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944880" y="5695950"/>
            <a:ext cx="53265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共同特征：站内 44-55%，外部渠道 8-16%，多渠道并进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66166" y="6335078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9680" y="6335078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190500" y="-1143000"/>
            <a:ext cx="4191000" cy="4191000"/>
          </a:xfrm>
          <a:prstGeom prst="ellipse">
            <a:avLst/>
          </a:prstGeom>
          <a:solidFill>
            <a:srgbClr val="FFB74D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096250" y="3333750"/>
            <a:ext cx="4762500" cy="4762500"/>
          </a:xfrm>
          <a:prstGeom prst="ellipse">
            <a:avLst/>
          </a:prstGeom>
          <a:solidFill>
            <a:srgbClr val="4FC3F7">
              <a:alpha val="6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B74D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448456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一站一策：差异化运营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FFB74D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666875"/>
            <a:ext cx="5334000" cy="2190750"/>
          </a:xfrm>
          <a:prstGeom prst="roundRect">
            <a:avLst>
              <a:gd name="adj" fmla="val 6957"/>
            </a:avLst>
          </a:prstGeom>
          <a:solidFill>
            <a:srgbClr val="4FC3F7">
              <a:alpha val="6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28294" y="1837372"/>
            <a:ext cx="14117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zh-hk 香港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342" y="2283142"/>
            <a:ext cx="2140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B74D"/>
                </a:solidFill>
                <a:latin typeface="Georgia"/>
                <a:ea typeface="Microsoft YaHei"/>
                <a:cs typeface="Georgia"/>
              </a:rPr>
              <a:t>站内 66.6% 是全站最高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1342" y="2635568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策略：加强平台内交叉引流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2104" y="2966085"/>
            <a:ext cx="26340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Partner 联盟是第二抓手（13.3%）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2866" y="331565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对外投放依赖低，侧重内部生态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666875"/>
            <a:ext cx="5334000" cy="2190750"/>
          </a:xfrm>
          <a:prstGeom prst="roundRect">
            <a:avLst>
              <a:gd name="adj" fmla="val 6957"/>
            </a:avLst>
          </a:prstGeom>
          <a:solidFill>
            <a:srgbClr val="FFB74D">
              <a:alpha val="5000"/>
            </a:srgbClr>
          </a:solidFill>
          <a:ln w="9525">
            <a:solidFill>
              <a:srgbClr val="FFB74D">
                <a:alpha val="25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543294" y="1837372"/>
            <a:ext cx="16874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B74D"/>
                </a:solidFill>
                <a:latin typeface="Arial"/>
                <a:ea typeface="Microsoft YaHei"/>
                <a:cs typeface="Arial"/>
              </a:rPr>
              <a:t>en-sg 新加坡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46342" y="2283142"/>
            <a:ext cx="29149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FC3F7"/>
                </a:solidFill>
                <a:latin typeface="Georgia"/>
                <a:ea typeface="Microsoft YaHei"/>
                <a:cs typeface="Georgia"/>
              </a:rPr>
              <a:t>APP-PUSH 23% 是全站最高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46342" y="2635568"/>
            <a:ext cx="21885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策略：深耕 Push 召回能力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7104" y="2966085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绑定演出/演唱会开票提醒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47866" y="3315652"/>
            <a:ext cx="19821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如 BIGBANG 新加坡演唱会热点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4143375"/>
            <a:ext cx="5334000" cy="2190750"/>
          </a:xfrm>
          <a:prstGeom prst="roundRect">
            <a:avLst>
              <a:gd name="adj" fmla="val 6957"/>
            </a:avLst>
          </a:prstGeom>
          <a:solidFill>
            <a:srgbClr val="9C6BDB">
              <a:alpha val="6000"/>
            </a:srgbClr>
          </a:solidFill>
          <a:ln w="9525">
            <a:solidFill>
              <a:srgbClr val="9C6BDB">
                <a:alpha val="3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28294" y="4313872"/>
            <a:ext cx="14117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9C6BDB"/>
                </a:solidFill>
                <a:latin typeface="Arial"/>
                <a:ea typeface="Microsoft YaHei"/>
                <a:cs typeface="Arial"/>
              </a:rPr>
              <a:t>ru-ru 俄语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1342" y="4759642"/>
            <a:ext cx="25599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FC3F7"/>
                </a:solidFill>
                <a:latin typeface="Georgia"/>
                <a:ea typeface="Microsoft YaHei"/>
                <a:cs typeface="Georgia"/>
              </a:rPr>
              <a:t>SEO 28.4% 是全站最高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1342" y="5112068"/>
            <a:ext cx="22123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策略：加大 SEO 内容建设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2104" y="544258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关键词覆盖，驱动自然流量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2866" y="579215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用户习惯搜索引擎，不敏感投放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4143375"/>
            <a:ext cx="5334000" cy="2190750"/>
          </a:xfrm>
          <a:prstGeom prst="roundRect">
            <a:avLst>
              <a:gd name="adj" fmla="val 6957"/>
            </a:avLst>
          </a:prstGeom>
          <a:solidFill>
            <a:srgbClr val="4CAF50">
              <a:alpha val="5000"/>
            </a:srgbClr>
          </a:solidFill>
          <a:ln w="9525">
            <a:solidFill>
              <a:srgbClr val="4CAF50">
                <a:alpha val="25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543294" y="4313872"/>
            <a:ext cx="190790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4CAF50"/>
                </a:solidFill>
                <a:latin typeface="Arial"/>
                <a:ea typeface="Arial"/>
                <a:cs typeface="Arial"/>
              </a:rPr>
              <a:t>ko-kr + en-my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46342" y="4759642"/>
            <a:ext cx="12234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F0FA"/>
                </a:solidFill>
                <a:latin typeface="Georgia"/>
                <a:ea typeface="Microsoft YaHei"/>
                <a:cs typeface="Georgia"/>
              </a:rPr>
              <a:t>多渠道均衡型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46342" y="511206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策略：维持多渠道并进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47104" y="5442585"/>
            <a:ext cx="2035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优化 Partner + PPC 性价比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47866" y="5792152"/>
            <a:ext cx="1713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站内 44-55%，外部 8-16%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36109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四个主要抓手：Partner 联盟 + SEO + APP-PUSH + PPC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810500" y="-1238250"/>
            <a:ext cx="5334000" cy="5334000"/>
          </a:xfrm>
          <a:prstGeom prst="ellipse">
            <a:avLst/>
          </a:prstGeom>
          <a:solidFill>
            <a:srgbClr val="4FC3F7">
              <a:alpha val="1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666750" y="3143250"/>
            <a:ext cx="4191000" cy="4191000"/>
          </a:xfrm>
          <a:prstGeom prst="ellipse">
            <a:avLst/>
          </a:prstGeom>
          <a:solidFill>
            <a:srgbClr val="FFB74D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6667500" y="3619500"/>
            <a:ext cx="3810000" cy="3810000"/>
          </a:xfrm>
          <a:prstGeom prst="ellipse">
            <a:avLst/>
          </a:prstGeom>
          <a:solidFill>
            <a:srgbClr val="4CAF50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4642" y="6162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2450" y="1118235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从流量到转化</a:t>
            </a:r>
          </a:p>
        </p:txBody>
      </p:sp>
      <p:sp>
        <p:nvSpPr>
          <p:cNvPr id="9" name="Line 9"/>
          <p:cNvSpPr/>
          <p:nvPr/>
        </p:nvSpPr>
        <p:spPr>
          <a:xfrm>
            <a:off x="571500" y="2047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4FC3F7">
                <a:alpha val="40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62356" y="2425065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已明确：各语言站流量分布与渠道差异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2356" y="2853690"/>
            <a:ext cx="48444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下一步：分析各站下单转化、订单量、GMV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2356" y="3282315"/>
            <a:ext cx="460126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目标：评估各站投放 ROI，优化资源配置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4000500"/>
            <a:ext cx="7620000" cy="952500"/>
          </a:xfrm>
          <a:prstGeom prst="roundRect">
            <a:avLst>
              <a:gd name="adj" fmla="val 16000"/>
            </a:avLst>
          </a:prstGeom>
          <a:solidFill>
            <a:srgbClr val="4FC3F7">
              <a:alpha val="8000"/>
            </a:srgbClr>
          </a:solidFill>
          <a:ln w="14288">
            <a:solidFill>
              <a:srgbClr val="4FC3F7">
                <a:alpha val="5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47344" y="42471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B74D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8868" y="4603432"/>
            <a:ext cx="43469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2 占 59% · 一站一策 · 从流量到转化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5404" y="6061710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运营数据分析 · 2026-09-04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077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2026-09-04T05:46:07Z</dcterms:created>
  <dcterms:modified xsi:type="dcterms:W3CDTF">2026-09-04T05:46:07Z</dcterms:modified>
  <cp:category/>
  <cp:contentStatus/>
</cp:coreProperties>
</file>