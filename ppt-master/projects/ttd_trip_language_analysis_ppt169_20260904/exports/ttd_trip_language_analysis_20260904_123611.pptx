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主题：T站门票语言站流量分析。</a:t>
            </a:r>
          </a:p>
          <a:p>
            <a:r>
              <a:rPr lang="zh-CN" dirty="0"/>
              <a:t>开场引入：数据周期 2026-08-10 至 08-17，基于 SGP 集群 T 站海外的门票业务数据。</a:t>
            </a:r>
          </a:p>
          <a:p>
            <a:r>
              <a:rPr lang="zh-CN" dirty="0"/>
              <a:t>核心数据亮点：zh-hk 单站 PV 超过 60 万，TOP 2 贡献 59%。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核心结论先行：TOP 2 语言站（zh-hk + en-sg）合计贡献 59% 流量，TOP 10 占 88.6%。</a:t>
            </a:r>
          </a:p>
          <a:p>
            <a:r>
              <a:rPr lang="zh-CN" dirty="0"/>
              <a:t>三组关键数字：59% TOP 2 集中度、88.6% TOP 10 占比、站内流量 32-67% 是通道主体。</a:t>
            </a:r>
          </a:p>
          <a:p>
            <a:r>
              <a:rPr lang="zh-CN" dirty="0"/>
              <a:t>主战场明确：港澳台 + 东南亚（新马）+ 俄韩。</a:t>
            </a:r>
          </a:p>
          <a:p>
            <a:r>
              <a:rPr lang="zh-CN" dirty="0"/>
              <a:t>引导听众关注：运营策略应一站一策。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解释数据口径：按语言站（locale）而非按景点统计。</a:t>
            </a:r>
          </a:p>
          <a:p>
            <a:r>
              <a:rPr lang="zh-CN" dirty="0"/>
              <a:t>强调数据来源：SGP 集群，数据表 dw_ticketdb.edw_log_ttd_traffic_order_d_ext。</a:t>
            </a:r>
          </a:p>
          <a:p>
            <a:r>
              <a:rPr lang="zh-CN" dirty="0"/>
              <a:t>说明指标定义：PV = count(distinct com_pv)，UV = count(distinct vid)。</a:t>
            </a:r>
          </a:p>
          <a:p>
            <a:r>
              <a:rPr lang="zh-CN" dirty="0"/>
              <a:t>提醒听众：上轮按景点的统计偏了，本轮已修正。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 TOP 10 语言站 PV 排名，强调 zh-hk（30.1%）和 en-sg（29.0%）的绝对领先地位。</a:t>
            </a:r>
          </a:p>
          <a:p>
            <a:r>
              <a:rPr lang="zh-CN" dirty="0"/>
              <a:t>第 3-4 名（zh-tw 和 en-my）与第 1-2 名差距明显，说明头部集中。</a:t>
            </a:r>
          </a:p>
          <a:p>
            <a:r>
              <a:rPr lang="zh-CN" dirty="0"/>
              <a:t>从第 5 名开始，各站 PV 占比均降至 3% 以下，长尾效应明显。</a:t>
            </a:r>
          </a:p>
          <a:p>
            <a:r>
              <a:rPr lang="zh-CN" dirty="0"/>
              <a:t>总结：TOP 10 合计占全部流量的 88.6%。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强调集中度：TOP 2 合计 59%，TOP 10 合计 88.6%。</a:t>
            </a:r>
          </a:p>
          <a:p>
            <a:r>
              <a:rPr lang="zh-CN" dirty="0"/>
              <a:t>用 donut 图可视化展示头部站占比。</a:t>
            </a:r>
          </a:p>
          <a:p>
            <a:r>
              <a:rPr lang="zh-CN" dirty="0"/>
              <a:t>说明主力客源区：港澳台 + 东南亚（新马）+ 俄韩。</a:t>
            </a:r>
          </a:p>
          <a:p>
            <a:r>
              <a:rPr lang="zh-CN" dirty="0"/>
              <a:t>长尾 40+ 站点共享约 11% 流量。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 5 个核心语言站的渠道构成。</a:t>
            </a:r>
          </a:p>
          <a:p>
            <a:r>
              <a:rPr lang="zh-CN" dirty="0"/>
              <a:t>强调差异：zh-hk 站内 66.6% 最高，en-sg APP-PUSH 23% 最高，ru-ru SEO 28.4% 最高。</a:t>
            </a:r>
          </a:p>
          <a:p>
            <a:r>
              <a:rPr lang="zh-CN" dirty="0"/>
              <a:t>结论：每站渠道侧重差异巨大，运营策略应一站一策。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zh-hk 是站内流量占比最高的站点（66.6%）。</a:t>
            </a:r>
          </a:p>
          <a:p>
            <a:r>
              <a:rPr lang="zh-CN" dirty="0"/>
              <a:t>解读：香港用户多在平台内自发流转，对外投放依赖低。</a:t>
            </a:r>
          </a:p>
          <a:p>
            <a:r>
              <a:rPr lang="zh-CN" dirty="0"/>
              <a:t>Partner 联盟是第二抓手（13.3%）。</a:t>
            </a:r>
          </a:p>
          <a:p>
            <a:r>
              <a:rPr lang="zh-CN" dirty="0"/>
              <a:t>运营策略：加强平台内交叉引流，深化 Partner 合作。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en-sg 的 APP-PUSH 依赖度全站最高（23%）。</a:t>
            </a:r>
          </a:p>
          <a:p>
            <a:r>
              <a:rPr lang="zh-CN" dirty="0"/>
              <a:t>PV 体量全站第二，可能绑定 BIGBANG 新加坡演唱会等票务热点。</a:t>
            </a:r>
          </a:p>
          <a:p>
            <a:r>
              <a:rPr lang="zh-CN" dirty="0"/>
              <a:t>站内仍占 42.7%，是基本盘。</a:t>
            </a:r>
          </a:p>
          <a:p>
            <a:r>
              <a:rPr lang="zh-CN" dirty="0"/>
              <a:t>运营策略：深耕 Push 召回能力，绑定演出票务场景。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ru-ru 是 SEO 驱动型站点（28.4% 全站最高）。</a:t>
            </a:r>
          </a:p>
          <a:p>
            <a:r>
              <a:rPr lang="zh-CN" dirty="0"/>
              <a:t>站内占比全站最低（31.7%），对投放依赖低。</a:t>
            </a:r>
          </a:p>
          <a:p>
            <a:r>
              <a:rPr lang="zh-CN" dirty="0"/>
              <a:t>用户习惯通过搜索引擎自然流入。</a:t>
            </a:r>
          </a:p>
          <a:p>
            <a:r>
              <a:rPr lang="zh-CN" dirty="0"/>
              <a:t>运营策略：加大 SEO 内容建设与关键词覆盖。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ko-kr 与 en-my 是均衡型站点。</a:t>
            </a:r>
          </a:p>
          <a:p>
            <a:r>
              <a:rPr lang="zh-CN" dirty="0"/>
              <a:t>站内均在 44-55%，各外部渠道 8-16%。</a:t>
            </a:r>
          </a:p>
          <a:p>
            <a:r>
              <a:rPr lang="zh-CN" dirty="0"/>
              <a:t>无单一突出渠道，需要多渠道并进。</a:t>
            </a:r>
          </a:p>
          <a:p>
            <a:r>
              <a:rPr lang="zh-CN" dirty="0"/>
              <a:t>运营策略：维持渠道均衡，优化 Partner + PPC 投放性价比。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总结四类站点的差异化策略。</a:t>
            </a:r>
          </a:p>
          <a:p>
            <a:r>
              <a:rPr lang="zh-CN" dirty="0"/>
              <a:t>zh-hk：加强平台内交叉引流。</a:t>
            </a:r>
          </a:p>
          <a:p>
            <a:r>
              <a:rPr lang="zh-CN" dirty="0"/>
              <a:t>en-sg：深耕 Push 召回 + 演出票务。</a:t>
            </a:r>
          </a:p>
          <a:p>
            <a:r>
              <a:rPr lang="zh-CN" dirty="0"/>
              <a:t>ru-ru：加大 SEO 建设。</a:t>
            </a:r>
          </a:p>
          <a:p>
            <a:r>
              <a:rPr lang="zh-CN" dirty="0"/>
              <a:t>ko-kr/en-my：维持多渠道均衡。</a:t>
            </a:r>
          </a:p>
          <a:p>
            <a:r>
              <a:rPr lang="zh-CN" dirty="0"/>
              <a:t>四个主要抓手：Partner 联盟 + SEO + APP-PUSH + PPC。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总结已完成的流量分析。</a:t>
            </a:r>
          </a:p>
          <a:p>
            <a:r>
              <a:rPr lang="zh-CN" dirty="0"/>
              <a:t>下一步：分析各站下单转化、订单量、GMV。</a:t>
            </a:r>
          </a:p>
          <a:p>
            <a:r>
              <a:rPr lang="zh-CN" dirty="0"/>
              <a:t>目标：评估各站投放 ROI，优化资源配置。</a:t>
            </a:r>
          </a:p>
          <a:p>
            <a:r>
              <a:rPr lang="zh-CN" dirty="0"/>
              <a:t>核心关键词：TOP 2 占 59% · 一站一策 · 从流量到转化。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286750" y="0"/>
            <a:ext cx="3429000" cy="3429000"/>
          </a:xfrm>
          <a:prstGeom prst="ellipse">
            <a:avLst/>
          </a:prstGeom>
          <a:noFill/>
          <a:ln w="9525">
            <a:solidFill>
              <a:srgbClr val="4A90A4">
                <a:alpha val="3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810750" y="1524000"/>
            <a:ext cx="2286000" cy="2286000"/>
          </a:xfrm>
          <a:prstGeom prst="ellipse">
            <a:avLst/>
          </a:prstGeom>
          <a:noFill/>
          <a:ln w="9525">
            <a:solidFill>
              <a:srgbClr val="4A90A4">
                <a:alpha val="2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715500" y="190500"/>
            <a:ext cx="1524000" cy="1524000"/>
          </a:xfrm>
          <a:prstGeom prst="ellipse">
            <a:avLst/>
          </a:prstGeom>
          <a:noFill/>
          <a:ln w="9525">
            <a:solidFill>
              <a:srgbClr val="4A90A4">
                <a:alpha val="2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71500" y="1524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A90A4">
                <a:alpha val="4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571500" y="476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A90A4">
                <a:alpha val="4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4642" y="759142"/>
            <a:ext cx="303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1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IBU 门票 · 语言站流量数据分析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1179195"/>
            <a:ext cx="532068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T站门票语言站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450" y="1941195"/>
            <a:ext cx="309128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流量分析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450" y="3116580"/>
            <a:ext cx="2581618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1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603K+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6856" y="3472815"/>
            <a:ext cx="299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A8B8C8"/>
                </a:solidFill>
                <a:latin typeface="Arial"/>
                <a:ea typeface="Arial"/>
                <a:cs typeface="Arial"/>
              </a:rPr>
              <a:t>PV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356" y="4091940"/>
            <a:ext cx="3616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8D4E0"/>
                </a:solidFill>
                <a:latin typeface="Arial"/>
                <a:ea typeface="Microsoft YaHei"/>
                <a:cs typeface="Arial"/>
              </a:rPr>
              <a:t>数据周期：2026-08-10 ～ 08-17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4642" y="4464368"/>
            <a:ext cx="51369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FA3B8"/>
                </a:solidFill>
                <a:latin typeface="Arial"/>
                <a:ea typeface="Microsoft YaHei"/>
                <a:cs typeface="Arial"/>
              </a:rPr>
              <a:t>口径：SGP 集群 · page_ct='trip' · sub_bu_name='ibu门票'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404" y="520446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296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2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10593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TOP 2 语言站合计贡献 59% 流量，头部集中度极高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714500"/>
            <a:ext cx="3429000" cy="209550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8012" y="2087880"/>
            <a:ext cx="10312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442" y="2711768"/>
            <a:ext cx="21082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TOP 2（zh-hk + en-sg）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442" y="297846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204" y="3489960"/>
            <a:ext cx="19749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香港 + 新加坡构成绝对主力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1714500"/>
            <a:ext cx="3429000" cy="209550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68012" y="2087880"/>
            <a:ext cx="16226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88.6%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9442" y="271176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9442" y="297846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0204" y="3489960"/>
            <a:ext cx="1853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长尾 40+ 站点共享约 11%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91500" y="1714500"/>
            <a:ext cx="3429000" cy="209550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78012" y="2087880"/>
            <a:ext cx="191841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32-67%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9442" y="27117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各语言站站内流量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89442" y="29784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仍是渠道主体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0204" y="34899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但每个站投放侧重差异巨大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" y="4095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60832" y="4297680"/>
            <a:ext cx="510997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主战场：港澳台 + 东南亚（新马）+ 俄韩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2356" y="4711065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运营策略应一站一策，按各语言站渠道特征差异化投放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166" y="6173152"/>
            <a:ext cx="556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数据来源：dw_ticketdb.edw_log_ttd_traffic_order_d_ext · 2026-08-10 ～ 08-17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数据口径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573127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按语言站（locale）口径统计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6192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19250"/>
            <a:ext cx="38100" cy="21907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28294" y="1837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数据环境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" y="2295525"/>
            <a:ext cx="25328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SGP 集群（T 站海外数据）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580" y="2619375"/>
            <a:ext cx="55279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数据表：dw_ticketdb.edw_log_ttd_traffic_order_d_ext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0580" y="2943225"/>
            <a:ext cx="46394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过滤：page_ct='trip' + sub_bu_name='ibu门票'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1342" y="328326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数据周期：2026-08-10 ～ 08-17（完整 7 天）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6192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286500" y="1619250"/>
            <a:ext cx="38100" cy="21907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43294" y="1837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统计口径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5580" y="2295525"/>
            <a:ext cx="2923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站点：按 locale 字段（语言站）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5580" y="2619375"/>
            <a:ext cx="28176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PV = count(distinct com_pv)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5580" y="2943225"/>
            <a:ext cx="2392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UV = count(distinct vid)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6342" y="3283268"/>
            <a:ext cx="2030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流量来源：trip_channel</a:t>
            </a:r>
          </a:p>
        </p:txBody>
      </p:sp>
      <p:sp>
        <p:nvSpPr>
          <p:cNvPr id="21" name="Line 21"/>
          <p:cNvSpPr/>
          <p:nvPr/>
        </p:nvSpPr>
        <p:spPr>
          <a:xfrm>
            <a:off x="571500" y="4191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62356" y="4425315"/>
            <a:ext cx="96140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⚠ 说明：上一轮按景点（viewspotname）统计回偏，本轮已修正为按语言站口径重新统计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95300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142" y="5169218"/>
            <a:ext cx="14494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zh-hk = 香港繁体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81500" y="495300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565142" y="5169218"/>
            <a:ext cx="16311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en-sg = 新加坡英文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91500" y="495300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75142" y="5169218"/>
            <a:ext cx="14857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zh-tw = 台湾繁体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6166" y="6173152"/>
            <a:ext cx="13181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全量共 50+ 个语言站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53952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PV 排名：头部站高度集中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89392" y="902018"/>
            <a:ext cx="2712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统计周期：2026-08-10 ～ 08-17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4817" y="1442085"/>
            <a:ext cx="8687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8" name="Rectangle 8"/>
          <p:cNvSpPr/>
          <p:nvPr/>
        </p:nvSpPr>
        <p:spPr>
          <a:xfrm>
            <a:off x="2952750" y="1409700"/>
            <a:ext cx="7524750" cy="2667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566654" y="1470660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603,658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34166" y="1486852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46C2C"/>
                </a:solidFill>
                <a:latin typeface="Arial"/>
                <a:ea typeface="Arial"/>
                <a:cs typeface="Arial"/>
              </a:rPr>
              <a:t>30.1%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5196" y="1823085"/>
            <a:ext cx="1038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952750" y="1790700"/>
            <a:ext cx="7258050" cy="266700"/>
          </a:xfrm>
          <a:prstGeom prst="rect">
            <a:avLst/>
          </a:prstGeom>
          <a:solidFill>
            <a:srgbClr val="1B3A5C">
              <a:alpha val="8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299954" y="1851660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581,867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34166" y="1867852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46C2C"/>
                </a:solidFill>
                <a:latin typeface="Arial"/>
                <a:ea typeface="Arial"/>
                <a:cs typeface="Arial"/>
              </a:rPr>
              <a:t>29.0%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03298" y="22040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zh-tw 台湾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952750" y="2171700"/>
            <a:ext cx="1847850" cy="26670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89754" y="2232660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148,331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09666" y="2248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7.4%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3298" y="25850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en-my 马来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952750" y="2552700"/>
            <a:ext cx="1828800" cy="266700"/>
          </a:xfrm>
          <a:prstGeom prst="rect">
            <a:avLst/>
          </a:prstGeom>
          <a:solidFill>
            <a:srgbClr val="4A90A4">
              <a:alpha val="8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870704" y="2613660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146,071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09666" y="2629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7.3%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35607" y="2966085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952750" y="2933700"/>
            <a:ext cx="857250" cy="266700"/>
          </a:xfrm>
          <a:prstGeom prst="rect">
            <a:avLst/>
          </a:prstGeom>
          <a:solidFill>
            <a:srgbClr val="4A90A4">
              <a:alpha val="7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99154" y="2994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68,933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47666" y="3010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3.4%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35607" y="3347085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952750" y="3314700"/>
            <a:ext cx="695325" cy="266700"/>
          </a:xfrm>
          <a:prstGeom prst="rect">
            <a:avLst/>
          </a:prstGeom>
          <a:solidFill>
            <a:srgbClr val="4A90A4">
              <a:alpha val="7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37229" y="3375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55,648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47666" y="3391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2.8%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75993" y="3728085"/>
            <a:ext cx="7876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en-id 印尼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952750" y="3695700"/>
            <a:ext cx="647700" cy="26670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689604" y="3756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52,135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47666" y="3772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2.6%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03298" y="41090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zh-my 马来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952750" y="4076700"/>
            <a:ext cx="600075" cy="26670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641979" y="4137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48,370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47666" y="4153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2.4%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74063" y="4490085"/>
            <a:ext cx="9895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zh-sg 新加坡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952750" y="4457700"/>
            <a:ext cx="533400" cy="266700"/>
          </a:xfrm>
          <a:prstGeom prst="rect">
            <a:avLst/>
          </a:prstGeom>
          <a:solidFill>
            <a:srgbClr val="8A94A6">
              <a:alpha val="8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575304" y="4518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42,422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47666" y="4534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2.1%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12519" y="4871085"/>
            <a:ext cx="11510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en-xx 泛用英语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952750" y="4838700"/>
            <a:ext cx="495300" cy="266700"/>
          </a:xfrm>
          <a:prstGeom prst="rect">
            <a:avLst/>
          </a:prstGeom>
          <a:solidFill>
            <a:srgbClr val="8A94A6">
              <a:alpha val="7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7204" y="4899660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39,366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47666" y="4915852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5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5334000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6667500" y="5334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28575">
            <a:solidFill>
              <a:srgbClr val="E46C2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945630" y="5505450"/>
            <a:ext cx="39469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TOP 2 合计 59% ｜ TOP 10 合计 88.6%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7154" y="5795010"/>
            <a:ext cx="24757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全量 50+ 语言站，头部集中度极高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6166" y="6173152"/>
            <a:ext cx="50064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UV：zh-hk 49,043 ｜ en-sg 37,249 ｜ zh-tw 28,092 ｜ 完整 UV 数据见明细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集中度分析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621853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TOP 2 占 59%：流量高度集中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3619500" y="2066748"/>
            <a:ext cx="1346835" cy="1648002"/>
          </a:xfrm>
          <a:custGeom>
            <a:avLst/>
            <a:gdLst/>
            <a:ahLst/>
            <a:cxnLst/>
            <a:rect l="l" t="t" r="r" b="b"/>
            <a:pathLst>
              <a:path w="1346835" h="1648002">
                <a:moveTo>
                  <a:pt x="0" y="1648002"/>
                </a:moveTo>
                <a:lnTo>
                  <a:pt x="0" y="28752"/>
                </a:lnTo>
                <a:cubicBezTo>
                  <a:pt x="518592" y="0"/>
                  <a:pt x="1019500" y="221760"/>
                  <a:pt x="1346835" y="625017"/>
                </a:cubicBezTo>
                <a:lnTo>
                  <a:pt x="903922" y="858379"/>
                </a:lnTo>
                <a:cubicBezTo>
                  <a:pt x="660289" y="634411"/>
                  <a:pt x="325164" y="538712"/>
                  <a:pt x="0" y="600252"/>
                </a:cubicBezTo>
                <a:close/>
              </a:path>
            </a:pathLst>
          </a:custGeom>
          <a:solidFill>
            <a:srgbClr val="E46C2C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523422" y="2691765"/>
            <a:ext cx="1135970" cy="1810702"/>
          </a:xfrm>
          <a:custGeom>
            <a:avLst/>
            <a:gdLst/>
            <a:ahLst/>
            <a:cxnLst/>
            <a:rect l="l" t="t" r="r" b="b"/>
            <a:pathLst>
              <a:path w="1135970" h="1810702">
                <a:moveTo>
                  <a:pt x="442913" y="0"/>
                </a:moveTo>
                <a:cubicBezTo>
                  <a:pt x="958335" y="449311"/>
                  <a:pt x="1135970" y="1173958"/>
                  <a:pt x="886778" y="1810702"/>
                </a:cubicBezTo>
                <a:lnTo>
                  <a:pt x="254318" y="1532572"/>
                </a:lnTo>
                <a:cubicBezTo>
                  <a:pt x="488536" y="1094015"/>
                  <a:pt x="382288" y="551240"/>
                  <a:pt x="0" y="233362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4547235" y="4224338"/>
            <a:ext cx="862965" cy="857250"/>
          </a:xfrm>
          <a:custGeom>
            <a:avLst/>
            <a:gdLst/>
            <a:ahLst/>
            <a:cxnLst/>
            <a:rect l="l" t="t" r="r" b="b"/>
            <a:pathLst>
              <a:path w="862965" h="857250">
                <a:moveTo>
                  <a:pt x="862965" y="278130"/>
                </a:moveTo>
                <a:cubicBezTo>
                  <a:pt x="786262" y="494289"/>
                  <a:pt x="664512" y="691686"/>
                  <a:pt x="505778" y="857250"/>
                </a:cubicBezTo>
                <a:lnTo>
                  <a:pt x="0" y="374333"/>
                </a:lnTo>
                <a:cubicBezTo>
                  <a:pt x="102442" y="267259"/>
                  <a:pt x="181006" y="139674"/>
                  <a:pt x="230505" y="0"/>
                </a:cubicBezTo>
                <a:close/>
              </a:path>
            </a:pathLst>
          </a:custGeom>
          <a:solidFill>
            <a:srgbClr val="4A90A4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4504372" y="4598670"/>
            <a:ext cx="548640" cy="653415"/>
          </a:xfrm>
          <a:custGeom>
            <a:avLst/>
            <a:gdLst/>
            <a:ahLst/>
            <a:cxnLst/>
            <a:rect l="l" t="t" r="r" b="b"/>
            <a:pathLst>
              <a:path w="548640" h="653415">
                <a:moveTo>
                  <a:pt x="548640" y="482917"/>
                </a:moveTo>
                <a:cubicBezTo>
                  <a:pt x="529959" y="540942"/>
                  <a:pt x="508017" y="597865"/>
                  <a:pt x="482918" y="653415"/>
                </a:cubicBezTo>
                <a:lnTo>
                  <a:pt x="0" y="110490"/>
                </a:lnTo>
                <a:cubicBezTo>
                  <a:pt x="16361" y="74498"/>
                  <a:pt x="30671" y="37609"/>
                  <a:pt x="42862" y="0"/>
                </a:cubicBezTo>
                <a:close/>
              </a:path>
            </a:pathLst>
          </a:custGeom>
          <a:solidFill>
            <a:srgbClr val="8A94A6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2347398" y="2095500"/>
            <a:ext cx="2639892" cy="3534290"/>
          </a:xfrm>
          <a:custGeom>
            <a:avLst/>
            <a:gdLst/>
            <a:ahLst/>
            <a:cxnLst/>
            <a:rect l="l" t="t" r="r" b="b"/>
            <a:pathLst>
              <a:path w="2639892" h="3534290">
                <a:moveTo>
                  <a:pt x="2639892" y="3156585"/>
                </a:moveTo>
                <a:cubicBezTo>
                  <a:pt x="1768225" y="3534290"/>
                  <a:pt x="755410" y="3133854"/>
                  <a:pt x="377705" y="2262188"/>
                </a:cubicBezTo>
                <a:cubicBezTo>
                  <a:pt x="0" y="1390521"/>
                  <a:pt x="400435" y="377705"/>
                  <a:pt x="1272102" y="0"/>
                </a:cubicBezTo>
                <a:lnTo>
                  <a:pt x="1272102" y="571500"/>
                </a:lnTo>
                <a:cubicBezTo>
                  <a:pt x="708175" y="815851"/>
                  <a:pt x="449108" y="1471089"/>
                  <a:pt x="693459" y="2035016"/>
                </a:cubicBezTo>
                <a:cubicBezTo>
                  <a:pt x="937809" y="2598943"/>
                  <a:pt x="1593048" y="2858011"/>
                  <a:pt x="2156975" y="2613660"/>
                </a:cubicBezTo>
                <a:close/>
              </a:path>
            </a:pathLst>
          </a:custGeom>
          <a:solidFill>
            <a:srgbClr val="DCE2E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571750" y="2667000"/>
            <a:ext cx="2095500" cy="2095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189808" y="3248025"/>
            <a:ext cx="8593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2582" y="3759518"/>
            <a:ext cx="973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TOP 2 合计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905500" y="1590675"/>
            <a:ext cx="3663086" cy="1626870"/>
            <a:chOff x="5905500" y="1590675"/>
            <a:chExt cx="3663086" cy="1626870"/>
          </a:xfrm>
        </p:grpSpPr>
        <p:sp>
          <p:nvSpPr>
            <p:cNvPr id="15" name="Rectangle 15"/>
            <p:cNvSpPr/>
            <p:nvPr/>
          </p:nvSpPr>
          <p:spPr>
            <a:xfrm>
              <a:off x="5905500" y="1619250"/>
              <a:ext cx="152400" cy="152400"/>
            </a:xfrm>
            <a:prstGeom prst="rect">
              <a:avLst/>
            </a:prstGeom>
            <a:solidFill>
              <a:srgbClr val="E46C2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45530" y="15906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zh-hk 香港 · 30.1%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66404" y="16230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675"/>
                  </a:solidFill>
                  <a:latin typeface="Arial"/>
                  <a:ea typeface="Arial"/>
                  <a:cs typeface="Arial"/>
                </a:rPr>
                <a:t>603,658 PV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1952625"/>
              <a:ext cx="152400" cy="1524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45530" y="1924050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en-sg 新加坡 · 29.0%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6404" y="195643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675"/>
                  </a:solidFill>
                  <a:latin typeface="Arial"/>
                  <a:ea typeface="Arial"/>
                  <a:cs typeface="Arial"/>
                </a:rPr>
                <a:t>581,867 PV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905500" y="2286000"/>
              <a:ext cx="152400" cy="152400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45530" y="22574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zh-tw 台湾 · 7.4%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6404" y="22898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675"/>
                  </a:solidFill>
                  <a:latin typeface="Arial"/>
                  <a:ea typeface="Arial"/>
                  <a:cs typeface="Arial"/>
                </a:rPr>
                <a:t>148,331 PV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05500" y="2619375"/>
              <a:ext cx="152400" cy="152400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45530" y="2590800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en-my 马来 · 7.3%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6404" y="262318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675"/>
                  </a:solidFill>
                  <a:latin typeface="Arial"/>
                  <a:ea typeface="Arial"/>
                  <a:cs typeface="Arial"/>
                </a:rPr>
                <a:t>146,071 PV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905500" y="2952750"/>
              <a:ext cx="152400" cy="152400"/>
            </a:xfrm>
            <a:prstGeom prst="rect">
              <a:avLst/>
            </a:prstGeom>
            <a:solidFill>
              <a:srgbClr val="DCE2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45530" y="2924175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其他 46+ 站 · 26.2%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6404" y="2956560"/>
              <a:ext cx="1002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675"/>
                  </a:solidFill>
                  <a:latin typeface="Arial"/>
                  <a:ea typeface="Arial"/>
                  <a:cs typeface="Arial"/>
                </a:rPr>
                <a:t>~524,414 PV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5905500" y="4000500"/>
            <a:ext cx="5524500" cy="9525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5905500" y="400050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E46C2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183630" y="42005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主力客源区域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84392" y="4540568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港澳台 + 东南亚（新马）+ 俄韩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6166" y="6173152"/>
            <a:ext cx="3077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全量共 50+ 个语言站，长尾站点共享约 11% 流量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渠道对比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537507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各语言站流量来源差异显著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667500" y="571500"/>
            <a:ext cx="5805983" cy="215837"/>
            <a:chOff x="6667500" y="571500"/>
            <a:chExt cx="5805983" cy="215837"/>
          </a:xfrm>
        </p:grpSpPr>
        <p:sp>
          <p:nvSpPr>
            <p:cNvPr id="7" name="Rectangle 7"/>
            <p:cNvSpPr/>
            <p:nvPr/>
          </p:nvSpPr>
          <p:spPr>
            <a:xfrm>
              <a:off x="6667500" y="571500"/>
              <a:ext cx="133350" cy="13335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52666" y="5819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0" y="571500"/>
              <a:ext cx="133350" cy="133350"/>
            </a:xfrm>
            <a:prstGeom prst="rect">
              <a:avLst/>
            </a:prstGeom>
            <a:solidFill>
              <a:srgbClr val="E46C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05166" y="581978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858250" y="571500"/>
              <a:ext cx="133350" cy="133350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43416" y="581978"/>
              <a:ext cx="559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906000" y="571500"/>
              <a:ext cx="133350" cy="133350"/>
            </a:xfrm>
            <a:prstGeom prst="rect">
              <a:avLst/>
            </a:prstGeom>
            <a:solidFill>
              <a:srgbClr val="2E9E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91166" y="581978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763250" y="571500"/>
              <a:ext cx="133350" cy="133350"/>
            </a:xfrm>
            <a:prstGeom prst="rect">
              <a:avLst/>
            </a:prstGeom>
            <a:solidFill>
              <a:srgbClr val="D6454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48416" y="581978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620500" y="571500"/>
              <a:ext cx="133350" cy="133350"/>
            </a:xfrm>
            <a:prstGeom prst="rect">
              <a:avLst/>
            </a:prstGeom>
            <a:solidFill>
              <a:srgbClr val="8A94A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805666" y="581978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62000" y="1714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" y="26670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2" name="Line 22"/>
          <p:cNvSpPr/>
          <p:nvPr/>
        </p:nvSpPr>
        <p:spPr>
          <a:xfrm>
            <a:off x="762000" y="3619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3" name="Line 23"/>
          <p:cNvSpPr/>
          <p:nvPr/>
        </p:nvSpPr>
        <p:spPr>
          <a:xfrm>
            <a:off x="762000" y="45720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4" name="Line 24"/>
          <p:cNvSpPr/>
          <p:nvPr/>
        </p:nvSpPr>
        <p:spPr>
          <a:xfrm>
            <a:off x="762000" y="5524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DCE2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90220" y="1664970"/>
            <a:ext cx="2336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0220" y="2617470"/>
            <a:ext cx="2336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0220" y="3569970"/>
            <a:ext cx="2336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0220" y="4522470"/>
            <a:ext cx="2336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0220" y="5474970"/>
            <a:ext cx="2336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161925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31" name="Line 31"/>
          <p:cNvSpPr/>
          <p:nvPr/>
        </p:nvSpPr>
        <p:spPr>
          <a:xfrm>
            <a:off x="762000" y="5524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899666" y="139160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46C2C"/>
                </a:solidFill>
                <a:latin typeface="Arial"/>
                <a:ea typeface="Arial"/>
                <a:cs typeface="Arial"/>
              </a:rPr>
              <a:t>66.6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600200" y="2095500"/>
            <a:ext cx="190500" cy="3438525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1847850" y="5229225"/>
            <a:ext cx="190500" cy="295275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095500" y="4467225"/>
            <a:ext cx="190500" cy="1057275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2343150" y="5276850"/>
            <a:ext cx="190500" cy="2476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2590800" y="5229225"/>
            <a:ext cx="190500" cy="295275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838450" y="5210175"/>
            <a:ext cx="190500" cy="314325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600450" y="3305175"/>
            <a:ext cx="190500" cy="2219325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48100" y="3971925"/>
            <a:ext cx="190500" cy="1552575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095750" y="4638675"/>
            <a:ext cx="190500" cy="885825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343400" y="4552950"/>
            <a:ext cx="190500" cy="9715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591050" y="4933950"/>
            <a:ext cx="190500" cy="5905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838700" y="5305425"/>
            <a:ext cx="190500" cy="219075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600700" y="2667000"/>
            <a:ext cx="190500" cy="28575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848350" y="4791075"/>
            <a:ext cx="190500" cy="733425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096000" y="4143375"/>
            <a:ext cx="190500" cy="1381125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343650" y="5114925"/>
            <a:ext cx="190500" cy="409575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591300" y="4819650"/>
            <a:ext cx="190500" cy="7048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838950" y="5048250"/>
            <a:ext cx="190500" cy="47625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7600950" y="3676650"/>
            <a:ext cx="190500" cy="18478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7848600" y="4238625"/>
            <a:ext cx="190500" cy="1285875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096250" y="4591050"/>
            <a:ext cx="190500" cy="9334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8343900" y="3143250"/>
            <a:ext cx="190500" cy="23812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8591550" y="4562475"/>
            <a:ext cx="190500" cy="962025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8839200" y="5372100"/>
            <a:ext cx="190500" cy="15240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9601200" y="3190875"/>
            <a:ext cx="190500" cy="2333625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848850" y="5029200"/>
            <a:ext cx="190500" cy="49530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10096500" y="4238625"/>
            <a:ext cx="190500" cy="1285875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10344150" y="4686300"/>
            <a:ext cx="190500" cy="83820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10591800" y="4619625"/>
            <a:ext cx="190500" cy="904875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10839450" y="4467225"/>
            <a:ext cx="190500" cy="1057275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665675" y="5680710"/>
            <a:ext cx="4786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zh-hk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68792" y="58954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香港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665925" y="5680710"/>
            <a:ext cx="4786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en-sg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703415" y="589549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新加坡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649213" y="5680710"/>
            <a:ext cx="5125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en-my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769292" y="58954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马来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666425" y="5680710"/>
            <a:ext cx="4786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ru-ru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69542" y="58954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俄语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666675" y="5680710"/>
            <a:ext cx="4786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ko-kr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769792" y="58954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韩语</a:t>
            </a:r>
          </a:p>
        </p:txBody>
      </p:sp>
      <p:sp>
        <p:nvSpPr>
          <p:cNvPr id="73" name="Rectangle 73"/>
          <p:cNvSpPr/>
          <p:nvPr/>
        </p:nvSpPr>
        <p:spPr>
          <a:xfrm>
            <a:off x="762000" y="6238875"/>
            <a:ext cx="10382250" cy="381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45642" y="6331268"/>
            <a:ext cx="6768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站内是大盘主力（32%-67%），但每站渠道侧重差异巨大 — 运营策略应一站一策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66166" y="6649402"/>
            <a:ext cx="8658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单位：% 占比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59680" y="66494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重点站点分析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63546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zh-hk 香港繁体 — 站内流量主导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2450" y="1893570"/>
            <a:ext cx="2417277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8356" y="2282190"/>
            <a:ext cx="27201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站内流量占比 · 全站最高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2356" y="266319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香港用户在平台内自发流转，对外投放依赖低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404" y="3299460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603,658（第 1 名）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585210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UV 49,043（第 1 名）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87096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占比 30.1%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95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477000" y="2400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77000" y="2400300"/>
            <a:ext cx="2914650" cy="2095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946892" y="24164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17642" y="28546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28765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477000" y="2876550"/>
            <a:ext cx="581025" cy="2095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946892" y="289274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13.3%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77000" y="33528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477000" y="3352800"/>
            <a:ext cx="238125" cy="2095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46892" y="3368992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5.4%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17642" y="380714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38290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477000" y="3829050"/>
            <a:ext cx="200025" cy="2095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46892" y="3845242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4.5%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77000" y="4305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477000" y="4305300"/>
            <a:ext cx="219075" cy="2095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946892" y="4321492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D64545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571500" y="4572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28575">
            <a:solidFill>
              <a:srgbClr val="E46C2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342" y="50930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加强平台内交叉引流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359718"/>
            <a:ext cx="20564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Partner 联盟是第二抓手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重点站点分析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736657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en-sg 新加坡英文 — APP-PUSH 驱动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2450" y="1893570"/>
            <a:ext cx="2417277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8356" y="2282190"/>
            <a:ext cx="30522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APP-PUSH 占比 · 全站最高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2356" y="2663190"/>
            <a:ext cx="43040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PV 体量全站第二，高度依赖 Push 召回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642" y="3045142"/>
            <a:ext cx="4852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很可能与 BIGBANG 新加坡演唱会等演出的开票提醒强绑定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632835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581,867（第 2 名）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UV 37,249（第 2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4204335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占比 29.0%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95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2400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77000" y="2400300"/>
            <a:ext cx="1866900" cy="2095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946892" y="24164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42.7%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7642" y="285464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8765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477000" y="2876550"/>
            <a:ext cx="1009650" cy="2095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946892" y="289274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7642" y="33308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33528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77000" y="3352800"/>
            <a:ext cx="533400" cy="2095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946892" y="33689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12.1%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7642" y="38071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38290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477000" y="3829050"/>
            <a:ext cx="476250" cy="2095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46892" y="384524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10.8%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305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4305300"/>
            <a:ext cx="323850" cy="2095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946892" y="4321492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D64545"/>
                </a:solidFill>
                <a:latin typeface="Georgia"/>
                <a:ea typeface="Georgia"/>
                <a:cs typeface="Georgia"/>
              </a:rPr>
              <a:t>7.4%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571500" y="4572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28575">
            <a:solidFill>
              <a:srgbClr val="E46C2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56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深耕 Push 召回能力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绑定演唱会/演出票务场景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E9E6B"/>
                </a:solidFill>
                <a:latin typeface="Arial"/>
                <a:ea typeface="Microsoft YaHei"/>
                <a:cs typeface="Arial"/>
              </a:rPr>
              <a:t>重点站点分析 ·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56643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ru-ru 俄语站 — SEO 驱动型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2450" y="1893570"/>
            <a:ext cx="2417277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8356" y="2282190"/>
            <a:ext cx="23993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SEO 占比 · 全站最高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2356" y="266319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俄罗斯用户大量通过搜索引擎自然流入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642" y="3045142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站内占比全站最低（31.7%），对投放依赖低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63283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68,933（第 5 名）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UV 16,647（第 5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4204335"/>
            <a:ext cx="10533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PV 占比 3.4%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95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7642" y="23783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2400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77000" y="2400300"/>
            <a:ext cx="1247775" cy="2095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946892" y="24164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7642" y="28546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8765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477000" y="2876550"/>
            <a:ext cx="1390650" cy="2095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946892" y="289274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31.7%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33528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77000" y="3352800"/>
            <a:ext cx="638175" cy="2095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946892" y="33689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14.5%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7642" y="380714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382905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477000" y="3829050"/>
            <a:ext cx="523875" cy="2095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46892" y="384524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D64545"/>
                </a:solidFill>
                <a:latin typeface="Georgia"/>
                <a:ea typeface="Georgia"/>
                <a:cs typeface="Georgia"/>
              </a:rPr>
              <a:t>12.0%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17642" y="428339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305300"/>
            <a:ext cx="4381500" cy="2095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4305300"/>
            <a:ext cx="466725" cy="2095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946892" y="4321492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10.6%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571500" y="4572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28575">
            <a:solidFill>
              <a:srgbClr val="2E9E6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63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加大 SEO 内容建设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2218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关键词覆盖 + 自然流量增长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90A4"/>
                </a:solidFill>
                <a:latin typeface="Arial"/>
                <a:ea typeface="Microsoft YaHei"/>
                <a:cs typeface="Arial"/>
              </a:rPr>
              <a:t>重点站点分析 ·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ko-kr + en-my — 多渠道均衡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619250"/>
            <a:ext cx="5334000" cy="3714750"/>
          </a:xfrm>
          <a:prstGeom prst="roundRect">
            <a:avLst>
              <a:gd name="adj" fmla="val 102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19250"/>
            <a:ext cx="38100" cy="37147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28294" y="18373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2104" y="2232660"/>
            <a:ext cx="26407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PV 55,648（第 6 名）· UV 14,796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6165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619250" y="2647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619250" y="2647950"/>
            <a:ext cx="1685925" cy="1714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084948" y="2651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44.3%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1342" y="2997518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619250" y="3028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619250" y="3028950"/>
            <a:ext cx="571500" cy="1714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084948" y="3032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1342" y="337851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619250" y="3409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619250" y="3409950"/>
            <a:ext cx="438150" cy="1714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084948" y="3413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D64545"/>
                </a:solidFill>
                <a:latin typeface="Georgia"/>
                <a:ea typeface="Georgia"/>
                <a:cs typeface="Georgia"/>
              </a:rPr>
              <a:t>11.6%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1342" y="3759518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619250" y="3790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619250" y="3790950"/>
            <a:ext cx="371475" cy="1714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183520" y="3794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9.7%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342" y="4140518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619250" y="4171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619250" y="4171950"/>
            <a:ext cx="247650" cy="1714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183520" y="4175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342" y="4521518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其他/EDM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619250" y="4552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1619250" y="4552950"/>
            <a:ext cx="495300" cy="17145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084948" y="4556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12.9%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1619250"/>
            <a:ext cx="5334000" cy="3714750"/>
          </a:xfrm>
          <a:prstGeom prst="roundRect">
            <a:avLst>
              <a:gd name="adj" fmla="val 102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286500" y="1619250"/>
            <a:ext cx="38100" cy="37147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43294" y="1837372"/>
            <a:ext cx="201816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en-my 马来英文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47104" y="2232660"/>
            <a:ext cx="2734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PV 146,071（第 4 名）· UV 11,297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46342" y="26165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334250" y="2647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7334250" y="2647950"/>
            <a:ext cx="2095500" cy="1714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799948" y="2651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B3A5C"/>
                </a:solidFill>
                <a:latin typeface="Georgia"/>
                <a:ea typeface="Georgia"/>
                <a:cs typeface="Georgia"/>
              </a:rPr>
              <a:t>55.0%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46342" y="2997518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334250" y="3028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334250" y="3028950"/>
            <a:ext cx="609600" cy="1714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799948" y="3032760"/>
            <a:ext cx="540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4A90A4"/>
                </a:solidFill>
                <a:latin typeface="Georgia"/>
                <a:ea typeface="Georgia"/>
                <a:cs typeface="Georgia"/>
              </a:rPr>
              <a:t>16.1%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46342" y="3378518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334250" y="3409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7334250" y="3409950"/>
            <a:ext cx="352425" cy="1714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0898520" y="3413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E46C2C"/>
                </a:solidFill>
                <a:latin typeface="Georgia"/>
                <a:ea typeface="Georgia"/>
                <a:cs typeface="Georgia"/>
              </a:rPr>
              <a:t>9.3%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46342" y="375951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334250" y="3790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7334250" y="3790950"/>
            <a:ext cx="323850" cy="17145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898520" y="3794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D64545"/>
                </a:solidFill>
                <a:latin typeface="Georgia"/>
                <a:ea typeface="Georgia"/>
                <a:cs typeface="Georgia"/>
              </a:rPr>
              <a:t>8.4%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46342" y="4140518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D2430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334250" y="4171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7334250" y="4171950"/>
            <a:ext cx="200025" cy="1714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0898520" y="4175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2E9E6B"/>
                </a:solidFill>
                <a:latin typeface="Georgia"/>
                <a:ea typeface="Georgia"/>
                <a:cs typeface="Georgia"/>
              </a:rPr>
              <a:t>5.2%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46342" y="4521518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其他/EDM</a:t>
            </a:r>
          </a:p>
        </p:txBody>
      </p:sp>
      <p:sp>
        <p:nvSpPr>
          <p:cNvPr id="60" name="Rectangle 60"/>
          <p:cNvSpPr/>
          <p:nvPr/>
        </p:nvSpPr>
        <p:spPr>
          <a:xfrm>
            <a:off x="7334250" y="4552950"/>
            <a:ext cx="3810000" cy="171450"/>
          </a:xfrm>
          <a:prstGeom prst="rect">
            <a:avLst/>
          </a:prstGeom>
          <a:solidFill>
            <a:srgbClr val="DCE2EA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7334250" y="4552950"/>
            <a:ext cx="228600" cy="171450"/>
          </a:xfrm>
          <a:prstGeom prst="rect">
            <a:avLst/>
          </a:prstGeom>
          <a:solidFill>
            <a:srgbClr val="8A94A6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898520" y="455676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A94A6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5524500"/>
            <a:ext cx="11049000" cy="571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44880" y="5695950"/>
            <a:ext cx="95556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共同特征：站内 44-55%，各外部渠道 8-16%，多渠道并进 — 维持均衡 + 优化 Partner/PPC 性价比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66166" y="6335078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59680" y="63350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42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707708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一站一策：差异化运营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1B3A5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6192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19250"/>
            <a:ext cx="38100" cy="21907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28294" y="18373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342" y="2311718"/>
            <a:ext cx="2140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6C2C"/>
                </a:solidFill>
                <a:latin typeface="Georgia"/>
                <a:ea typeface="Microsoft YaHei"/>
                <a:cs typeface="Georgia"/>
              </a:rPr>
              <a:t>站内 66.6% 是全站最高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6355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策略：加强平台内交叉引流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342" y="2949892"/>
            <a:ext cx="29633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Partner 联盟是第二抓手（13.3%）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104" y="328041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对外投放依赖低，侧重内部生态联动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6192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286500" y="1619250"/>
            <a:ext cx="38100" cy="219075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43294" y="1837372"/>
            <a:ext cx="16874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6342" y="2311718"/>
            <a:ext cx="29149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6C2C"/>
                </a:solidFill>
                <a:latin typeface="Georgia"/>
                <a:ea typeface="Microsoft YaHei"/>
                <a:cs typeface="Georgia"/>
              </a:rPr>
              <a:t>APP-PUSH 23% 是全站最高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6342" y="2635568"/>
            <a:ext cx="21885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策略：深耕 Push 召回能力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6342" y="2949892"/>
            <a:ext cx="247625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绑定演出/演唱会开票提醒场景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7104" y="3280410"/>
            <a:ext cx="27773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如 BIGBANG 新加坡演唱会等票务热点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0957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4095750"/>
            <a:ext cx="38100" cy="2190750"/>
          </a:xfrm>
          <a:prstGeom prst="rect">
            <a:avLst/>
          </a:prstGeom>
          <a:solidFill>
            <a:srgbClr val="2E9E6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8294" y="43138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1342" y="4788218"/>
            <a:ext cx="2559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9E6B"/>
                </a:solidFill>
                <a:latin typeface="Georgia"/>
                <a:ea typeface="Microsoft YaHei"/>
                <a:cs typeface="Georgia"/>
              </a:rPr>
              <a:t>SEO 28.4% 是全站最高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1342" y="5112068"/>
            <a:ext cx="2212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策略：加大 SEO 内容建设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342" y="542639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关键词覆盖，驱动自然流量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104" y="57569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用户习惯搜索引擎，对投放不敏感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4095750"/>
            <a:ext cx="5334000" cy="219075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4095750"/>
            <a:ext cx="38100" cy="21907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43294" y="4313872"/>
            <a:ext cx="190790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B3A5C"/>
                </a:solidFill>
                <a:latin typeface="Arial"/>
                <a:ea typeface="Arial"/>
                <a:cs typeface="Arial"/>
              </a:rPr>
              <a:t>ko-kr + en-my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6342" y="4788218"/>
            <a:ext cx="12234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A4"/>
                </a:solidFill>
                <a:latin typeface="Georgia"/>
                <a:ea typeface="Microsoft YaHei"/>
                <a:cs typeface="Georgia"/>
              </a:rPr>
              <a:t>多渠道均衡型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6342" y="51120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0"/>
                </a:solidFill>
                <a:latin typeface="Arial"/>
                <a:ea typeface="Microsoft YaHei"/>
                <a:cs typeface="Arial"/>
              </a:rPr>
              <a:t>策略：维持多渠道并进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6342" y="5426392"/>
            <a:ext cx="2662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675"/>
                </a:solidFill>
                <a:latin typeface="Arial"/>
                <a:ea typeface="Microsoft YaHei"/>
                <a:cs typeface="Arial"/>
              </a:rPr>
              <a:t>优化 Partner + PPC 投放性价比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7104" y="5756910"/>
            <a:ext cx="2443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站内 44-55%，各外部渠道 8-16%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6166" y="6458902"/>
            <a:ext cx="3610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4A6"/>
                </a:solidFill>
                <a:latin typeface="Arial"/>
                <a:ea typeface="Microsoft YaHei"/>
                <a:cs typeface="Arial"/>
              </a:rPr>
              <a:t>四个主要抓手：Partner 联盟 + SEO + APP-PUSH + PPC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-285750"/>
            <a:ext cx="2857500" cy="2857500"/>
          </a:xfrm>
          <a:prstGeom prst="ellipse">
            <a:avLst/>
          </a:prstGeom>
          <a:noFill/>
          <a:ln w="9525">
            <a:solidFill>
              <a:srgbClr val="4A90A4">
                <a:alpha val="3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0096500" y="857250"/>
            <a:ext cx="1714500" cy="1714500"/>
          </a:xfrm>
          <a:prstGeom prst="ellipse">
            <a:avLst/>
          </a:prstGeom>
          <a:noFill/>
          <a:ln w="9525">
            <a:solidFill>
              <a:srgbClr val="4A90A4">
                <a:alpha val="20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46C2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4642" y="616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2450" y="10706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从流量到转化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200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A90A4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356" y="2329815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8D4E0"/>
                </a:solidFill>
                <a:latin typeface="Arial"/>
                <a:ea typeface="Microsoft YaHei"/>
                <a:cs typeface="Arial"/>
              </a:rPr>
              <a:t>已明确：各语言站流量分布与渠道差异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2356" y="2710815"/>
            <a:ext cx="48444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8D4E0"/>
                </a:solidFill>
                <a:latin typeface="Arial"/>
                <a:ea typeface="Microsoft YaHei"/>
                <a:cs typeface="Arial"/>
              </a:rPr>
              <a:t>下一步：分析各站下单转化、订单量、GMV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2356" y="3091815"/>
            <a:ext cx="460126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8D4E0"/>
                </a:solidFill>
                <a:latin typeface="Arial"/>
                <a:ea typeface="Microsoft YaHei"/>
                <a:cs typeface="Arial"/>
              </a:rPr>
              <a:t>目标：评估各站投放 ROI，优化资源配置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3810000"/>
            <a:ext cx="7620000" cy="9525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E46C2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47344" y="4028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46C2C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868" y="4374832"/>
            <a:ext cx="43469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TOP 2 占 59% · 一站一策 · 从流量到转化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5404" y="606171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8296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077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829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2026-09-04T04:36:15Z</dcterms:created>
  <dcterms:modified xsi:type="dcterms:W3CDTF">2026-09-04T04:36:15Z</dcterms:modified>
  <cp:category/>
  <cp:contentStatus/>
</cp:coreProperties>
</file>