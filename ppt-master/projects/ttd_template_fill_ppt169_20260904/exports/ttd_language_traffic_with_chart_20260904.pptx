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  <p:sldMasterId id="2147483660" r:id="rId2"/>
  </p:sldMasterIdLst>
  <p:notesMasterIdLst>
    <p:notesMasterId r:id="rId31"/>
  </p:notes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1D4DD"/>
    <a:srgbClr val="DBE8DA"/>
    <a:srgbClr val="99AE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14" autoAdjust="0"/>
  </p:normalViewPr>
  <p:slideViewPr>
    <p:cSldViewPr snapToGrid="0" showGuides="1">
      <p:cViewPr varScale="1">
        <p:scale>
          <a:sx n="106" d="100"/>
          <a:sy n="106" d="100"/>
        </p:scale>
        <p:origin x="79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1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TOP 10 语言站 PV 分布（万）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PV</c:v>
                </c:pt>
              </c:strCache>
            </c:strRef>
          </c:tx>
          <c:spPr>
            <a:solidFill>
              <a:srgbClr val="4FC3F7"/>
            </a:solidFill>
          </c:spPr>
          <c:cat>
            <c:strRef>
              <c:f>Sheet1!$A$2:$A$11</c:f>
              <c:strCache>
                <c:ptCount val="10"/>
                <c:pt idx="0">
                  <c:v>zh-hk</c:v>
                </c:pt>
                <c:pt idx="1">
                  <c:v>en-sg</c:v>
                </c:pt>
                <c:pt idx="2">
                  <c:v>zh-tw</c:v>
                </c:pt>
                <c:pt idx="3">
                  <c:v>en-my</c:v>
                </c:pt>
                <c:pt idx="4">
                  <c:v>ru-ru</c:v>
                </c:pt>
                <c:pt idx="5">
                  <c:v>ko-kr</c:v>
                </c:pt>
                <c:pt idx="6">
                  <c:v>en-id</c:v>
                </c:pt>
                <c:pt idx="7">
                  <c:v>zh-my</c:v>
                </c:pt>
                <c:pt idx="8">
                  <c:v>zh-sg</c:v>
                </c:pt>
                <c:pt idx="9">
                  <c:v>en-xx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603658</c:v>
                </c:pt>
                <c:pt idx="1">
                  <c:v>581867</c:v>
                </c:pt>
                <c:pt idx="2">
                  <c:v>148331</c:v>
                </c:pt>
                <c:pt idx="3">
                  <c:v>146071</c:v>
                </c:pt>
                <c:pt idx="4">
                  <c:v>68933</c:v>
                </c:pt>
                <c:pt idx="5">
                  <c:v>55648</c:v>
                </c:pt>
                <c:pt idx="6">
                  <c:v>52135</c:v>
                </c:pt>
                <c:pt idx="7">
                  <c:v>48370</c:v>
                </c:pt>
                <c:pt idx="8">
                  <c:v>42422</c:v>
                </c:pt>
                <c:pt idx="9">
                  <c:v>39366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D8456-895F-42A9-8585-5E7F77B47126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C817A-0F95-4CF5-BDE1-9595250551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896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今天给大家报告T站海外门票业务最近一周各语言站的流量分布情况。数据周期8月10号到17号，基于SGP集群的门票流量表。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本次汇报分为四个部分：首先给出核心结论，然后看TOP10语言站的PV排名，再分析各站流量来源渠道差异，最后给出运营策略建议。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首先看核心结论：TOP 2 语言站合计贡献 59% 的流量，TOP 10 占 88.6%，头部集中度非常高。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接下来我们看TOP 10语言站的具体排名数据，头部站高度集中。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这是PV排名最靠前的四个语言站：香港繁体以60万PV高居第一，新加坡英文紧随其后；台湾和马来西亚英文分列三四位。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下面进入第三部分，分析各语言站的流量来源渠道差异。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最后是运营策略建议：一站一策，差异化运营。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我的汇报到这里就结束了，谢谢大家。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11A7D974-63EB-4EF4-B70B-B7B2D9D55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p14="http://schemas.microsoft.com/office/powerpoint/2010/main" xmlns:a16="http://schemas.microsoft.com/office/drawing/2014/main" id="{C0663D5A-435E-47B1-992C-C23B6946F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A872ECE2-F5B9-492C-8E37-6B06D369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BD312CF7-D545-4954-BA58-6D5897D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2B2880AA-387B-49EF-898A-57F99115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01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806E3EB0-3139-4C95-9F0B-05D149E8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5182DA6D-FD16-4889-981E-35E044022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02ABFEDC-B9DB-4139-87D4-769D5EA4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DF5752A5-790A-41D9-9DD5-170E31FB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268DD638-FE59-46E3-9F69-E670EFFEE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01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87C29FB3-D987-407B-BA14-4D6DB70ED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E860586D-0F6F-43EC-A966-7162B2450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AB1322D0-1D56-44F9-A212-183C4ECB3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FBD4EEB9-2F7C-4773-91FD-E00A8C8B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F1D23DAB-B5FF-4091-A128-DFDDCA95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56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B470EC79-5034-4AFF-967E-0BBE2B04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BF461215-5226-4C7C-8BD3-D36D14C12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31A0610E-3978-49C7-925B-73A9FADD6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F63DA2D8-E7B7-4B7C-BE2F-3890471F8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EF84BA22-39AE-4B45-8BB4-5C203C84B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9BCFB906-C927-4D8F-9C07-5F221CBE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61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4A762CFE-89DB-475C-B779-6969DA93D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B798CEC5-A7F5-4407-813F-535020DF9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506FBFA7-1DC1-4A56-8B24-423582DB6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D79948E5-ECA9-4B73-9EE6-D9422C922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82D40FD3-DD82-4270-B66F-D540F104B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C4740027-8AA9-4F7E-A11B-16143222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p14="http://schemas.microsoft.com/office/powerpoint/2010/main" xmlns:a16="http://schemas.microsoft.com/office/drawing/2014/main" id="{F95E02AE-E059-416E-9B9B-5D8EBED8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p14="http://schemas.microsoft.com/office/powerpoint/2010/main" xmlns:a16="http://schemas.microsoft.com/office/drawing/2014/main" id="{AFD22C58-C800-4997-8049-F8C84A23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896728" y="645970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1306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688F202F-5725-41A2-99FB-22916EC5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99435D6E-9732-4BF8-8A99-011957905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501EA50F-9724-435A-A5B1-A7CFDEB3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79C018A6-2CC8-448F-9DB6-3DC23BEE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54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p14="http://schemas.microsoft.com/office/powerpoint/2010/main" xmlns:a16="http://schemas.microsoft.com/office/drawing/2014/main" id="{2B54F339-3E0E-4E11-A65C-181E5E638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6EC16893-D5C4-40C6-8C50-FC3731C8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BF07BCAD-A797-4B3A-8D02-5029E17A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151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9A1286DD-84BF-4F7D-81E3-D223AC64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34ADC055-024B-4C11-8E85-C226F5B1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28956D42-4DB3-4B49-9D38-33B44120B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22BE6C71-B462-43EE-8D85-CBBCC631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0470532B-EB34-4862-AF31-2EF921CF9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0D4EF0CF-9510-4688-82A5-D0700370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11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C7536A2D-884D-40E5-BFC4-545F4997B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A5DB87F3-B8CB-483B-B3FD-B69FCBEDC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5D35519F-9D0D-4630-B5FC-E83536D9A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CADE81A1-6862-4141-B665-BF60A7BC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C2EC9612-EEC2-4BF3-BCF6-55AD189B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p14="http://schemas.microsoft.com/office/powerpoint/2010/main" xmlns:a16="http://schemas.microsoft.com/office/drawing/2014/main" id="{5EC8FDFA-3806-4302-BD8D-CCD8D5FB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77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FDF78438-1B7D-49FA-930E-73FAB8DA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99561BF6-5772-4B31-92C7-3FFCE57F4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90C8B733-2F6B-4790-B7E9-E0F57105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EDF381EC-82CE-4295-A13C-95FC4AB7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CF534DF6-7651-4D2C-9E0A-222BCBF7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77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p14="http://schemas.microsoft.com/office/powerpoint/2010/main" xmlns:a16="http://schemas.microsoft.com/office/drawing/2014/main" id="{3FED9839-E0BB-4F2F-B1B0-152AC7875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C25EC855-F8C2-4693-AC4F-02D4B383A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11D00F55-BDC6-46C3-9449-43D58450C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98C51F16-701D-4BD9-A88F-FB02F27A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D85AADFD-C179-4B84-B8FD-677CC3B2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501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75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27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677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9779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67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058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033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731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3323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3835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7372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p14="http://schemas.microsoft.com/office/powerpoint/2010/main" xmlns:a16="http://schemas.microsoft.com/office/drawing/2014/main" id="{6DE298E6-0374-4177-B034-9789989AF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p14="http://schemas.microsoft.com/office/powerpoint/2010/main" xmlns:a16="http://schemas.microsoft.com/office/drawing/2014/main" id="{02307DF9-D36B-40B2-86C9-AA306D74E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p14="http://schemas.microsoft.com/office/powerpoint/2010/main" xmlns:a16="http://schemas.microsoft.com/office/drawing/2014/main" id="{E334D7CB-0661-4F98-A3C2-3A13BFF40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1787F-A5AE-4B7A-AB0C-4493C6251E6B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p14="http://schemas.microsoft.com/office/powerpoint/2010/main" xmlns:a16="http://schemas.microsoft.com/office/drawing/2014/main" id="{21EAB1C8-E9C6-43CC-BFF1-0AFEC028A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p14="http://schemas.microsoft.com/office/powerpoint/2010/main" xmlns:a16="http://schemas.microsoft.com/office/drawing/2014/main" id="{44DCAED4-326B-4285-996D-0E7BE558E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5F341-46FD-428A-86FB-CA12A6AC27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32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2021/3/3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63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2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3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3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3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1.jpe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3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3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ns2:creationId id="{2F278418-DCB8-466E-8CB6-907F10F1F9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1158511" y="2581279"/>
            <a:ext cx="13636261" cy="55121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ECFE68C5-2472-4312-B92F-5D5AF8A2156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110366" y="-317500"/>
            <a:ext cx="8758623" cy="71755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ns2:creationId id="{0243A49D-8453-4C37-A6FB-1731E4FB5A0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5982779" y="-841759"/>
            <a:ext cx="7772416" cy="272491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ns2:creationId id="{D6F778E8-827F-4562-82C6-53B7A3488796}"/>
              </a:ext>
            </a:extLst>
          </p:cNvPr>
          <p:cNvSpPr txBox="1"/>
          <p:nvPr/>
        </p:nvSpPr>
        <p:spPr>
          <a:xfrm>
            <a:off x="9363896" y="1379079"/>
            <a:ext cx="1415772" cy="40998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8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语言站流量分析</a:t>
            </a:r>
            <a:endParaRPr lang="zh-CN" altLang="en-US" sz="8000" dirty="0">
              <a:solidFill>
                <a:schemeClr val="tx1">
                  <a:lumMod val="85000"/>
                  <a:lumOff val="1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ns2:creationId id="{3BCAA903-B9DC-41F6-BCB4-BAE686A60C91}"/>
              </a:ext>
            </a:extLst>
          </p:cNvPr>
          <p:cNvCxnSpPr>
            <a:cxnSpLocks/>
          </p:cNvCxnSpPr>
          <p:nvPr/>
        </p:nvCxnSpPr>
        <p:spPr>
          <a:xfrm>
            <a:off x="10766968" y="1684434"/>
            <a:ext cx="0" cy="3276600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ns2:creationId id="{C58CE940-6213-4959-9D8F-B5146618D385}"/>
              </a:ext>
            </a:extLst>
          </p:cNvPr>
          <p:cNvSpPr txBox="1"/>
          <p:nvPr/>
        </p:nvSpPr>
        <p:spPr>
          <a:xfrm>
            <a:off x="8625232" y="1798831"/>
            <a:ext cx="738664" cy="3784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数据周期 2026.08.10 — 08.17 ｜ 按语言站口径统计</a:t>
            </a:r>
          </a:p>
        </p:txBody>
      </p:sp>
      <p:cxnSp>
        <p:nvCxnSpPr>
          <p:cNvPr id="31" name="直接连接符 30">
            <a:extLst>
              <a:ext uri="{FF2B5EF4-FFF2-40B4-BE49-F238E27FC236}">
                <ns2:creationId id="{10D114CD-FB63-4643-A748-FB87BA91DE4C}"/>
              </a:ext>
            </a:extLst>
          </p:cNvPr>
          <p:cNvCxnSpPr>
            <a:cxnSpLocks/>
          </p:cNvCxnSpPr>
          <p:nvPr/>
        </p:nvCxnSpPr>
        <p:spPr>
          <a:xfrm>
            <a:off x="9363896" y="1898650"/>
            <a:ext cx="0" cy="3152968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ns2:creationId id="{BBF8E522-0E78-4992-B336-DDA1FF11D1EF}"/>
              </a:ext>
            </a:extLst>
          </p:cNvPr>
          <p:cNvSpPr txBox="1"/>
          <p:nvPr/>
        </p:nvSpPr>
        <p:spPr>
          <a:xfrm>
            <a:off x="10850806" y="1798834"/>
            <a:ext cx="461665" cy="32527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运营数据分析 · SGP集群 · ibu门票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/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/>
            </a:r>
          </a:p>
        </p:txBody>
      </p:sp>
    </p:spTree>
    <p:extLst>
      <p:ext uri="{BB962C8B-B14F-4D97-AF65-F5344CB8AC3E}">
        <p14:creationId val="3254112632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0" grpId="0"/>
      <p:bldP spid="34" grpId="0"/>
    </p:bldLst>
  </p:timing>
</p:sld>
</file>

<file path=ppt/slides/slide2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ns2:creationId id="{1CEF1A5B-5610-421E-A5B2-D6D53A03B52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1148703" y="-1193800"/>
            <a:ext cx="7333603" cy="114820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DA0697A0-5C91-46F4-9AE2-44733F32596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7847792" y="-3429000"/>
            <a:ext cx="5056219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ns2:creationId id="{953401B1-1129-45CF-A9F8-5EA01F5C76A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2070100" y="1644376"/>
            <a:ext cx="3487581" cy="52136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ns2:creationId id="{251CB226-31FE-4A40-840B-0E34998A6AD3}"/>
              </a:ext>
            </a:extLst>
          </p:cNvPr>
          <p:cNvSpPr txBox="1"/>
          <p:nvPr/>
        </p:nvSpPr>
        <p:spPr>
          <a:xfrm>
            <a:off x="9979970" y="1328210"/>
            <a:ext cx="1877437" cy="110799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目录</a:t>
            </a:r>
          </a:p>
        </p:txBody>
      </p:sp>
      <p:pic>
        <p:nvPicPr>
          <p:cNvPr id="12" name="图片 11">
            <a:extLst>
              <a:ext uri="{FF2B5EF4-FFF2-40B4-BE49-F238E27FC236}">
                <ns2:creationId id="{7A58C0C2-DB06-4151-9FCE-FA865BA6754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8273946">
            <a:off x="6928706" y="1564192"/>
            <a:ext cx="3360316" cy="32947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ns2:creationId id="{91C067C1-DAF6-4652-ADF7-E18AA0AC505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2478475" flipH="1">
            <a:off x="7096327" y="2556617"/>
            <a:ext cx="3360316" cy="329476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ns2:creationId id="{DCFCFFD1-0420-4FF2-8B80-FFE580C4F4C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8273946">
            <a:off x="6928706" y="3541887"/>
            <a:ext cx="3360316" cy="329476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ns2:creationId id="{9CF4A5C6-486C-49B6-A270-0528CC5426A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2478475" flipH="1">
            <a:off x="7096327" y="4534312"/>
            <a:ext cx="3360316" cy="329476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ns2:creationId id="{2E772E29-6295-4317-A7A3-03DE84B5A189}"/>
              </a:ext>
            </a:extLst>
          </p:cNvPr>
          <p:cNvSpPr txBox="1"/>
          <p:nvPr/>
        </p:nvSpPr>
        <p:spPr>
          <a:xfrm rot="21270478">
            <a:off x="6372369" y="2508695"/>
            <a:ext cx="451896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01 核心结论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0A8DFFED-136D-4A1C-BF27-4DE3B542BE1D}"/>
              </a:ext>
            </a:extLst>
          </p:cNvPr>
          <p:cNvSpPr/>
          <p:nvPr/>
        </p:nvSpPr>
        <p:spPr>
          <a:xfrm rot="21278082">
            <a:off x="6037593" y="3633012"/>
            <a:ext cx="5477783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TOP 2 占 59%</a:t>
            </a:r>
          </a:p>
        </p:txBody>
      </p:sp>
      <p:sp>
        <p:nvSpPr>
          <p:cNvPr id="20" name="文本框 19">
            <a:extLst>
              <a:ext uri="{FF2B5EF4-FFF2-40B4-BE49-F238E27FC236}">
                <ns2:creationId id="{6F702F7C-E2C3-4E48-81BB-DB03F7C8259E}"/>
              </a:ext>
            </a:extLst>
          </p:cNvPr>
          <p:cNvSpPr txBox="1"/>
          <p:nvPr/>
        </p:nvSpPr>
        <p:spPr>
          <a:xfrm rot="21270478">
            <a:off x="6469962" y="4581445"/>
            <a:ext cx="4518967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02 TOP 10 排名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41BA5A15-C6B8-4476-BDA7-68380CC5D68A}"/>
              </a:ext>
            </a:extLst>
          </p:cNvPr>
          <p:cNvSpPr/>
          <p:nvPr/>
        </p:nvSpPr>
        <p:spPr>
          <a:xfrm rot="21278082">
            <a:off x="6135186" y="5705762"/>
            <a:ext cx="5477783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渠道差异分析</a:t>
            </a:r>
          </a:p>
        </p:txBody>
      </p:sp>
    </p:spTree>
    <p:extLst>
      <p:ext uri="{BB962C8B-B14F-4D97-AF65-F5344CB8AC3E}">
        <p14:creationId val="3901464253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ns2:creationId id="{D5EEF8FF-3DDA-4C02-B516-D4862E363A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460500" y="3088001"/>
            <a:ext cx="12192000" cy="421259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ns2:creationId id="{D7427A17-5A55-4B58-A17B-91DEEF8F508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4111640" y="-988574"/>
            <a:ext cx="8080360" cy="68580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ns2:creationId id="{12A66DF8-B1BD-4299-A6CB-EE3384C623F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454576">
            <a:off x="1069771" y="320673"/>
            <a:ext cx="3541783" cy="495301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ns2:creationId id="{044DDC55-34FA-49D4-A02C-18AF7FC4F45E}"/>
              </a:ext>
            </a:extLst>
          </p:cNvPr>
          <p:cNvSpPr txBox="1"/>
          <p:nvPr/>
        </p:nvSpPr>
        <p:spPr>
          <a:xfrm rot="20002697">
            <a:off x="267525" y="1778711"/>
            <a:ext cx="4288353" cy="132343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第一部分</a:t>
            </a:r>
          </a:p>
        </p:txBody>
      </p:sp>
      <p:sp>
        <p:nvSpPr>
          <p:cNvPr id="30" name="文本框 29">
            <a:extLst>
              <a:ext uri="{FF2B5EF4-FFF2-40B4-BE49-F238E27FC236}">
                <ns2:creationId id="{805B35D3-779C-45AC-A242-1788A7012142}"/>
              </a:ext>
            </a:extLst>
          </p:cNvPr>
          <p:cNvSpPr txBox="1"/>
          <p:nvPr/>
        </p:nvSpPr>
        <p:spPr>
          <a:xfrm rot="19820857">
            <a:off x="515257" y="3278480"/>
            <a:ext cx="5231699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核心结论 · 头部集中度极高</a:t>
            </a:r>
          </a:p>
        </p:txBody>
      </p:sp>
    </p:spTree>
    <p:extLst>
      <p:ext uri="{BB962C8B-B14F-4D97-AF65-F5344CB8AC3E}">
        <p14:creationId val="3346285644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4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ns2:creationId id="{D2F8B1F6-76CE-44FE-9AB1-D346A6BBD0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2293783" y="3429000"/>
            <a:ext cx="12192000" cy="421259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ns2:creationId id="{EB369A5F-F363-4485-B463-D9B2DF77B3F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3802219" y="0"/>
            <a:ext cx="4587564" cy="6858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ns2:creationId id="{32B4F6DA-C3DF-44A0-958C-40A23506D90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20993932">
            <a:off x="232773" y="897635"/>
            <a:ext cx="9144019" cy="346253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ns2:creationId id="{3F55E152-E454-412E-B4E4-85D7AEEA01A7}"/>
              </a:ext>
            </a:extLst>
          </p:cNvPr>
          <p:cNvSpPr txBox="1"/>
          <p:nvPr/>
        </p:nvSpPr>
        <p:spPr>
          <a:xfrm>
            <a:off x="10075096" y="264190"/>
            <a:ext cx="1415772" cy="419602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第二部分</a:t>
            </a:r>
          </a:p>
        </p:txBody>
      </p:sp>
      <p:sp>
        <p:nvSpPr>
          <p:cNvPr id="20" name="文本框 19">
            <a:extLst>
              <a:ext uri="{FF2B5EF4-FFF2-40B4-BE49-F238E27FC236}">
                <ns2:creationId id="{360CE0D8-9E2E-4E82-B18C-6F5E09100852}"/>
              </a:ext>
            </a:extLst>
          </p:cNvPr>
          <p:cNvSpPr txBox="1"/>
          <p:nvPr/>
        </p:nvSpPr>
        <p:spPr>
          <a:xfrm>
            <a:off x="9336432" y="732031"/>
            <a:ext cx="738664" cy="3784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TOP 10 语言站 · PV 排名</a:t>
            </a:r>
          </a:p>
        </p:txBody>
      </p:sp>
      <p:cxnSp>
        <p:nvCxnSpPr>
          <p:cNvPr id="21" name="直接连接符 20">
            <a:extLst>
              <a:ext uri="{FF2B5EF4-FFF2-40B4-BE49-F238E27FC236}">
                <ns2:creationId id="{1B127530-8052-4377-853F-CCE35568B6F9}"/>
              </a:ext>
            </a:extLst>
          </p:cNvPr>
          <p:cNvCxnSpPr>
            <a:cxnSpLocks/>
          </p:cNvCxnSpPr>
          <p:nvPr/>
        </p:nvCxnSpPr>
        <p:spPr>
          <a:xfrm>
            <a:off x="10075096" y="831850"/>
            <a:ext cx="0" cy="3152968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1703564543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5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ns2:creationId id="{3FF28EC6-42A8-4ABF-A95A-02F8A2796C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ns4:useLocalDpi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ns2:creationId id="{FDC7F787-9692-44B2-BC0C-330F189E1A77}"/>
              </a:ext>
            </a:extLst>
          </p:cNvPr>
          <p:cNvSpPr/>
          <p:nvPr/>
        </p:nvSpPr>
        <p:spPr>
          <a:xfrm>
            <a:off x="1415480" y="0"/>
            <a:ext cx="2375216" cy="4509120"/>
          </a:xfrm>
          <a:prstGeom prst="rect">
            <a:avLst/>
          </a:prstGeom>
          <a:solidFill>
            <a:srgbClr val="B1D4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ns2:creationId id="{C8EE6600-AE7C-453B-80E6-87157F31474A}"/>
              </a:ext>
            </a:extLst>
          </p:cNvPr>
          <p:cNvSpPr txBox="1"/>
          <p:nvPr/>
        </p:nvSpPr>
        <p:spPr>
          <a:xfrm>
            <a:off x="5723957" y="764706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B1D4DD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01</a:t>
            </a:r>
            <a:endParaRPr lang="zh-CN" altLang="en-US" sz="2400" dirty="0">
              <a:solidFill>
                <a:srgbClr val="B1D4DD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ns2:creationId id="{3B2BEB69-0ECE-4A1A-B3E0-1D406E806439}"/>
              </a:ext>
            </a:extLst>
          </p:cNvPr>
          <p:cNvSpPr txBox="1"/>
          <p:nvPr/>
        </p:nvSpPr>
        <p:spPr>
          <a:xfrm>
            <a:off x="7139437" y="764706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02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ns2:creationId id="{F29BC2F4-FC42-4F16-9962-A5B504449592}"/>
              </a:ext>
            </a:extLst>
          </p:cNvPr>
          <p:cNvSpPr txBox="1"/>
          <p:nvPr/>
        </p:nvSpPr>
        <p:spPr>
          <a:xfrm>
            <a:off x="8554917" y="764706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B1D4DD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03</a:t>
            </a:r>
            <a:endParaRPr lang="zh-CN" altLang="en-US" sz="2400" dirty="0">
              <a:solidFill>
                <a:srgbClr val="B1D4DD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ns2:creationId id="{20561DA7-935F-43BA-9580-52E0A2EE33A0}"/>
              </a:ext>
            </a:extLst>
          </p:cNvPr>
          <p:cNvSpPr txBox="1"/>
          <p:nvPr/>
        </p:nvSpPr>
        <p:spPr>
          <a:xfrm>
            <a:off x="9970397" y="764706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04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ns2:creationId id="{698C8E09-8D7D-439A-985E-FC47FBAA1254}"/>
              </a:ext>
            </a:extLst>
          </p:cNvPr>
          <p:cNvCxnSpPr/>
          <p:nvPr/>
        </p:nvCxnSpPr>
        <p:spPr>
          <a:xfrm>
            <a:off x="6685789" y="764706"/>
            <a:ext cx="0" cy="4616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ns2:creationId id="{2E788498-9689-475C-9A5A-C310FA11BC2A}"/>
              </a:ext>
            </a:extLst>
          </p:cNvPr>
          <p:cNvCxnSpPr/>
          <p:nvPr/>
        </p:nvCxnSpPr>
        <p:spPr>
          <a:xfrm>
            <a:off x="8125949" y="764706"/>
            <a:ext cx="0" cy="4616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ns2:creationId id="{B5381EF9-2E80-4E64-A12C-FF4393893EE1}"/>
              </a:ext>
            </a:extLst>
          </p:cNvPr>
          <p:cNvCxnSpPr/>
          <p:nvPr/>
        </p:nvCxnSpPr>
        <p:spPr>
          <a:xfrm>
            <a:off x="9566109" y="764706"/>
            <a:ext cx="0" cy="4616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2">
            <a:extLst>
              <a:ext uri="{FF2B5EF4-FFF2-40B4-BE49-F238E27FC236}">
                <ns2:creationId id="{B0553D3D-0C7D-48DD-973F-43231B7BF923}"/>
              </a:ext>
            </a:extLst>
          </p:cNvPr>
          <p:cNvSpPr txBox="1"/>
          <p:nvPr/>
        </p:nvSpPr>
        <p:spPr>
          <a:xfrm>
            <a:off x="1510167" y="67036"/>
            <a:ext cx="2092856" cy="4632200"/>
          </a:xfrm>
          <a:prstGeom prst="rect">
            <a:avLst/>
          </a:prstGeom>
          <a:noFill/>
        </p:spPr>
        <p:txBody>
          <a:bodyPr vert="eaVert" wrap="square" lIns="121908" tIns="60955" rIns="121908" bIns="60955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  <a:sym typeface="Segoe UI" panose="020B0502040204020203" pitchFamily="34" charset="0"/>
              </a:rPr>
              <a:t>TOP 语言站</a:t>
            </a:r>
          </a:p>
        </p:txBody>
      </p:sp>
      <p:sp>
        <p:nvSpPr>
          <p:cNvPr id="12" name="文本框 11">
            <a:extLst>
              <a:ext uri="{FF2B5EF4-FFF2-40B4-BE49-F238E27FC236}">
                <ns2:creationId id="{BA52DF7C-434C-48A0-8F02-8AC2F71AE960}"/>
              </a:ext>
            </a:extLst>
          </p:cNvPr>
          <p:cNvSpPr txBox="1"/>
          <p:nvPr/>
        </p:nvSpPr>
        <p:spPr>
          <a:xfrm>
            <a:off x="5611064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香港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ns2:creationId id="{C1E33368-09CA-499A-808B-27AC9B307C04}"/>
              </a:ext>
            </a:extLst>
          </p:cNvPr>
          <p:cNvSpPr txBox="1"/>
          <p:nvPr/>
        </p:nvSpPr>
        <p:spPr>
          <a:xfrm>
            <a:off x="6997133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新加坡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ns2:creationId id="{700DC8D9-50FB-4980-BB52-15C369E5E88A}"/>
              </a:ext>
            </a:extLst>
          </p:cNvPr>
          <p:cNvSpPr txBox="1"/>
          <p:nvPr/>
        </p:nvSpPr>
        <p:spPr>
          <a:xfrm>
            <a:off x="8428335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台湾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ns2:creationId id="{45CAE6A0-8F97-4B95-97C1-E1FF7176E34F}"/>
              </a:ext>
            </a:extLst>
          </p:cNvPr>
          <p:cNvSpPr txBox="1"/>
          <p:nvPr/>
        </p:nvSpPr>
        <p:spPr>
          <a:xfrm>
            <a:off x="9859536" y="1503362"/>
            <a:ext cx="590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Segoe UI" panose="020B0502040204020203" pitchFamily="34" charset="0"/>
              </a:rPr>
              <a:t>马来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Segoe UI" panose="020B0502040204020203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ns2:creationId id="{F1EE8DDB-CC9F-4FD2-BEF2-77E91BC710A2}"/>
              </a:ext>
            </a:extLst>
          </p:cNvPr>
          <p:cNvSpPr txBox="1"/>
          <p:nvPr/>
        </p:nvSpPr>
        <p:spPr>
          <a:xfrm>
            <a:off x="5643744" y="2103197"/>
            <a:ext cx="900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  <a:sym typeface="Segoe UI" panose="020B0502040204020203" pitchFamily="34" charset="0"/>
              </a:rPr>
              <a:t>PV 603,658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ns2:creationId id="{CA4BD682-D3F9-4634-BA54-1CDF25D402FE}"/>
              </a:ext>
            </a:extLst>
          </p:cNvPr>
          <p:cNvSpPr txBox="1"/>
          <p:nvPr/>
        </p:nvSpPr>
        <p:spPr>
          <a:xfrm>
            <a:off x="6960097" y="2103198"/>
            <a:ext cx="9764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>PV 581,867</a:t>
            </a:r>
          </a:p>
        </p:txBody>
      </p:sp>
      <p:sp>
        <p:nvSpPr>
          <p:cNvPr id="18" name="文本框 17">
            <a:extLst>
              <a:ext uri="{FF2B5EF4-FFF2-40B4-BE49-F238E27FC236}">
                <ns2:creationId id="{1DE757B2-EB2B-4095-9858-8DECD41E21C4}"/>
              </a:ext>
            </a:extLst>
          </p:cNvPr>
          <p:cNvSpPr txBox="1"/>
          <p:nvPr/>
        </p:nvSpPr>
        <p:spPr>
          <a:xfrm>
            <a:off x="8428190" y="2103195"/>
            <a:ext cx="9801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36333A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>PV 148,331</a:t>
            </a:r>
            <a:endParaRPr lang="en-US" altLang="zh-CN" sz="1400" dirty="0">
              <a:solidFill>
                <a:srgbClr val="36333A"/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Nirmala UI Semilight" panose="020B0402040204020203" pitchFamily="34" charset="0"/>
            </a:endParaRPr>
          </a:p>
          <a:p>
            <a:r>
              <a:rPr lang="zh-CN" altLang="en-US" sz="1400" dirty="0">
                <a:solidFill>
                  <a:srgbClr val="36333A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/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Nirmala UI Semilight" panose="020B0402040204020203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ns2:creationId id="{FD6B7D9F-83F6-4B24-9B81-3D38A7A6290D}"/>
              </a:ext>
            </a:extLst>
          </p:cNvPr>
          <p:cNvSpPr txBox="1"/>
          <p:nvPr/>
        </p:nvSpPr>
        <p:spPr>
          <a:xfrm>
            <a:off x="9899635" y="2094109"/>
            <a:ext cx="10209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36333A"/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cs typeface="Nirmala UI Semilight" panose="020B0402040204020203" pitchFamily="34" charset="0"/>
              </a:rPr>
              <a:t>PV 146,071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cs typeface="Nirmala UI Semilight" panose="020B0402040204020203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ns2:creationId id="{46FAFEE9-6813-4C31-9565-96EFC60BD72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632719" y="3180349"/>
            <a:ext cx="4143788" cy="2657549"/>
          </a:xfrm>
          <a:prstGeom prst="rect">
            <a:avLst/>
          </a:prstGeom>
        </p:spPr>
      </p:pic>
      <p:graphicFrame>
        <p:nvGraphicFramePr>
          <p:cNvPr id="83" name="Chart 82"/>
          <p:cNvGraphicFramePr>
            <a:graphicFrameLocks noGrp="1"/>
          </p:cNvGraphicFramePr>
          <p:nvPr/>
        </p:nvGraphicFramePr>
        <p:xfrm>
          <a:off x="800000" y="4300000"/>
          <a:ext cx="11000000" cy="24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val="1624552729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1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  <p:bldP spid="7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ns2:creationId id="{8447404F-14FD-4F67-A9E5-01F91307129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0" y="2857117"/>
            <a:ext cx="12192000" cy="492837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ns2:creationId id="{54B021B2-31DF-475C-89E7-FB9033EB0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flipH="1">
            <a:off x="8684204" y="0"/>
            <a:ext cx="2900795" cy="685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ns2:creationId id="{7ECFA5D5-967F-4946-96AC-6F07C776736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158860">
            <a:off x="4495792" y="152404"/>
            <a:ext cx="9144019" cy="42885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ns2:creationId id="{11A0969E-53CF-4647-A101-652563EE358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3148051">
            <a:off x="1341958" y="-466726"/>
            <a:ext cx="3541783" cy="495301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ns2:creationId id="{5418C9DA-1954-4EBB-BAB1-9FFC69BE876E}"/>
              </a:ext>
            </a:extLst>
          </p:cNvPr>
          <p:cNvSpPr txBox="1"/>
          <p:nvPr/>
        </p:nvSpPr>
        <p:spPr>
          <a:xfrm rot="96172">
            <a:off x="539711" y="991312"/>
            <a:ext cx="4288353" cy="132343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第三部分</a:t>
            </a:r>
          </a:p>
        </p:txBody>
      </p:sp>
      <p:sp>
        <p:nvSpPr>
          <p:cNvPr id="12" name="文本框 11">
            <a:extLst>
              <a:ext uri="{FF2B5EF4-FFF2-40B4-BE49-F238E27FC236}">
                <ns2:creationId id="{D66DA349-5637-4EA4-99CE-8E685B044797}"/>
              </a:ext>
            </a:extLst>
          </p:cNvPr>
          <p:cNvSpPr txBox="1"/>
          <p:nvPr/>
        </p:nvSpPr>
        <p:spPr>
          <a:xfrm rot="21514332">
            <a:off x="787444" y="2491083"/>
            <a:ext cx="5231699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各站流量来源 · 渠道差异分析</a:t>
            </a:r>
          </a:p>
        </p:txBody>
      </p:sp>
    </p:spTree>
    <p:extLst>
      <p:ext uri="{BB962C8B-B14F-4D97-AF65-F5344CB8AC3E}">
        <p14:creationId val="4001184247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ns2:creationId id="{6D2C997F-C712-4231-B150-7B7CF969BCB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2235208" y="-829059"/>
            <a:ext cx="7772416" cy="272491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ns2:creationId id="{8073C4FE-52C0-4A10-B0B4-07DC64215D8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5028632" y="2483612"/>
            <a:ext cx="14986515" cy="583591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ns2:creationId id="{57A2F2A5-C37A-490E-9DA5-8C94C217699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185429" y="1397000"/>
            <a:ext cx="2667731" cy="5232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54D0DE09-9BE7-4CBE-846C-A0293ABAFE6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18274650" flipH="1">
            <a:off x="5536818" y="-3101748"/>
            <a:ext cx="6096762" cy="6858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ns2:creationId id="{C2802D8B-E067-4EFD-9A17-715C980EB16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 rot="3148051">
            <a:off x="5902178" y="1519248"/>
            <a:ext cx="3541783" cy="49530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ns2:creationId id="{8FE1C655-B4BF-46E1-AFC5-FC297C5F5B02}"/>
              </a:ext>
            </a:extLst>
          </p:cNvPr>
          <p:cNvSpPr txBox="1"/>
          <p:nvPr/>
        </p:nvSpPr>
        <p:spPr>
          <a:xfrm rot="96172">
            <a:off x="5099929" y="2977286"/>
            <a:ext cx="4288353" cy="132343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第四部分</a:t>
            </a:r>
          </a:p>
        </p:txBody>
      </p:sp>
      <p:sp>
        <p:nvSpPr>
          <p:cNvPr id="15" name="文本框 14">
            <a:extLst>
              <a:ext uri="{FF2B5EF4-FFF2-40B4-BE49-F238E27FC236}">
                <ns2:creationId id="{75CBBC28-45EC-432D-B6DE-497EF55BB990}"/>
              </a:ext>
            </a:extLst>
          </p:cNvPr>
          <p:cNvSpPr txBox="1"/>
          <p:nvPr/>
        </p:nvSpPr>
        <p:spPr>
          <a:xfrm rot="21514332">
            <a:off x="5347664" y="4477058"/>
            <a:ext cx="5231699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2">
                    <a:lumMod val="7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运营策略 · 一站一策</a:t>
            </a:r>
          </a:p>
        </p:txBody>
      </p:sp>
    </p:spTree>
    <p:extLst>
      <p:ext uri="{BB962C8B-B14F-4D97-AF65-F5344CB8AC3E}">
        <p14:creationId val="1066052564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8.xml><?xml version="1.0" encoding="utf-8"?>
<p:sld xmlns:a="http://schemas.openxmlformats.org/drawingml/2006/main" xmlns:mc="http://schemas.openxmlformats.org/markup-compatibility/2006" xmlns:ns2="http://schemas.microsoft.com/office/drawing/2014/main" xmlns:ns4="http://schemas.microsoft.com/office/drawing/2010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ns2:creationId id="{2F278418-DCB8-466E-8CB6-907F10F1F9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-1158511" y="2581279"/>
            <a:ext cx="13636261" cy="55121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ns2:creationId id="{ECFE68C5-2472-4312-B92F-5D5AF8A2156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1110366" y="-317500"/>
            <a:ext cx="8758623" cy="71755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ns2:creationId id="{0243A49D-8453-4C37-A6FB-1731E4FB5A0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ns4:useLocalDpi/>
              </a:ext>
            </a:extLst>
          </a:blip>
          <a:stretch>
            <a:fillRect/>
          </a:stretch>
        </p:blipFill>
        <p:spPr>
          <a:xfrm>
            <a:off x="5982779" y="-841759"/>
            <a:ext cx="7772416" cy="272491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ns2:creationId id="{D6F778E8-827F-4562-82C6-53B7A3488796}"/>
              </a:ext>
            </a:extLst>
          </p:cNvPr>
          <p:cNvSpPr txBox="1"/>
          <p:nvPr/>
        </p:nvSpPr>
        <p:spPr>
          <a:xfrm>
            <a:off x="9363896" y="1330989"/>
            <a:ext cx="1415772" cy="419602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8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rPr>
              <a:t>谢谢观看</a:t>
            </a:r>
            <a:endParaRPr lang="zh-CN" altLang="en-US" sz="8000" dirty="0">
              <a:solidFill>
                <a:schemeClr val="tx1">
                  <a:lumMod val="85000"/>
                  <a:lumOff val="1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ns2:creationId id="{3BCAA903-B9DC-41F6-BCB4-BAE686A60C91}"/>
              </a:ext>
            </a:extLst>
          </p:cNvPr>
          <p:cNvCxnSpPr>
            <a:cxnSpLocks/>
          </p:cNvCxnSpPr>
          <p:nvPr/>
        </p:nvCxnSpPr>
        <p:spPr>
          <a:xfrm>
            <a:off x="10766968" y="1684434"/>
            <a:ext cx="0" cy="3276600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ns2:creationId id="{10D114CD-FB63-4643-A748-FB87BA91DE4C}"/>
              </a:ext>
            </a:extLst>
          </p:cNvPr>
          <p:cNvCxnSpPr>
            <a:cxnSpLocks/>
          </p:cNvCxnSpPr>
          <p:nvPr/>
        </p:nvCxnSpPr>
        <p:spPr>
          <a:xfrm>
            <a:off x="9363896" y="1898650"/>
            <a:ext cx="0" cy="3152968"/>
          </a:xfrm>
          <a:prstGeom prst="line">
            <a:avLst/>
          </a:prstGeom>
          <a:ln>
            <a:solidFill>
              <a:srgbClr val="DBE8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4148287840"/>
      </p:ext>
    </p:extLst>
  </p:cSld>
  <p:clrMapOvr>
    <a:masterClrMapping/>
  </p:clrMapOvr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34473B07-A6B7-4D51-AB58-E7D35B0065BA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水彩意境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1343</Words>
  <Application>Microsoft Office PowerPoint</Application>
  <PresentationFormat>宽屏</PresentationFormat>
  <Paragraphs>227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Meiryo</vt:lpstr>
      <vt:lpstr>等线</vt:lpstr>
      <vt:lpstr>等线 Light</vt:lpstr>
      <vt:lpstr>宋体</vt:lpstr>
      <vt:lpstr>微软雅黑</vt:lpstr>
      <vt:lpstr>字魂36号-正文宋楷</vt:lpstr>
      <vt:lpstr>Arial</vt:lpstr>
      <vt:lpstr>Calibri</vt:lpstr>
      <vt:lpstr>Calibri Light</vt:lpstr>
      <vt:lpstr>Nirmala UI Semilight</vt:lpstr>
      <vt:lpstr>Segoe UI</vt:lpstr>
      <vt:lpstr>Segoe UI Symbol</vt:lpstr>
      <vt:lpstr>Wingdings</vt:lpstr>
      <vt:lpstr>第一PPT，www.1ppt.com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https://www.ypppt.com/</dc:subject>
  <dc:creator/>
  <cp:keywords>https://www.ypppt.com/</cp:keywords>
  <dc:description>https://www.ypppt.com/</dc:description>
  <cp:lastModifiedBy>kan</cp:lastModifiedBy>
  <cp:revision>56</cp:revision>
  <dcterms:created xsi:type="dcterms:W3CDTF">2018-04-21T05:47:01Z</dcterms:created>
  <dcterms:modified xsi:type="dcterms:W3CDTF">2021-03-03T03:54:22Z</dcterms:modified>
</cp:coreProperties>
</file>