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PV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bubble3D val="0"/>
            <c:spPr>
              <a:solidFill>
                <a:srgbClr val="1E40AF"/>
              </a:solidFill>
              <a:effectLst/>
            </c:spPr>
          </c:dPt>
          <c:dPt>
            <c:idx val="2"/>
            <c:bubble3D val="0"/>
            <c:spPr>
              <a:solidFill>
                <a:srgbClr val="0EA5E9"/>
              </a:solidFill>
              <a:effectLst/>
            </c:spPr>
          </c:dPt>
          <c:dPt>
            <c:idx val="3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64748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64748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64748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64748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zh-hk (30.1%)</c:v>
                </c:pt>
                <c:pt idx="1">
                  <c:v>en-sg (29.0%)</c:v>
                </c:pt>
                <c:pt idx="2">
                  <c:v>其他 TOP 8 (29.5%)</c:v>
                </c:pt>
                <c:pt idx="3">
                  <c:v>长尾站点 (11.4%)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30.1</c:v>
                </c:pt>
                <c:pt idx="1">
                  <c:v>29</c:v>
                </c:pt>
                <c:pt idx="2">
                  <c:v>29.5</c:v>
                </c:pt>
                <c:pt idx="3">
                  <c:v>11.4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zh-hk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zh-hk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en-sg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en-sg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58.2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zh-tw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zh-tw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14.8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en-my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en-my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14.6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ru-ru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ru-ru</c:v>
                  </c:pt>
                </c:lvl>
              </c:multiLvlStrCache>
            </c:multiLvl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6.9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ko-kr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ko-kr</c:v>
                  </c:pt>
                </c:lvl>
              </c:multiLvlStrCache>
            </c:multiLvlStrRef>
          </c:cat>
          <c:val>
            <c:numRef>
              <c:f>Sheet1!$G$2:$G$2</c:f>
              <c:numCache>
                <c:formatCode>General</c:formatCode>
                <c:ptCount val="1"/>
                <c:pt idx="0">
                  <c:v>5.6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en-id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en-id</c:v>
                  </c:pt>
                </c:lvl>
              </c:multiLvlStrCache>
            </c:multiLvlStrRef>
          </c:cat>
          <c:val>
            <c:numRef>
              <c:f>Sheet1!$H$2:$H$2</c:f>
              <c:numCache>
                <c:formatCode>General</c:formatCode>
                <c:ptCount val="1"/>
                <c:pt idx="0">
                  <c:v>5.2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zh-my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zh-my</c:v>
                  </c:pt>
                </c:lvl>
              </c:multiLvlStrCache>
            </c:multiLvlStrRef>
          </c:cat>
          <c:val>
            <c:numRef>
              <c:f>Sheet1!$I$2:$I$2</c:f>
              <c:numCache>
                <c:formatCode>General</c:formatCode>
                <c:ptCount val="1"/>
                <c:pt idx="0">
                  <c:v>4.8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zh-sg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zh-sg</c:v>
                  </c:pt>
                </c:lvl>
              </c:multiLvlStrCache>
            </c:multiLvlStrRef>
          </c:cat>
          <c:val>
            <c:numRef>
              <c:f>Sheet1!$J$2:$J$2</c:f>
              <c:numCache>
                <c:formatCode>General</c:formatCode>
                <c:ptCount val="1"/>
                <c:pt idx="0">
                  <c:v>4.2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en-xx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en-xx</c:v>
                  </c:pt>
                </c:lvl>
              </c:multiLvlStrCache>
            </c:multiLvlStrRef>
          </c:cat>
          <c:val>
            <c:numRef>
              <c:f>Sheet1!$K$2:$K$2</c:f>
              <c:numCache>
                <c:formatCode>General</c:formatCode>
                <c:ptCount val="1"/>
                <c:pt idx="0">
                  <c:v>3.9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站内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zh-hk</c:v>
                  </c:pt>
                  <c:pt idx="1">
                    <c:v>en-sg</c:v>
                  </c:pt>
                  <c:pt idx="2">
                    <c:v>en-my</c:v>
                  </c:pt>
                  <c:pt idx="3">
                    <c:v>ru-ru</c:v>
                  </c:pt>
                  <c:pt idx="4">
                    <c:v>ko-kr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66.6</c:v>
                </c:pt>
                <c:pt idx="1">
                  <c:v>42.7</c:v>
                </c:pt>
                <c:pt idx="2">
                  <c:v>55</c:v>
                </c:pt>
                <c:pt idx="3">
                  <c:v>31.7</c:v>
                </c:pt>
                <c:pt idx="4">
                  <c:v>44.3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APP-PUSH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zh-hk</c:v>
                  </c:pt>
                  <c:pt idx="1">
                    <c:v>en-sg</c:v>
                  </c:pt>
                  <c:pt idx="2">
                    <c:v>en-my</c:v>
                  </c:pt>
                  <c:pt idx="3">
                    <c:v>ru-ru</c:v>
                  </c:pt>
                  <c:pt idx="4">
                    <c:v>ko-kr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5.4</c:v>
                </c:pt>
                <c:pt idx="1">
                  <c:v>23</c:v>
                </c:pt>
                <c:pt idx="2">
                  <c:v>9.3</c:v>
                </c:pt>
                <c:pt idx="3">
                  <c:v>14.5</c:v>
                </c:pt>
                <c:pt idx="4">
                  <c:v>6.5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zh-hk</c:v>
                  </c:pt>
                  <c:pt idx="1">
                    <c:v>en-sg</c:v>
                  </c:pt>
                  <c:pt idx="2">
                    <c:v>en-my</c:v>
                  </c:pt>
                  <c:pt idx="3">
                    <c:v>ru-ru</c:v>
                  </c:pt>
                  <c:pt idx="4">
                    <c:v>ko-kr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13.3</c:v>
                </c:pt>
                <c:pt idx="1">
                  <c:v>10.8</c:v>
                </c:pt>
                <c:pt idx="2">
                  <c:v>16.1</c:v>
                </c:pt>
                <c:pt idx="3">
                  <c:v>10.6</c:v>
                </c:pt>
                <c:pt idx="4">
                  <c:v>15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SEO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zh-hk</c:v>
                  </c:pt>
                  <c:pt idx="1">
                    <c:v>en-sg</c:v>
                  </c:pt>
                  <c:pt idx="2">
                    <c:v>en-my</c:v>
                  </c:pt>
                  <c:pt idx="3">
                    <c:v>ru-ru</c:v>
                  </c:pt>
                  <c:pt idx="4">
                    <c:v>ko-kr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4.5</c:v>
                </c:pt>
                <c:pt idx="1">
                  <c:v>12.1</c:v>
                </c:pt>
                <c:pt idx="2">
                  <c:v>5.2</c:v>
                </c:pt>
                <c:pt idx="3">
                  <c:v>28.4</c:v>
                </c:pt>
                <c:pt idx="4">
                  <c:v>9.7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PPC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zh-hk</c:v>
                  </c:pt>
                  <c:pt idx="1">
                    <c:v>en-sg</c:v>
                  </c:pt>
                  <c:pt idx="2">
                    <c:v>en-my</c:v>
                  </c:pt>
                  <c:pt idx="3">
                    <c:v>ru-ru</c:v>
                  </c:pt>
                  <c:pt idx="4">
                    <c:v>ko-kr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5</c:v>
                </c:pt>
                <c:pt idx="1">
                  <c:v>7.4</c:v>
                </c:pt>
                <c:pt idx="2">
                  <c:v>8.4</c:v>
                </c:pt>
                <c:pt idx="3">
                  <c:v>12</c:v>
                </c:pt>
                <c:pt idx="4">
                  <c:v>11.6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其他/EDM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zh-hk</c:v>
                  </c:pt>
                  <c:pt idx="1">
                    <c:v>en-sg</c:v>
                  </c:pt>
                  <c:pt idx="2">
                    <c:v>en-my</c:v>
                  </c:pt>
                  <c:pt idx="3">
                    <c:v>ru-ru</c:v>
                  </c:pt>
                  <c:pt idx="4">
                    <c:v>ko-kr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5.2</c:v>
                </c:pt>
                <c:pt idx="1">
                  <c:v>4</c:v>
                </c:pt>
                <c:pt idx="2">
                  <c:v>6</c:v>
                </c:pt>
                <c:pt idx="3">
                  <c:v>2.8</c:v>
                </c:pt>
                <c:pt idx="4">
                  <c:v>12.9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64748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914400"/>
            <a:ext cx="4572000" cy="45720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114800"/>
            <a:ext cx="3657600" cy="36576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5029200"/>
            <a:ext cx="3200400" cy="32004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920240"/>
            <a:ext cx="73152" cy="2011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站门票 · 语言站流量分析报告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8872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Site Traffic Analysis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88720" y="3291840"/>
            <a:ext cx="5486400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5661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数据窗口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|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2026-08-10 ~ 2026-08-17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分析维度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|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语言站（locale）· 流量来源（trip_channel）· PV / UV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|  </a:t>
            </a:r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dw_ticketdb.edw_log_ttd_traffic_order_d_ext · SGP 集群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6035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2026-09-04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数据口径与统计说明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 · 指标定义 · 统计维度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091672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2697480" cy="3108960"/>
          </a:xfrm>
          <a:prstGeom prst="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63040"/>
            <a:ext cx="269748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环境与集群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65176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88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SGP 集群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3108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站海外数据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29000" y="1463040"/>
            <a:ext cx="2697480" cy="3108960"/>
          </a:xfrm>
          <a:prstGeom prst="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0" y="146304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611880" y="22860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11880" y="265176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788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dw_ticketdb.edw_log_ttd_traffic_order_d_ext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11880" y="3108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过滤: page_ct='trip' + sub_bu_name='ibu门票'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09360" y="1463040"/>
            <a:ext cx="2697480" cy="3108960"/>
          </a:xfrm>
          <a:prstGeom prst="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1463040"/>
            <a:ext cx="26974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92240" y="22860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站点口径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265176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788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locale 字段划分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92240" y="3108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zh-hk=香港繁体 · en-sg=新加坡英文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189720" y="1463040"/>
            <a:ext cx="2697480" cy="3108960"/>
          </a:xfrm>
          <a:prstGeom prst="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89720" y="1463040"/>
            <a:ext cx="26974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93726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372600" y="22860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372600" y="265176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72600" y="2788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 = count(distinct com_pv)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72600" y="3108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UV = count(distinct vid)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372600" y="34290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流量来源 = trip_channel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4937760"/>
            <a:ext cx="11064240" cy="914400"/>
          </a:xfrm>
          <a:prstGeom prst="rect">
            <a:avLst>
              <a:gd name="adj" fmla="val 5000"/>
            </a:avLst>
          </a:prstGeom>
          <a:solidFill>
            <a:srgbClr val="EFF6FF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51206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数据窗口：最近完整 7 天（8/10 - 8/17） ｜ 全量覆盖 50+ 个语言站 ｜ 上一轮按景点口径存在偏差，本次按语言站重新统计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LANGUAGE SITES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10 语言站流量排名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PV 排序 · 头部集中度显著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091672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9494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554480"/>
                <a:gridCol w="1188720"/>
                <a:gridCol w="137160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语言站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locale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PV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PV 占比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UV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香港繁体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zh-hk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603,658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49,043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新加坡英文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en-sg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581,867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37,249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台湾繁体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zh-tw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148,331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28,092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马来西亚英文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en-my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146,071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11,297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俄语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ru-ru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68,933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16,647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韩语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ko-kr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55,648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印尼英文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en-id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马来西亚繁体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zh-my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48,370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3,597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新加坡繁体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zh-sg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42,422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泛用英文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en-xx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39,366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7680960" y="1371600"/>
          <a:ext cx="39319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680960" y="4114800"/>
            <a:ext cx="3931920" cy="6858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1E293B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680960" y="411480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7"/>
          <p:cNvSpPr/>
          <p:nvPr/>
        </p:nvSpPr>
        <p:spPr>
          <a:xfrm>
            <a:off x="7863840" y="4187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2 集中度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778240" y="41605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863840" y="44439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zh-hk + en-sg 合计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7680960" y="4937760"/>
            <a:ext cx="3931920" cy="6858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1E293B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680960" y="4937760"/>
            <a:ext cx="54864" cy="6858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6" name="Text 12"/>
          <p:cNvSpPr/>
          <p:nvPr/>
        </p:nvSpPr>
        <p:spPr>
          <a:xfrm>
            <a:off x="7863840" y="50109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10 覆盖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8778240" y="49834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88.6%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863840" y="526694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全站 UV / PV 总量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7680960" y="5760720"/>
            <a:ext cx="3931920" cy="6858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1E293B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680960" y="5760720"/>
            <a:ext cx="54864" cy="6858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1" name="Text 17"/>
          <p:cNvSpPr/>
          <p:nvPr/>
        </p:nvSpPr>
        <p:spPr>
          <a:xfrm>
            <a:off x="7863840" y="58338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长尾站点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778240" y="58064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7863840" y="608990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仅贡献 11.4%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548640" y="5852160"/>
            <a:ext cx="11064240" cy="685800"/>
          </a:xfrm>
          <a:prstGeom prst="rect">
            <a:avLst>
              <a:gd name="adj" fmla="val 6667"/>
            </a:avLst>
          </a:prstGeom>
          <a:solidFill>
            <a:srgbClr val="FFF7ED"/>
          </a:solidFill>
          <a:ln/>
        </p:spPr>
      </p:sp>
      <p:sp>
        <p:nvSpPr>
          <p:cNvPr id="25" name="Text 21"/>
          <p:cNvSpPr/>
          <p:nvPr/>
        </p:nvSpPr>
        <p:spPr>
          <a:xfrm>
            <a:off x="914400" y="59893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主力客源区：港澳台 + 东南亚（新马）+ 俄韩  ——  头部效应极其显著，运营资源应向 TOP 2 倾斜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DISTRIBUTION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10 语言站 PV 分布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水平柱状图 · PV 单位：万次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091672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371600"/>
          <a:ext cx="80467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778240" y="1371600"/>
            <a:ext cx="2926080" cy="4572000"/>
          </a:xfrm>
          <a:prstGeom prst="rect">
            <a:avLst>
              <a:gd name="adj" fmla="val 1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1E293B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96112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961120" y="1920240"/>
            <a:ext cx="25603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0" y="2103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555480" y="21214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2 占近六成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555480" y="243230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zh-hk + en-sg PV 合计 118.6 万，占比 59%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961120" y="3429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555480" y="34472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3-10 差距明显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555480" y="37581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第三名仅 148K，与 TOP 2 差距 4 倍以上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961120" y="4754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555480" y="47731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长尾效应弱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555480" y="508406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40+ 个站点合计仅 11.4% PV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MIX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各语言站流量来源对比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核心站点渠道构成（%）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091672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55648"/>
                <a:gridCol w="1755648"/>
                <a:gridCol w="1755648"/>
                <a:gridCol w="1755648"/>
                <a:gridCol w="175564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流量来源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🇭🇰 zh-hk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🇸🇬 en-sg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🇲🇾 en-my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🇷🇺 ru-ru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🇰🇷 ko-kr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站内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APP-PUSH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Partner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其他/EDM等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754880"/>
            <a:ext cx="3611880" cy="1371600"/>
          </a:xfrm>
          <a:prstGeom prst="rect">
            <a:avLst>
              <a:gd name="adj" fmla="val 4000"/>
            </a:avLst>
          </a:prstGeom>
          <a:solidFill>
            <a:srgbClr val="FFF1F2"/>
          </a:solidFill>
          <a:ln/>
          <a:effectLst>
            <a:outerShdw sx="100000" sy="100000" kx="0" ky="0" algn="bl" rotWithShape="0" blurRad="76200" dist="12700" dir="8100000">
              <a:srgbClr val="1E293B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4754880"/>
            <a:ext cx="45720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846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zh-hk · 站内最高 66.6%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52120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平台内自发流转为主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43400" y="4754880"/>
            <a:ext cx="3611880" cy="1371600"/>
          </a:xfrm>
          <a:prstGeom prst="rect">
            <a:avLst>
              <a:gd name="adj" fmla="val 40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12700" dir="8100000">
              <a:srgbClr val="1E293B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43400" y="4754880"/>
            <a:ext cx="45720" cy="13716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4" name="Text 11"/>
          <p:cNvSpPr/>
          <p:nvPr/>
        </p:nvSpPr>
        <p:spPr>
          <a:xfrm>
            <a:off x="4526280" y="4846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en-sg · APP-PUSH 23%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26280" y="52120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 召回驱动，与演出开票强绑定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138160" y="4754880"/>
            <a:ext cx="3611880" cy="1371600"/>
          </a:xfrm>
          <a:prstGeom prst="rect">
            <a:avLst>
              <a:gd name="adj" fmla="val 4000"/>
            </a:avLst>
          </a:prstGeom>
          <a:solidFill>
            <a:srgbClr val="FFF7ED"/>
          </a:solidFill>
          <a:ln/>
          <a:effectLst>
            <a:outerShdw sx="100000" sy="100000" kx="0" ky="0" algn="bl" rotWithShape="0" blurRad="76200" dist="12700" dir="8100000">
              <a:srgbClr val="1E293B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38160" y="4754880"/>
            <a:ext cx="45720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8321040" y="4846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ru-ru · SEO 28.4%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321040" y="52120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搜索引擎自然流入为主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五大语言站渠道结构对比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条形图 · 横向对比各站渠道占比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091672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371600"/>
          <a:ext cx="110642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各核心站渠道结构解读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差异化运营策略依据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091672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577840" cy="2423160"/>
          </a:xfrm>
          <a:prstGeom prst="rect">
            <a:avLst>
              <a:gd name="adj" fmla="val 2264"/>
            </a:avLst>
          </a:prstGeom>
          <a:solidFill>
            <a:srgbClr val="FFF1F2"/>
          </a:solidFill>
          <a:ln/>
          <a:effectLst>
            <a:outerShdw sx="100000" sy="100000" kx="0" ky="0" algn="bl" rotWithShape="0" blurRad="101600" dist="25400" dir="8100000">
              <a:srgbClr val="1E293B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557784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zh-hk · 香港繁体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14630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站内驱动型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站内占比 66.6%，全站最高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3042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用户在平台内自发流转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68833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对外投放依赖低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07238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Partner 联盟是第二抓手 (13.3%)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1417320"/>
            <a:ext cx="5577840" cy="2423160"/>
          </a:xfrm>
          <a:prstGeom prst="rect">
            <a:avLst>
              <a:gd name="adj" fmla="val 2264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25400" dir="8100000">
              <a:srgbClr val="1E293B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417320"/>
            <a:ext cx="55778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463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en-sg · 新加坡英文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149840" y="14630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 召回型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92240" y="1920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APP-PUSH 依赖度最高 (23%)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0" y="23042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 体量全站第二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268833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高度依赖 Push 召回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307238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BIGBANG 演唱会等强绑定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5577840" cy="2423160"/>
          </a:xfrm>
          <a:prstGeom prst="rect">
            <a:avLst>
              <a:gd name="adj" fmla="val 2264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25400" dir="8100000">
              <a:srgbClr val="1E293B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023360"/>
            <a:ext cx="55778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0690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ru-ru · 俄语站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97680" y="40690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SEO 自然引流型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" y="45262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SEO 占 28.4%，全站最高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9103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远超其他渠道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529437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搜索引擎自然流入为主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567842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对投放依赖低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09360" y="4023360"/>
            <a:ext cx="5577840" cy="2423160"/>
          </a:xfrm>
          <a:prstGeom prst="rect">
            <a:avLst>
              <a:gd name="adj" fmla="val 2264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25400" dir="8100000">
              <a:srgbClr val="1E293B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4023360"/>
            <a:ext cx="55778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0690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ko-kr / en-my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149840" y="40690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均衡投放型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92240" y="45262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渠道相对均衡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92240" y="49103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 44-55%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92240" y="529437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Partner/PPC/SEO 各占 8-16%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567842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多渠道并进策略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6464808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整体：站内仍是大盘主力 (32%-67%)，对外投放四抓手 = Partner + SEO + APP-PUSH + PPC，但每个语言站侧重差异巨大 → 运营需"一站一策"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关键发现总结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五大核心洞察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091672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64240" cy="9144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1E293B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54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14813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头部集中度极高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14813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2 占 59%，TOP 10 占 88.6%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06240" y="1828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港澳台 + 新马 + 俄韩是主力客源区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789920" y="1645920"/>
            <a:ext cx="365760" cy="36576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395728"/>
            <a:ext cx="11064240" cy="9144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1E293B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395728"/>
            <a:ext cx="54864" cy="9144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5786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25054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站内仍是大盘主力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25054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各站站内 32%-67%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28529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香港最高 66.6%，平台内自发流转显著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0789920" y="2670048"/>
            <a:ext cx="365760" cy="36576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10789920" y="2670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40AF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419856"/>
            <a:ext cx="11064240" cy="9144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1E293B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419856"/>
            <a:ext cx="54864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60273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554480" y="35295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四大外部抓手分化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06240" y="35295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Partner · SEO · APP-PUSH · PPC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06240" y="38770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每个语言站的侧重差异巨大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789920" y="3694176"/>
            <a:ext cx="365760" cy="36576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10789920" y="3694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4443984"/>
            <a:ext cx="11064240" cy="9144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1E293B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4443984"/>
            <a:ext cx="54864" cy="914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62686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554480" y="45537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运营须一站一策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206240" y="45537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新加坡靠 Push · 俄罗斯靠 SEO · 香港靠站内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06240" y="4901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策略需因站而异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0789920" y="4718304"/>
            <a:ext cx="365760" cy="36576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1078992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48640" y="5468112"/>
            <a:ext cx="11064240" cy="9144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1E293B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8640" y="5468112"/>
            <a:ext cx="54864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565099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554480" y="5577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待验证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206240" y="5577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需进一步看下单转化 / GMV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206240" y="5925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评估哪个语言站投放 ROI 最高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0789920" y="5742432"/>
            <a:ext cx="365760" cy="36576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10789920" y="5742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5CF6"/>
                </a:solidFill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运营建议 · 一站一策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基于流量结构的差异化策略方向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091672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566160" cy="2148840"/>
          </a:xfrm>
          <a:prstGeom prst="rect">
            <a:avLst>
              <a:gd name="adj" fmla="val 2979"/>
            </a:avLst>
          </a:prstGeom>
          <a:solidFill>
            <a:srgbClr val="FFF1F2"/>
          </a:solidFill>
          <a:ln/>
          <a:effectLst>
            <a:outerShdw sx="100000" sy="100000" kx="0" ky="0" algn="bl" rotWithShape="0" blurRad="101600" dist="25400" dir="8100000">
              <a:srgbClr val="1E293B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356616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874520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💎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重仓 TOP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zh-hk + en-sg 占 59%，资源优先倾斜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3017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持续监控转化效率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97680" y="1417320"/>
            <a:ext cx="3566160" cy="2148840"/>
          </a:xfrm>
          <a:prstGeom prst="rect">
            <a:avLst>
              <a:gd name="adj" fmla="val 2979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25400" dir="8100000">
              <a:srgbClr val="1E293B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1417320"/>
            <a:ext cx="356616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0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📲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434840" y="2423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新加坡 Push 深耕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3484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APP-PUSH 23%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34840" y="3017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强化演出开票提醒与召回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138160" y="1417320"/>
            <a:ext cx="3566160" cy="2148840"/>
          </a:xfrm>
          <a:prstGeom prst="rect">
            <a:avLst>
              <a:gd name="adj" fmla="val 2979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25400" dir="8100000">
              <a:srgbClr val="1E293B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1417320"/>
            <a:ext cx="35661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9555480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275320" y="2423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俄罗斯 SEO 专项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7532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SEO 占 28.4%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75320" y="3017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加强俄语搜索内容与关键词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3566160" cy="2148840"/>
          </a:xfrm>
          <a:prstGeom prst="rect">
            <a:avLst>
              <a:gd name="adj" fmla="val 2979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25400" dir="8100000">
              <a:srgbClr val="1E293B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749040"/>
            <a:ext cx="356616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1874520" y="3931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94360" y="4754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Partner 联盟扩大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5074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多数站 Partner 占 10-16%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94360" y="5349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拓展更多联盟合作渠道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97680" y="3749040"/>
            <a:ext cx="3566160" cy="2148840"/>
          </a:xfrm>
          <a:prstGeom prst="rect">
            <a:avLst>
              <a:gd name="adj" fmla="val 2979"/>
            </a:avLst>
          </a:prstGeom>
          <a:solidFill>
            <a:srgbClr val="F5F3FF"/>
          </a:solidFill>
          <a:ln/>
          <a:effectLst>
            <a:outerShdw sx="100000" sy="100000" kx="0" ky="0" algn="bl" rotWithShape="0" blurRad="101600" dist="25400" dir="8100000">
              <a:srgbClr val="1E293B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97680" y="3749040"/>
            <a:ext cx="356616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5715000" y="3931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434840" y="4754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下单转化追踪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34840" y="5074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看订单量 + GMV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434840" y="5349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评估各站投放 ROI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138160" y="3749040"/>
            <a:ext cx="3566160" cy="2148840"/>
          </a:xfrm>
          <a:prstGeom prst="rect">
            <a:avLst>
              <a:gd name="adj" fmla="val 2979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25400" dir="8100000">
              <a:srgbClr val="1E293B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138160" y="3749040"/>
            <a:ext cx="356616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9" name="Text 37"/>
          <p:cNvSpPr/>
          <p:nvPr/>
        </p:nvSpPr>
        <p:spPr>
          <a:xfrm>
            <a:off x="9555480" y="3931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8275320" y="4754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周维度监控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75320" y="5074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建立流量看板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275320" y="5349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跟踪各站变化趋势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5029200"/>
            <a:ext cx="2743200" cy="2743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-914400"/>
            <a:ext cx="3200400" cy="32004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如需进一步分析或生成动态页面，随时联系 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3657600"/>
            <a:ext cx="3017520" cy="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31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站门票 · 语言站流量分析报告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Codex</dc:creator>
  <cp:lastModifiedBy>Codex</cp:lastModifiedBy>
  <cp:revision>1</cp:revision>
  <dcterms:created xsi:type="dcterms:W3CDTF">2026-09-04T05:45:54Z</dcterms:created>
  <dcterms:modified xsi:type="dcterms:W3CDTF">2026-09-04T05:45:54Z</dcterms:modified>
</cp:coreProperties>
</file>