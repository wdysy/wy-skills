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zh-hk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zh-hk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603.658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en-sg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en-sg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581.867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zh-tw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zh-tw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148.331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en-my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en-my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146.071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ru-ru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ru-ru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68.933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ko-kr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ko-kr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55.648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en-id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en-id</c:v>
                  </c:pt>
                </c:lvl>
              </c:multiLvlStrCache>
            </c:multiLvl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52.135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zh-my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zh-my</c:v>
                  </c:pt>
                </c:lvl>
              </c:multiLvlStrCache>
            </c:multiLvlStrRef>
          </c:cat>
          <c:val>
            <c:numRef>
              <c:f>Sheet1!$I$2:$I$2</c:f>
              <c:numCache>
                <c:formatCode>General</c:formatCode>
                <c:ptCount val="1"/>
                <c:pt idx="0">
                  <c:v>48.37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zh-sg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zh-sg</c:v>
                  </c:pt>
                </c:lvl>
              </c:multiLvlStrCache>
            </c:multiLvlStrRef>
          </c:cat>
          <c:val>
            <c:numRef>
              <c:f>Sheet1!$J$2:$J$2</c:f>
              <c:numCache>
                <c:formatCode>General</c:formatCode>
                <c:ptCount val="1"/>
                <c:pt idx="0">
                  <c:v>42.422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en-xx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en-xx</c:v>
                  </c:pt>
                </c:lvl>
              </c:multiLvlStrCache>
            </c:multiLvlStrRef>
          </c:cat>
          <c:val>
            <c:numRef>
              <c:f>Sheet1!$K$2:$K$2</c:f>
              <c:numCache>
                <c:formatCode>General</c:formatCode>
                <c:ptCount val="1"/>
                <c:pt idx="0">
                  <c:v>39.366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CEF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2E6E9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845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B984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站门票流量语言站分析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SGP 集群 edw_log_ttd_traffic_order_d_ext 数据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数据窗口：2026-08-10 ~ 2026-08-17（最近完整 7 天）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分析维度：语言站（locale） · 流量来源（trip_channel）· PV / UV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数据口径说明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本次分析的数据来源与统计口径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120640" cy="1371600"/>
          </a:xfrm>
          <a:prstGeom prst="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环境与表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环境：SGP 集群（T 站海外数据）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表：dw_ticketdb.edw_log_ttd_traffic_order_d_ext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过滤：page_ct='trip' + sub_bu_name='ibu门票'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5120640" cy="1371600"/>
          </a:xfrm>
          <a:prstGeom prst="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14630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站点口径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173736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按 locale 字段（语言站）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例如：zh-hk=香港繁体，en-sg=新加坡英文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上一轮按景点（viewspotname）口径存在偏差，本轮按语言站重统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5120640" cy="1371600"/>
          </a:xfrm>
          <a:prstGeom prst="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291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PV = count(distinct com_pv)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UV = count(distinct vid)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流量来源 = trip_channel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5120640" cy="1371600"/>
          </a:xfrm>
          <a:prstGeom prst="rect">
            <a:avLst>
              <a:gd name="adj" fmla="val 3333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017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数据窗口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329184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数据截止：2026-08-17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最近完整 7 天：8/10 - 8/17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全量覆盖 50+ 个语言站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10 语言站流量排名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PV 排序 · 全量共 50+ 个语言站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 / 8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2103120"/>
                <a:gridCol w="1371600"/>
                <a:gridCol w="1371600"/>
                <a:gridCol w="3291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排名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语言站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locale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PV占比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UV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香港繁体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zh-hk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603,658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49,043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新加坡英文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en-sg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581,867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37,249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台湾繁体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zh-tw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148,331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28,092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马来西亚英文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en-my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146,071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11,297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俄语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ru-ru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68,933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16,647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韩语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ko-kr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55,648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14,796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印尼英文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en-id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52,135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2,955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马来西亚繁体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zh-my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48,370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3,597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新加坡繁体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zh-sg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42,422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2,916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泛用英文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7F8C8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en-xx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39,366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7,822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5394960"/>
            <a:ext cx="4754880" cy="1005840"/>
          </a:xfrm>
          <a:prstGeom prst="rect">
            <a:avLst/>
          </a:prstGeom>
          <a:solidFill>
            <a:srgbClr val="FDEDEC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54681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📌 TOP 2 集中度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5760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zh-hk + en-sg 合计占 59%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60720" y="5394960"/>
            <a:ext cx="4754880" cy="10058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54681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TOP 10 占比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5760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4F72"/>
                </a:solidFill>
              </a:rPr>
              <a:t>88.6%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主力客源区：港澳台 + 东南亚（新马）+ 俄韩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10 语言站 PV 分布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集中度可视化 · 头部效应显著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4 / 8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77724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371600"/>
            <a:ext cx="3108960" cy="43891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0" y="15087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</a:rPr>
              <a:t>关键结论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0" y="19202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zh-hk + en-sg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78240" y="2148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59%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7824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两个站占全站近六成 PV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778240" y="3246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TOP 10 覆盖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77824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88.6%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77824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长尾 40+ 个语言站仅占 11.4%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877824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</a:rPr>
              <a:t>TOP 2 PV 合计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77824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</a:rPr>
              <a:t>118.6万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778240" y="5120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是第 3-10 名的 4 倍以上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各语言站流量来源对比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核心站点渠道构成（%）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5 / 8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92224"/>
                <a:gridCol w="1792224"/>
                <a:gridCol w="1792224"/>
                <a:gridCol w="1792224"/>
                <a:gridCol w="179222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流量来源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zh-hk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en-sg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en-my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ru-ru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ko-kr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站内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66.6%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APP-PUSH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Partner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13.3%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SEO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12.1%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9.7%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PPC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11.6%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其他/EDM等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5.2%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12.9%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CEF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029200"/>
            <a:ext cx="3474720" cy="1371600"/>
          </a:xfrm>
          <a:prstGeom prst="rect">
            <a:avLst/>
          </a:prstGeom>
          <a:solidFill>
            <a:srgbClr val="E8F8F5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2B8"/>
                </a:solidFill>
              </a:rPr>
              <a:t>🔴 zh-hk 站内占比最高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85800" y="5394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站内 66.6% — 香港用户多在平台内自发流转，对外投放依赖低；Partner 联盟是第二抓手（13.3%）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297680" y="5029200"/>
            <a:ext cx="3474720" cy="1371600"/>
          </a:xfrm>
          <a:prstGeom prst="rect">
            <a:avLst/>
          </a:prstGeom>
          <a:solidFill>
            <a:srgbClr val="FEF9E7"/>
          </a:solidFill>
          <a:ln/>
        </p:spPr>
      </p:sp>
      <p:sp>
        <p:nvSpPr>
          <p:cNvPr id="11" name="Text 8"/>
          <p:cNvSpPr/>
          <p:nvPr/>
        </p:nvSpPr>
        <p:spPr>
          <a:xfrm>
            <a:off x="443484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950B"/>
                </a:solidFill>
              </a:rPr>
              <a:t>🔴 en-sg APP-PUSH 依赖最强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34840" y="5394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APP-PUSH 23% — 高度依赖 Push 召回，很可能与 BIGBANG 新加坡演唱会等开票提醒强绑定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8046720" y="5029200"/>
            <a:ext cx="3474720" cy="137160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4" name="Text 11"/>
          <p:cNvSpPr/>
          <p:nvPr/>
        </p:nvSpPr>
        <p:spPr>
          <a:xfrm>
            <a:off x="8183880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C1"/>
                </a:solidFill>
              </a:rPr>
              <a:t>🔴 ru-ru SEO 全站最高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183880" y="53949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C3E50"/>
                </a:solidFill>
              </a:rPr>
              <a:t>SEO 28.4% — 俄罗斯用户大量通过搜索引擎自然流入，对投放依赖低，流量结构最特殊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流量渠道结构解读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各核心站的投放差异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6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zh-hk · 香港繁体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站内驱动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站内占比 66.6%，全站最高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用户多在平台内自发流转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对外投放依赖低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Partner 联盟是第二抓手（13.3%）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309360" y="1371600"/>
            <a:ext cx="530352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371600"/>
            <a:ext cx="530352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417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en-sg · 新加坡英文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 召回型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APP-PUSH 依赖度最高（23%）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PV 体量全站第二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224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高度依赖 Push 召回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31089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 BIGBANG 新加坡演唱会等强绑定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530352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023360"/>
            <a:ext cx="5303520" cy="36576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ru-ru · 俄语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自然引流型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SEO 占 28.4%，全站最高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远超其他渠道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搜索引擎自然流入为主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对投放依赖低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4023360"/>
            <a:ext cx="5303520" cy="2423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6309360" y="4023360"/>
            <a:ext cx="5303520" cy="3657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4069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ko-kr / en-my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49840" y="4069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均衡投放型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渠道相对均衡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92240" y="4937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站内 44-55%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53492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Partner / PPC / SEO 各占 8-16%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92240" y="5760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多渠道并进策略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关键发现总结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五大核心洞察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7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8686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481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头部集中度极高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75564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2 占 59%，TOP 10 占 88.6%。港澳台 + 新马 + 俄韩是主力客源区。长尾 40+ 站点仅贡献 11.4%。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106424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377440"/>
            <a:ext cx="73152" cy="8686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4871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站内仍是大盘主力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63040" y="276148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各站站内占比 32%-67%。香港最高（66.6%），平台内自发流转与跨业务跳转贡献显著。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1106424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383280"/>
            <a:ext cx="73152" cy="8686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493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四大外部抓手分化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76732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联盟 + SEO + APP-PUSH + PPC 是核心投放渠道，但每个语言站的侧重差异巨大。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6424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389120"/>
            <a:ext cx="73152" cy="86868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5720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4988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运营须一站一策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463040" y="47731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新加坡靠 Push 召回、俄罗斯靠 SEO 自然流入、香港靠站内自发流转+Partner，策略需因站而异。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06424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5394960"/>
            <a:ext cx="73152" cy="868680"/>
          </a:xfrm>
          <a:prstGeom prst="rect">
            <a:avLst/>
          </a:prstGeom>
          <a:solidFill>
            <a:srgbClr val="B7950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5778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95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5504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对外投放 ROI 待验证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577900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需进一步分析各站下单转化（订单量、GMV），评估哪个语言站投放 ROI 最高。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下一步建议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基于当前分析的可执行方向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247120" y="3200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8 / 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474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874520" y="164592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187452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下单转化分析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分析各语言站的订单量、GMV、转化率，评估 ROI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474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0" y="164592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3" name="Text 11"/>
          <p:cNvSpPr/>
          <p:nvPr/>
        </p:nvSpPr>
        <p:spPr>
          <a:xfrm>
            <a:off x="57150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48056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运营策略定制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34840" y="2743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基于各站渠道特性制定「一站一策」投放方案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138160" y="1463040"/>
            <a:ext cx="3474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555480" y="164592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21040" y="2377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集中资源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资源向 TOP 2（zh-hk + en-sg）倾斜，兼顾高转化长尾站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3474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874520" y="411480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187452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" y="4846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动态监控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5212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建立周维度监控看板，跟踪各语言站流量与转化变化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97680" y="3931920"/>
            <a:ext cx="3474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715000" y="411480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571500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🤝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480560" y="4846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换量合作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34840" y="5212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 联盟在多数站表现突出，可探索更多联盟合作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38160" y="3931920"/>
            <a:ext cx="3474720" cy="2148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555480" y="411480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33" name="Text 31"/>
          <p:cNvSpPr/>
          <p:nvPr/>
        </p:nvSpPr>
        <p:spPr>
          <a:xfrm>
            <a:off x="955548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321040" y="4846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SEO 专项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52120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ru-ru 站 SEO 贡献 28.4%，建议专项加强俄语 SEO 投放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828800" y="6309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如需进一步分析或生成动态页面，随时联系 —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Trip.com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Codex</dc:creator>
  <cp:lastModifiedBy>Codex</cp:lastModifiedBy>
  <cp:revision>1</cp:revision>
  <dcterms:created xsi:type="dcterms:W3CDTF">2026-09-04T04:36:46Z</dcterms:created>
  <dcterms:modified xsi:type="dcterms:W3CDTF">2026-09-04T04:36:46Z</dcterms:modified>
</cp:coreProperties>
</file>